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Kính thưa các đồng chí Lãnh đạo Công an tỉnh, hôm nay tôi xin đại diện trình bày công trình ra mắt Câu lạc bộ sáng tạo: **Bản đồ Công an số tỉnh Phú Thọ**. Xin phép các đồng chí, tôi sẽ không bắt đầu bằng những khái niệm công nghệ khô khan. Tôi xin phép bắt đầu bài trình bày bằng một thực tế hằng ngày mà tất cả chúng ta đều gặp.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Thưa các đồng chí, từ thực tế công tác chúng ta đều thấy một điều: cùng một câu hỏi về thủ tục được hỏi đi hỏi lại rất nhiều lần. Người dân thì loay hoay tìm đúng trụ sở, mất công đi lại vì chuẩn bị sai giấy tờ. Cán bộ thì mất thời gian trả lời những câu giống hệt nhau.
Tôi xin lưu ý đây là ghi nhận từ quan sát thực tế công tác, chưa phải số liệu thống kê chính thức, nên tôi không nêu con số cụ thể.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Từ thực tế công tác, có thể thấy người dân cần được hướng dẫn chính xác trước khi đến làm thủ tục. Đây là một nhận định khái quát, không phải trích dẫn nguyên văn của một trường hợp cụ thể.
Nghe thì đơn giản, nhưng ai sẽ là người có mặt 24/7 để làm việc đó? Chính điều này đã thôi thúc tôi bắt tay nghiên cứu.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Và đó là lý do **Bản đồ Công an số** ra đời. Xin lưu ý, nó không chỉ là một cái bản đồ thông thường để xem đường đi. Nó là sự kết hợp giữa bản đồ định vị chính xác mọi trụ sở, và một Trợ lý ảo AI am hiểu pháp luật, túc trực 24/7 để tư vấn cặn kẽ thủ tục cho nhân dân.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Thưa các đồng chí, dùng AI thì lo nhất là hiện tượng "ảo giác" — AI bịa chuyện, tư vấn sai luật.
Tôi **không dám khẳng định** hệ thống đúng tuyệt đối, vì nói như vậy là không trung thực với các đồng chí. Điều tôi xin báo cáo là: hệ thống được thiết kế để **giảm rủi ro** trả lời sai, dựa trên hai nguyên tắc — chỉ trả lời dựa trên kho dữ liệu có kiểm soát, và có bước hậu kiểm trước khi hiển thị cho người dân.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Để giảm rủi ro trả lời sai, hệ thống được thiết kế gồm bốn lớp kiểm soát nối tiếp nhau.
**Lớp một** — truy hồi có kiểm soát: ưu tiên nguồn đã qua rà soát nội bộ, đúng thẩm quyền, đúng cấp thực hiện, tránh lẫn quy định cấp xã với cấp tỉnh.
**Lớp hai** — dùng chính một mô hình AI khác chấm điểm, xếp hạng lại kết quả, loại bỏ tài liệu nghe có vẻ liên quan nhưng sai ngữ cảnh.
**Lớp ba** — câu trả lời phải bám theo tài liệu truy hồi được; nếu không đủ căn cứ thì báo không đủ cơ sở, thay vì suy diễn.
**Lớp bốn** — trước khi hiển thị, một bước hậu kiểm tự động đối chiếu lại từng số điện thoại, địa chỉ, căn cứ pháp lý với nguồn.
Ở đây tôi xin báo cáo rõ hiện trạng để các đồng chí nắm đúng: **lớp hai và lớp bốn hiện đã hoạt động. Lớp một và lớp ba đã được kiểm thử đạt trên bản thử nghiệm, nhưng bản chạy chính thức hiện vẫn dùng cấu hình cũ, nên hai lớp này chưa được bật.** Đây chính là một trong những nội dung tôi xin kiến nghị ở phần sau.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Để các đồng chí dễ hình dung, tôi xin trình chiếu một video minh hoạ quy trình hệ thống xử lý một câu hỏi của người dân: từ lúc tiếp nhận câu hỏi, truy hồi tài liệu, chọn lọc đúng tài liệu có thẩm quyền, cho tới khi sinh câu trả lời kèm trích dẫn nguồn.
Tôi xin lưu ý, **nội dung câu hỏi và câu trả lời trong video chỉ là ví dụ để minh hoạ luồng xử lý, không phải nội dung tư vấn chính thức.** Video không có âm thanh, các đồng chí có thể vừa xem vừa nghe tôi trình bày.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Hệ thống được thiết kế hướng tới công dân, cực kỳ thân thiện qua màn hình điện thoại di động – ai cũng dùng được. Dù phục vụ chính cho người dân địa phương, chúng tôi cũng có hỗ trợ thêm các ngoại ngữ cơ bản để tạo thuận lợi cho người nước ngoài sinh sống trên địa bàn. Về phía cán bộ quản lý, việc cập nhật thông tin cực kỳ đơn giản qua Google Sheets, không cần biết lập trình.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Về giá trị mang lại, tôi xin báo cáo hai điểm.
**Thứ nhất**, hệ thống phục vụ 24/7 — người dân tra cứu được cả ngoài giờ hành chính mà không phải chờ tới lượt.
**Thứ hai**, về tốc độ, tôi xin báo cáo đúng số đo: thời gian phản hồi p95 trong kiểm thử nội bộ khoảng **17 giây**, và có thể lên tới khoảng **28 giây** khi hệ thống phải chuyển sang nhà cung cấp AI dự phòng. Tôi nói rõ đây là số đo trong kiểm thử, **chưa phải số liệu vận hành thực tế trên diện rộng**.
Đổi lại, dự án cần chi phí đầu tư hạ tầng máy chủ và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Kính thưa các đồng chí, trước khi nêu kiến nghị, tôi xin phép được báo cáo thẳng thắn những hạn chế của công trình. Bởi tôi cho rằng, một sản phẩm được trình bày là hoàn hảo tuyệt đối thì thường là sản phẩm chưa được nhìn nhận nghiêm túc.
**Thứ nhất**, bản chất đây vẫn là AI. Dù đã có bốn lớp kiểm soát như tôi vừa trình bày, tôi không dám khẳng định hệ thống đúng tuyệt đối một trăm phần trăm.
**Thứ hai**, kho dữ liệu hiện được xây dựng từ nguồn văn bản công khai, chưa qua thẩm định chính thức của đơn vị nghiệp vụ.
**Thứ ba**, công trình chưa có nguồn lực công nghệ thông tin chuyên trách để tiếp nhận, duy trì và nâng cấp lâu dài.
**Thứ tư**, công trình chưa được đồng thiết kế đầy đủ với cán bộ trực tiếp tiếp dân, nên còn cần bổ sung các tình huống phát sinh tại quầy.
**Và thứ năm**, hệ thống chưa được kiểm thử trên diện rộng, chưa có số liệu vận hành thực tế đủ lớn để đánh giá.
Tuy nhiên, thưa các đồng chí, mỗi hạn chế nêu trên đều đã có hướng khắc phục cụ thể: bổ sung khuyến cáo và cơ chế báo lỗi cho người dân; đề nghị đơn vị nghiệp vụ thẩm định nội dung; đề nghị bố trí cán bộ công nghệ thông tin phối hợp tiếp nhận; mời chính các đồng chí tiếp dân cùng bổ sung tình huống thực tế; và triển khai theo giai đoạn — thí điểm, đánh giá, rồi mới nhân rộng.
Tôi báo cáo điều này với mong muốn công trình được hoàn thiện một cách thực chất, phục vụ nhân dân được tốt hơn.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Kính thưa các đồng chí Lãnh đạo, công trình này không chỉ đơn thuần là một phần mềm, đây là viên gạch góp phần xây dựng hình ảnh một **chính quyền số gần dân, phục vụ nhân dân**.
Trên tinh thần cầu thị vừa báo cáo, tôi kính đề nghị Lãnh đạo Công an tỉnh ba nội dung.
**Một là**, cho phép triển khai thí điểm với cấu hình kiểm soát đã kiểm thử, đánh giá kết quả rồi mới tiến tới nhân rộng.
**Hai là**, giao đơn vị nghiệp vụ thẩm định nội dung kho dữ liệu, để bảo đảm tính chính xác về mặt pháp lý trước khi phục vụ rộng rãi nhân dân.
**Ba là**, quan tâm bố trí cán bộ công nghệ thông tin và kinh phí duy trì hạ tầng hằng năm, để hệ thống có thể phục vụ nhân dân một cách lâu dài, bền vững.
Xin trân trọng cảm ơn các đồng chí!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video" Target="../media/media-7-1.mp4"/><Relationship Id="rId2" Type="http://schemas.microsoft.com/office/2007/relationships/media" Target="../media/media-7-1.mp4"/><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slideLayout" Target="../slideLayouts/slideLayout1.xml"/><Relationship Id="rId1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slideLayout" Target="../slideLayouts/slideLayout1.xml"/><Relationship Id="rId9"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3A8A"/>
        </a:solidFill>
      </p:bgPr>
    </p:bg>
    <p:spTree>
      <p:nvGrpSpPr>
        <p:cNvPr id="1" name=""/>
        <p:cNvGrpSpPr/>
        <p:nvPr/>
      </p:nvGrpSpPr>
      <p:grpSpPr>
        <a:xfrm>
          <a:off x="0" y="0"/>
          <a:ext cx="0" cy="0"/>
          <a:chOff x="0" y="0"/>
          <a:chExt cx="0" cy="0"/>
        </a:xfrm>
      </p:grpSpPr>
      <p:sp>
        <p:nvSpPr>
          <p:cNvPr id="2" name="Shape 0"/>
          <p:cNvSpPr/>
          <p:nvPr/>
        </p:nvSpPr>
        <p:spPr>
          <a:xfrm>
            <a:off x="9194109" y="618134"/>
            <a:ext cx="1156167" cy="424282"/>
          </a:xfrm>
          <a:prstGeom prst="line">
            <a:avLst/>
          </a:prstGeom>
          <a:noFill/>
          <a:ln w="15240">
            <a:solidFill>
              <a:srgbClr val="6F89C5">
                <a:alpha val="54000"/>
              </a:srgbClr>
            </a:solidFill>
            <a:prstDash val="solid"/>
            <a:tailEnd type="none"/>
          </a:ln>
        </p:spPr>
      </p:sp>
      <p:sp>
        <p:nvSpPr>
          <p:cNvPr id="3" name="Shape 1"/>
          <p:cNvSpPr/>
          <p:nvPr/>
        </p:nvSpPr>
        <p:spPr>
          <a:xfrm>
            <a:off x="10350276" y="1042416"/>
            <a:ext cx="757489" cy="1113739"/>
          </a:xfrm>
          <a:prstGeom prst="line">
            <a:avLst/>
          </a:prstGeom>
          <a:noFill/>
          <a:ln w="15240">
            <a:solidFill>
              <a:srgbClr val="6F89C5">
                <a:alpha val="54000"/>
              </a:srgbClr>
            </a:solidFill>
            <a:prstDash val="solid"/>
            <a:tailEnd type="none"/>
          </a:ln>
        </p:spPr>
      </p:sp>
      <p:sp>
        <p:nvSpPr>
          <p:cNvPr id="4" name="Shape 2"/>
          <p:cNvSpPr/>
          <p:nvPr/>
        </p:nvSpPr>
        <p:spPr>
          <a:xfrm flipH="1">
            <a:off x="10788823" y="2156155"/>
            <a:ext cx="318943" cy="1113739"/>
          </a:xfrm>
          <a:prstGeom prst="line">
            <a:avLst/>
          </a:prstGeom>
          <a:noFill/>
          <a:ln w="15240">
            <a:solidFill>
              <a:srgbClr val="6F89C5">
                <a:alpha val="54000"/>
              </a:srgbClr>
            </a:solidFill>
            <a:prstDash val="solid"/>
            <a:tailEnd type="none"/>
          </a:ln>
        </p:spPr>
      </p:sp>
      <p:sp>
        <p:nvSpPr>
          <p:cNvPr id="5" name="Shape 3"/>
          <p:cNvSpPr/>
          <p:nvPr/>
        </p:nvSpPr>
        <p:spPr>
          <a:xfrm>
            <a:off x="10788823" y="3269894"/>
            <a:ext cx="518282" cy="1007669"/>
          </a:xfrm>
          <a:prstGeom prst="line">
            <a:avLst/>
          </a:prstGeom>
          <a:noFill/>
          <a:ln w="15240">
            <a:solidFill>
              <a:srgbClr val="6F89C5">
                <a:alpha val="54000"/>
              </a:srgbClr>
            </a:solidFill>
            <a:prstDash val="solid"/>
            <a:tailEnd type="none"/>
          </a:ln>
        </p:spPr>
      </p:sp>
      <p:sp>
        <p:nvSpPr>
          <p:cNvPr id="6" name="Shape 4"/>
          <p:cNvSpPr/>
          <p:nvPr/>
        </p:nvSpPr>
        <p:spPr>
          <a:xfrm flipH="1">
            <a:off x="10150937" y="4277563"/>
            <a:ext cx="1156167" cy="1325880"/>
          </a:xfrm>
          <a:prstGeom prst="line">
            <a:avLst/>
          </a:prstGeom>
          <a:noFill/>
          <a:ln w="15240">
            <a:solidFill>
              <a:srgbClr val="6F89C5">
                <a:alpha val="54000"/>
              </a:srgbClr>
            </a:solidFill>
            <a:prstDash val="solid"/>
            <a:tailEnd type="none"/>
          </a:ln>
        </p:spPr>
      </p:sp>
      <p:sp>
        <p:nvSpPr>
          <p:cNvPr id="7" name="Shape 5"/>
          <p:cNvSpPr/>
          <p:nvPr/>
        </p:nvSpPr>
        <p:spPr>
          <a:xfrm flipH="1" flipV="1">
            <a:off x="8994770" y="5126126"/>
            <a:ext cx="1156167" cy="477317"/>
          </a:xfrm>
          <a:prstGeom prst="line">
            <a:avLst/>
          </a:prstGeom>
          <a:noFill/>
          <a:ln w="15240">
            <a:solidFill>
              <a:srgbClr val="6F89C5">
                <a:alpha val="54000"/>
              </a:srgbClr>
            </a:solidFill>
            <a:prstDash val="solid"/>
            <a:tailEnd type="none"/>
          </a:ln>
        </p:spPr>
      </p:sp>
      <p:sp>
        <p:nvSpPr>
          <p:cNvPr id="8" name="Shape 6"/>
          <p:cNvSpPr/>
          <p:nvPr/>
        </p:nvSpPr>
        <p:spPr>
          <a:xfrm flipH="1">
            <a:off x="8396752" y="5126126"/>
            <a:ext cx="598018" cy="636422"/>
          </a:xfrm>
          <a:prstGeom prst="line">
            <a:avLst/>
          </a:prstGeom>
          <a:noFill/>
          <a:ln w="15240">
            <a:solidFill>
              <a:srgbClr val="6F89C5">
                <a:alpha val="54000"/>
              </a:srgbClr>
            </a:solidFill>
            <a:prstDash val="solid"/>
            <a:tailEnd type="none"/>
          </a:ln>
        </p:spPr>
      </p:sp>
      <p:sp>
        <p:nvSpPr>
          <p:cNvPr id="9" name="Shape 7"/>
          <p:cNvSpPr/>
          <p:nvPr/>
        </p:nvSpPr>
        <p:spPr>
          <a:xfrm flipH="1" flipV="1">
            <a:off x="7798735" y="4224528"/>
            <a:ext cx="598018" cy="1538021"/>
          </a:xfrm>
          <a:prstGeom prst="line">
            <a:avLst/>
          </a:prstGeom>
          <a:noFill/>
          <a:ln w="15240">
            <a:solidFill>
              <a:srgbClr val="6F89C5">
                <a:alpha val="54000"/>
              </a:srgbClr>
            </a:solidFill>
            <a:prstDash val="solid"/>
            <a:tailEnd type="none"/>
          </a:ln>
        </p:spPr>
      </p:sp>
      <p:sp>
        <p:nvSpPr>
          <p:cNvPr id="10" name="Shape 8"/>
          <p:cNvSpPr/>
          <p:nvPr/>
        </p:nvSpPr>
        <p:spPr>
          <a:xfrm flipV="1">
            <a:off x="7798735" y="3057754"/>
            <a:ext cx="398678" cy="1166774"/>
          </a:xfrm>
          <a:prstGeom prst="line">
            <a:avLst/>
          </a:prstGeom>
          <a:noFill/>
          <a:ln w="15240">
            <a:solidFill>
              <a:srgbClr val="6F89C5">
                <a:alpha val="54000"/>
              </a:srgbClr>
            </a:solidFill>
            <a:prstDash val="solid"/>
            <a:tailEnd type="none"/>
          </a:ln>
        </p:spPr>
      </p:sp>
      <p:sp>
        <p:nvSpPr>
          <p:cNvPr id="11" name="Shape 9"/>
          <p:cNvSpPr/>
          <p:nvPr/>
        </p:nvSpPr>
        <p:spPr>
          <a:xfrm flipH="1" flipV="1">
            <a:off x="7559528" y="1944014"/>
            <a:ext cx="637885" cy="1113739"/>
          </a:xfrm>
          <a:prstGeom prst="line">
            <a:avLst/>
          </a:prstGeom>
          <a:noFill/>
          <a:ln w="15240">
            <a:solidFill>
              <a:srgbClr val="6F89C5">
                <a:alpha val="54000"/>
              </a:srgbClr>
            </a:solidFill>
            <a:prstDash val="solid"/>
            <a:tailEnd type="none"/>
          </a:ln>
        </p:spPr>
      </p:sp>
      <p:sp>
        <p:nvSpPr>
          <p:cNvPr id="12" name="Shape 10"/>
          <p:cNvSpPr/>
          <p:nvPr/>
        </p:nvSpPr>
        <p:spPr>
          <a:xfrm flipV="1">
            <a:off x="7559528" y="1413662"/>
            <a:ext cx="996696" cy="530352"/>
          </a:xfrm>
          <a:prstGeom prst="line">
            <a:avLst/>
          </a:prstGeom>
          <a:noFill/>
          <a:ln w="15240">
            <a:solidFill>
              <a:srgbClr val="6F89C5">
                <a:alpha val="54000"/>
              </a:srgbClr>
            </a:solidFill>
            <a:prstDash val="solid"/>
            <a:tailEnd type="none"/>
          </a:ln>
        </p:spPr>
      </p:sp>
      <p:sp>
        <p:nvSpPr>
          <p:cNvPr id="13" name="Shape 11"/>
          <p:cNvSpPr/>
          <p:nvPr/>
        </p:nvSpPr>
        <p:spPr>
          <a:xfrm flipV="1">
            <a:off x="8556224" y="618134"/>
            <a:ext cx="637885" cy="795528"/>
          </a:xfrm>
          <a:prstGeom prst="line">
            <a:avLst/>
          </a:prstGeom>
          <a:noFill/>
          <a:ln w="15240">
            <a:solidFill>
              <a:srgbClr val="6F89C5">
                <a:alpha val="54000"/>
              </a:srgbClr>
            </a:solidFill>
            <a:prstDash val="solid"/>
            <a:tailEnd type="none"/>
          </a:ln>
        </p:spPr>
      </p:sp>
      <p:sp>
        <p:nvSpPr>
          <p:cNvPr id="14" name="Shape 12"/>
          <p:cNvSpPr/>
          <p:nvPr/>
        </p:nvSpPr>
        <p:spPr>
          <a:xfrm flipV="1">
            <a:off x="8516356" y="1731874"/>
            <a:ext cx="1156167" cy="689458"/>
          </a:xfrm>
          <a:prstGeom prst="line">
            <a:avLst/>
          </a:prstGeom>
          <a:noFill/>
          <a:ln w="10160">
            <a:solidFill>
              <a:srgbClr val="6F89C5">
                <a:alpha val="40000"/>
              </a:srgbClr>
            </a:solidFill>
            <a:prstDash val="solid"/>
            <a:tailEnd type="none"/>
          </a:ln>
        </p:spPr>
      </p:sp>
      <p:sp>
        <p:nvSpPr>
          <p:cNvPr id="15" name="Shape 13"/>
          <p:cNvSpPr/>
          <p:nvPr/>
        </p:nvSpPr>
        <p:spPr>
          <a:xfrm>
            <a:off x="9672523" y="1731874"/>
            <a:ext cx="677753" cy="1219810"/>
          </a:xfrm>
          <a:prstGeom prst="line">
            <a:avLst/>
          </a:prstGeom>
          <a:noFill/>
          <a:ln w="10160">
            <a:solidFill>
              <a:srgbClr val="6F89C5">
                <a:alpha val="40000"/>
              </a:srgbClr>
            </a:solidFill>
            <a:prstDash val="solid"/>
            <a:tailEnd type="none"/>
          </a:ln>
        </p:spPr>
      </p:sp>
      <p:sp>
        <p:nvSpPr>
          <p:cNvPr id="16" name="Shape 14"/>
          <p:cNvSpPr/>
          <p:nvPr/>
        </p:nvSpPr>
        <p:spPr>
          <a:xfrm flipH="1">
            <a:off x="9154241" y="2951683"/>
            <a:ext cx="1196035" cy="1060704"/>
          </a:xfrm>
          <a:prstGeom prst="line">
            <a:avLst/>
          </a:prstGeom>
          <a:noFill/>
          <a:ln w="10160">
            <a:solidFill>
              <a:srgbClr val="6F89C5">
                <a:alpha val="40000"/>
              </a:srgbClr>
            </a:solidFill>
            <a:prstDash val="solid"/>
            <a:tailEnd type="none"/>
          </a:ln>
        </p:spPr>
      </p:sp>
      <p:sp>
        <p:nvSpPr>
          <p:cNvPr id="17" name="Shape 15"/>
          <p:cNvSpPr/>
          <p:nvPr/>
        </p:nvSpPr>
        <p:spPr>
          <a:xfrm>
            <a:off x="9154241" y="4012387"/>
            <a:ext cx="1036564" cy="689458"/>
          </a:xfrm>
          <a:prstGeom prst="line">
            <a:avLst/>
          </a:prstGeom>
          <a:noFill/>
          <a:ln w="10160">
            <a:solidFill>
              <a:srgbClr val="6F89C5">
                <a:alpha val="40000"/>
              </a:srgbClr>
            </a:solidFill>
            <a:prstDash val="solid"/>
            <a:tailEnd type="none"/>
          </a:ln>
        </p:spPr>
      </p:sp>
      <p:sp>
        <p:nvSpPr>
          <p:cNvPr id="18" name="Shape 16"/>
          <p:cNvSpPr/>
          <p:nvPr/>
        </p:nvSpPr>
        <p:spPr>
          <a:xfrm flipH="1" flipV="1">
            <a:off x="8277149" y="4383634"/>
            <a:ext cx="1913656" cy="318211"/>
          </a:xfrm>
          <a:prstGeom prst="line">
            <a:avLst/>
          </a:prstGeom>
          <a:noFill/>
          <a:ln w="10160">
            <a:solidFill>
              <a:srgbClr val="6F89C5">
                <a:alpha val="40000"/>
              </a:srgbClr>
            </a:solidFill>
            <a:prstDash val="solid"/>
            <a:tailEnd type="none"/>
          </a:ln>
        </p:spPr>
      </p:sp>
      <p:sp>
        <p:nvSpPr>
          <p:cNvPr id="19" name="Shape 17"/>
          <p:cNvSpPr/>
          <p:nvPr/>
        </p:nvSpPr>
        <p:spPr>
          <a:xfrm>
            <a:off x="8470636" y="2375611"/>
            <a:ext cx="91440" cy="91440"/>
          </a:xfrm>
          <a:prstGeom prst="ellipse">
            <a:avLst/>
          </a:prstGeom>
          <a:solidFill>
            <a:srgbClr val="6F89C5">
              <a:alpha val="88000"/>
            </a:srgbClr>
          </a:solidFill>
          <a:ln w="12700">
            <a:solidFill>
              <a:srgbClr val="6F89C5">
                <a:alpha val="75000"/>
              </a:srgbClr>
            </a:solidFill>
            <a:prstDash val="solid"/>
          </a:ln>
        </p:spPr>
      </p:sp>
      <p:sp>
        <p:nvSpPr>
          <p:cNvPr id="20" name="Shape 18"/>
          <p:cNvSpPr/>
          <p:nvPr/>
        </p:nvSpPr>
        <p:spPr>
          <a:xfrm>
            <a:off x="9626803" y="1686154"/>
            <a:ext cx="91440" cy="91440"/>
          </a:xfrm>
          <a:prstGeom prst="ellipse">
            <a:avLst/>
          </a:prstGeom>
          <a:solidFill>
            <a:srgbClr val="6F89C5">
              <a:alpha val="88000"/>
            </a:srgbClr>
          </a:solidFill>
          <a:ln w="12700">
            <a:solidFill>
              <a:srgbClr val="6F89C5">
                <a:alpha val="75000"/>
              </a:srgbClr>
            </a:solidFill>
            <a:prstDash val="solid"/>
          </a:ln>
        </p:spPr>
      </p:sp>
      <p:sp>
        <p:nvSpPr>
          <p:cNvPr id="21" name="Shape 19"/>
          <p:cNvSpPr/>
          <p:nvPr/>
        </p:nvSpPr>
        <p:spPr>
          <a:xfrm>
            <a:off x="10304556" y="2905963"/>
            <a:ext cx="91440" cy="91440"/>
          </a:xfrm>
          <a:prstGeom prst="ellipse">
            <a:avLst/>
          </a:prstGeom>
          <a:solidFill>
            <a:srgbClr val="6F89C5">
              <a:alpha val="88000"/>
            </a:srgbClr>
          </a:solidFill>
          <a:ln w="12700">
            <a:solidFill>
              <a:srgbClr val="6F89C5">
                <a:alpha val="75000"/>
              </a:srgbClr>
            </a:solidFill>
            <a:prstDash val="solid"/>
          </a:ln>
        </p:spPr>
      </p:sp>
      <p:sp>
        <p:nvSpPr>
          <p:cNvPr id="22" name="Shape 20"/>
          <p:cNvSpPr/>
          <p:nvPr/>
        </p:nvSpPr>
        <p:spPr>
          <a:xfrm>
            <a:off x="9108521" y="3966667"/>
            <a:ext cx="91440" cy="91440"/>
          </a:xfrm>
          <a:prstGeom prst="ellipse">
            <a:avLst/>
          </a:prstGeom>
          <a:solidFill>
            <a:srgbClr val="0B7A75">
              <a:alpha val="88000"/>
            </a:srgbClr>
          </a:solidFill>
          <a:ln w="12700">
            <a:solidFill>
              <a:srgbClr val="0B7A75">
                <a:alpha val="75000"/>
              </a:srgbClr>
            </a:solidFill>
            <a:prstDash val="solid"/>
          </a:ln>
        </p:spPr>
      </p:sp>
      <p:sp>
        <p:nvSpPr>
          <p:cNvPr id="23" name="Shape 21"/>
          <p:cNvSpPr/>
          <p:nvPr/>
        </p:nvSpPr>
        <p:spPr>
          <a:xfrm>
            <a:off x="10145085" y="4656125"/>
            <a:ext cx="91440" cy="91440"/>
          </a:xfrm>
          <a:prstGeom prst="ellipse">
            <a:avLst/>
          </a:prstGeom>
          <a:solidFill>
            <a:srgbClr val="6F89C5">
              <a:alpha val="88000"/>
            </a:srgbClr>
          </a:solidFill>
          <a:ln w="12700">
            <a:solidFill>
              <a:srgbClr val="6F89C5">
                <a:alpha val="75000"/>
              </a:srgbClr>
            </a:solidFill>
            <a:prstDash val="solid"/>
          </a:ln>
        </p:spPr>
      </p:sp>
      <p:sp>
        <p:nvSpPr>
          <p:cNvPr id="24" name="Shape 22"/>
          <p:cNvSpPr/>
          <p:nvPr/>
        </p:nvSpPr>
        <p:spPr>
          <a:xfrm>
            <a:off x="8231429" y="4337914"/>
            <a:ext cx="91440" cy="91440"/>
          </a:xfrm>
          <a:prstGeom prst="ellipse">
            <a:avLst/>
          </a:prstGeom>
          <a:solidFill>
            <a:srgbClr val="6F89C5">
              <a:alpha val="88000"/>
            </a:srgbClr>
          </a:solidFill>
          <a:ln w="12700">
            <a:solidFill>
              <a:srgbClr val="6F89C5">
                <a:alpha val="75000"/>
              </a:srgbClr>
            </a:solidFill>
            <a:prstDash val="solid"/>
          </a:ln>
        </p:spPr>
      </p:sp>
      <p:sp>
        <p:nvSpPr>
          <p:cNvPr id="25" name="Shape 23"/>
          <p:cNvSpPr/>
          <p:nvPr/>
        </p:nvSpPr>
        <p:spPr>
          <a:xfrm>
            <a:off x="6931152" y="731520"/>
            <a:ext cx="0" cy="5394960"/>
          </a:xfrm>
          <a:prstGeom prst="line">
            <a:avLst/>
          </a:prstGeom>
          <a:noFill/>
          <a:ln w="8890">
            <a:solidFill>
              <a:srgbClr val="36559B"/>
            </a:solidFill>
            <a:prstDash val="solid"/>
          </a:ln>
        </p:spPr>
      </p:sp>
      <p:sp>
        <p:nvSpPr>
          <p:cNvPr id="26" name="Text 24"/>
          <p:cNvSpPr/>
          <p:nvPr/>
        </p:nvSpPr>
        <p:spPr>
          <a:xfrm>
            <a:off x="603504" y="822960"/>
            <a:ext cx="5943600" cy="274320"/>
          </a:xfrm>
          <a:prstGeom prst="rect">
            <a:avLst/>
          </a:prstGeom>
          <a:noFill/>
          <a:ln/>
        </p:spPr>
        <p:txBody>
          <a:bodyPr wrap="square" lIns="0" tIns="0" rIns="0" bIns="0" rtlCol="0" anchor="ctr"/>
          <a:lstStyle/>
          <a:p>
            <a:pPr indent="0" marL="0">
              <a:buNone/>
            </a:pPr>
            <a:r>
              <a:rPr lang="en-US" sz="1300" b="1" spc="220" kern="0" dirty="0">
                <a:solidFill>
                  <a:srgbClr val="C9D8F5"/>
                </a:solidFill>
                <a:latin typeface="Segoe UI" pitchFamily="34" charset="0"/>
                <a:ea typeface="Segoe UI" pitchFamily="34" charset="-122"/>
                <a:cs typeface="Segoe UI" pitchFamily="34" charset="-120"/>
              </a:rPr>
              <a:t>CÔNG TRÌNH CÂU LẠC BỘ SÁNG TẠO</a:t>
            </a:r>
            <a:endParaRPr lang="en-US" sz="1300" dirty="0"/>
          </a:p>
        </p:txBody>
      </p:sp>
      <p:sp>
        <p:nvSpPr>
          <p:cNvPr id="27" name="Text 25"/>
          <p:cNvSpPr/>
          <p:nvPr/>
        </p:nvSpPr>
        <p:spPr>
          <a:xfrm>
            <a:off x="603504" y="1353312"/>
            <a:ext cx="6080760" cy="1627632"/>
          </a:xfrm>
          <a:prstGeom prst="rect">
            <a:avLst/>
          </a:prstGeom>
          <a:noFill/>
          <a:ln/>
        </p:spPr>
        <p:txBody>
          <a:bodyPr wrap="square" lIns="0" tIns="0" rIns="0" bIns="0" rtlCol="0" anchor="ctr"/>
          <a:lstStyle/>
          <a:p>
            <a:pPr indent="0" marL="0">
              <a:buNone/>
            </a:pPr>
            <a:r>
              <a:rPr lang="en-US" sz="4700" b="1" dirty="0">
                <a:solidFill>
                  <a:srgbClr val="FFFFFF"/>
                </a:solidFill>
                <a:latin typeface="Segoe UI" pitchFamily="34" charset="0"/>
                <a:ea typeface="Segoe UI" pitchFamily="34" charset="-122"/>
                <a:cs typeface="Segoe UI" pitchFamily="34" charset="-120"/>
              </a:rPr>
              <a:t>BẢN ĐỒ</a:t>
            </a:r>
            <a:endParaRPr lang="en-US" sz="4700" dirty="0"/>
          </a:p>
          <a:p>
            <a:pPr indent="0" marL="0">
              <a:buNone/>
            </a:pPr>
            <a:r>
              <a:rPr lang="en-US" sz="4700" b="1" dirty="0">
                <a:solidFill>
                  <a:srgbClr val="FFFFFF"/>
                </a:solidFill>
                <a:latin typeface="Segoe UI" pitchFamily="34" charset="0"/>
                <a:ea typeface="Segoe UI" pitchFamily="34" charset="-122"/>
                <a:cs typeface="Segoe UI" pitchFamily="34" charset="-120"/>
              </a:rPr>
              <a:t>CÔNG AN SỐ</a:t>
            </a:r>
            <a:endParaRPr lang="en-US" sz="4700" dirty="0"/>
          </a:p>
        </p:txBody>
      </p:sp>
      <p:sp>
        <p:nvSpPr>
          <p:cNvPr id="28" name="Text 26"/>
          <p:cNvSpPr/>
          <p:nvPr/>
        </p:nvSpPr>
        <p:spPr>
          <a:xfrm>
            <a:off x="603504" y="3127248"/>
            <a:ext cx="3657600" cy="420624"/>
          </a:xfrm>
          <a:prstGeom prst="rect">
            <a:avLst/>
          </a:prstGeom>
          <a:noFill/>
          <a:ln/>
        </p:spPr>
        <p:txBody>
          <a:bodyPr wrap="square" lIns="0" tIns="0" rIns="0" bIns="0" rtlCol="0" anchor="ctr"/>
          <a:lstStyle/>
          <a:p>
            <a:pPr indent="0" marL="0">
              <a:buNone/>
            </a:pPr>
            <a:r>
              <a:rPr lang="en-US" sz="2400" dirty="0">
                <a:solidFill>
                  <a:srgbClr val="DCE6F8"/>
                </a:solidFill>
                <a:latin typeface="Segoe UI" pitchFamily="34" charset="0"/>
                <a:ea typeface="Segoe UI" pitchFamily="34" charset="-122"/>
                <a:cs typeface="Segoe UI" pitchFamily="34" charset="-120"/>
              </a:rPr>
              <a:t>Tỉnh Phú Thọ</a:t>
            </a:r>
            <a:endParaRPr lang="en-US" sz="2400" dirty="0"/>
          </a:p>
        </p:txBody>
      </p:sp>
      <p:sp>
        <p:nvSpPr>
          <p:cNvPr id="29" name="Shape 27"/>
          <p:cNvSpPr/>
          <p:nvPr/>
        </p:nvSpPr>
        <p:spPr>
          <a:xfrm>
            <a:off x="603504" y="3822192"/>
            <a:ext cx="1527048" cy="347472"/>
          </a:xfrm>
          <a:prstGeom prst="roundRect">
            <a:avLst>
              <a:gd name="adj" fmla="val 21053"/>
            </a:avLst>
          </a:prstGeom>
          <a:solidFill>
            <a:srgbClr val="0B7A75"/>
          </a:solidFill>
          <a:ln w="10160">
            <a:solidFill>
              <a:srgbClr val="0B7A75"/>
            </a:solidFill>
            <a:prstDash val="solid"/>
          </a:ln>
        </p:spPr>
      </p:sp>
      <p:sp>
        <p:nvSpPr>
          <p:cNvPr id="30" name="Text 28"/>
          <p:cNvSpPr/>
          <p:nvPr/>
        </p:nvSpPr>
        <p:spPr>
          <a:xfrm>
            <a:off x="676656" y="3822192"/>
            <a:ext cx="1380744" cy="347472"/>
          </a:xfrm>
          <a:prstGeom prst="rect">
            <a:avLst/>
          </a:prstGeom>
          <a:noFill/>
          <a:ln/>
        </p:spPr>
        <p:txBody>
          <a:bodyPr wrap="square" lIns="0" tIns="0" rIns="0" bIns="0" rtlCol="0" anchor="ctr"/>
          <a:lstStyle/>
          <a:p>
            <a:pPr algn="ctr" indent="0" marL="0">
              <a:buNone/>
            </a:pPr>
            <a:r>
              <a:rPr lang="en-US" sz="950" b="1" spc="60" kern="0" dirty="0">
                <a:solidFill>
                  <a:srgbClr val="FFFFFF"/>
                </a:solidFill>
                <a:latin typeface="Segoe UI" pitchFamily="34" charset="0"/>
                <a:ea typeface="Segoe UI" pitchFamily="34" charset="-122"/>
                <a:cs typeface="Segoe UI" pitchFamily="34" charset="-120"/>
              </a:rPr>
              <a:t>DÀNH CHO CÔNG DÂN</a:t>
            </a:r>
            <a:endParaRPr lang="en-US" sz="950" dirty="0"/>
          </a:p>
        </p:txBody>
      </p:sp>
      <p:sp>
        <p:nvSpPr>
          <p:cNvPr id="31" name="Shape 29"/>
          <p:cNvSpPr/>
          <p:nvPr/>
        </p:nvSpPr>
        <p:spPr>
          <a:xfrm>
            <a:off x="2286000" y="3822192"/>
            <a:ext cx="1581912" cy="347472"/>
          </a:xfrm>
          <a:prstGeom prst="roundRect">
            <a:avLst>
              <a:gd name="adj" fmla="val 21053"/>
            </a:avLst>
          </a:prstGeom>
          <a:solidFill>
            <a:srgbClr val="16306E"/>
          </a:solidFill>
          <a:ln w="10160">
            <a:solidFill>
              <a:srgbClr val="1D4ED8"/>
            </a:solidFill>
            <a:prstDash val="solid"/>
          </a:ln>
        </p:spPr>
      </p:sp>
      <p:sp>
        <p:nvSpPr>
          <p:cNvPr id="32" name="Text 30"/>
          <p:cNvSpPr/>
          <p:nvPr/>
        </p:nvSpPr>
        <p:spPr>
          <a:xfrm>
            <a:off x="2359152" y="3822192"/>
            <a:ext cx="1435608" cy="347472"/>
          </a:xfrm>
          <a:prstGeom prst="rect">
            <a:avLst/>
          </a:prstGeom>
          <a:noFill/>
          <a:ln/>
        </p:spPr>
        <p:txBody>
          <a:bodyPr wrap="square" lIns="0" tIns="0" rIns="0" bIns="0" rtlCol="0" anchor="ctr"/>
          <a:lstStyle/>
          <a:p>
            <a:pPr algn="ctr" indent="0" marL="0">
              <a:buNone/>
            </a:pPr>
            <a:r>
              <a:rPr lang="en-US" sz="950" b="1" spc="60" kern="0" dirty="0">
                <a:solidFill>
                  <a:srgbClr val="FFFFFF"/>
                </a:solidFill>
                <a:latin typeface="Segoe UI" pitchFamily="34" charset="0"/>
                <a:ea typeface="Segoe UI" pitchFamily="34" charset="-122"/>
                <a:cs typeface="Segoe UI" pitchFamily="34" charset="-120"/>
              </a:rPr>
              <a:t>AI TƯ VẤN TỰ ĐỘNG</a:t>
            </a:r>
            <a:endParaRPr lang="en-US" sz="950" dirty="0"/>
          </a:p>
        </p:txBody>
      </p:sp>
      <p:sp>
        <p:nvSpPr>
          <p:cNvPr id="33" name="Shape 31"/>
          <p:cNvSpPr/>
          <p:nvPr/>
        </p:nvSpPr>
        <p:spPr>
          <a:xfrm>
            <a:off x="4023360" y="3822192"/>
            <a:ext cx="1508760" cy="347472"/>
          </a:xfrm>
          <a:prstGeom prst="roundRect">
            <a:avLst>
              <a:gd name="adj" fmla="val 21053"/>
            </a:avLst>
          </a:prstGeom>
          <a:solidFill>
            <a:srgbClr val="16306E"/>
          </a:solidFill>
          <a:ln w="10160">
            <a:solidFill>
              <a:srgbClr val="1D4ED8"/>
            </a:solidFill>
            <a:prstDash val="solid"/>
          </a:ln>
        </p:spPr>
      </p:sp>
      <p:sp>
        <p:nvSpPr>
          <p:cNvPr id="34" name="Text 32"/>
          <p:cNvSpPr/>
          <p:nvPr/>
        </p:nvSpPr>
        <p:spPr>
          <a:xfrm>
            <a:off x="4096512" y="3822192"/>
            <a:ext cx="1362456" cy="347472"/>
          </a:xfrm>
          <a:prstGeom prst="rect">
            <a:avLst/>
          </a:prstGeom>
          <a:noFill/>
          <a:ln/>
        </p:spPr>
        <p:txBody>
          <a:bodyPr wrap="square" lIns="0" tIns="0" rIns="0" bIns="0" rtlCol="0" anchor="ctr"/>
          <a:lstStyle/>
          <a:p>
            <a:pPr algn="ctr" indent="0" marL="0">
              <a:buNone/>
            </a:pPr>
            <a:r>
              <a:rPr lang="en-US" sz="950" b="1" spc="60" kern="0" dirty="0">
                <a:solidFill>
                  <a:srgbClr val="FFFFFF"/>
                </a:solidFill>
                <a:latin typeface="Segoe UI" pitchFamily="34" charset="0"/>
                <a:ea typeface="Segoe UI" pitchFamily="34" charset="-122"/>
                <a:cs typeface="Segoe UI" pitchFamily="34" charset="-120"/>
              </a:rPr>
              <a:t>BẢN ĐỒ TƯƠNG TÁC</a:t>
            </a:r>
            <a:endParaRPr lang="en-US" sz="950" dirty="0"/>
          </a:p>
        </p:txBody>
      </p:sp>
      <p:sp>
        <p:nvSpPr>
          <p:cNvPr id="35" name="Shape 33"/>
          <p:cNvSpPr/>
          <p:nvPr/>
        </p:nvSpPr>
        <p:spPr>
          <a:xfrm>
            <a:off x="7909560" y="3401568"/>
            <a:ext cx="2478024" cy="850392"/>
          </a:xfrm>
          <a:prstGeom prst="line">
            <a:avLst/>
          </a:prstGeom>
          <a:noFill/>
          <a:ln w="25400">
            <a:solidFill>
              <a:srgbClr val="0B7A75"/>
            </a:solidFill>
            <a:prstDash val="solid"/>
            <a:tailEnd type="triangle"/>
          </a:ln>
        </p:spPr>
      </p:sp>
      <p:sp>
        <p:nvSpPr>
          <p:cNvPr id="36" name="Shape 34"/>
          <p:cNvSpPr/>
          <p:nvPr/>
        </p:nvSpPr>
        <p:spPr>
          <a:xfrm>
            <a:off x="7644384" y="3118104"/>
            <a:ext cx="530352" cy="530352"/>
          </a:xfrm>
          <a:prstGeom prst="ellipse">
            <a:avLst/>
          </a:prstGeom>
          <a:solidFill>
            <a:srgbClr val="0B7A75"/>
          </a:solidFill>
          <a:ln w="12700">
            <a:solidFill>
              <a:srgbClr val="0B7A75"/>
            </a:solidFill>
            <a:prstDash val="solid"/>
          </a:ln>
        </p:spPr>
      </p:sp>
      <p:pic>
        <p:nvPicPr>
          <p:cNvPr id="37" name="Image 0" descr="preencoded.png">    </p:cNvPr>
          <p:cNvPicPr>
            <a:picLocks noChangeAspect="1"/>
          </p:cNvPicPr>
          <p:nvPr/>
        </p:nvPicPr>
        <p:blipFill>
          <a:blip r:embed="rId1"/>
          <a:stretch>
            <a:fillRect/>
          </a:stretch>
        </p:blipFill>
        <p:spPr>
          <a:xfrm>
            <a:off x="7792883" y="3266603"/>
            <a:ext cx="233355" cy="233355"/>
          </a:xfrm>
          <a:prstGeom prst="rect">
            <a:avLst/>
          </a:prstGeom>
        </p:spPr>
      </p:pic>
      <p:sp>
        <p:nvSpPr>
          <p:cNvPr id="38" name="Shape 35"/>
          <p:cNvSpPr/>
          <p:nvPr/>
        </p:nvSpPr>
        <p:spPr>
          <a:xfrm>
            <a:off x="9464040" y="3767328"/>
            <a:ext cx="2048256" cy="1261872"/>
          </a:xfrm>
          <a:prstGeom prst="roundRect">
            <a:avLst>
              <a:gd name="adj" fmla="val 5797"/>
            </a:avLst>
          </a:prstGeom>
          <a:solidFill>
            <a:srgbClr val="FFFFFF"/>
          </a:solidFill>
          <a:ln w="12700">
            <a:solidFill>
              <a:srgbClr val="8EA3D1"/>
            </a:solidFill>
            <a:prstDash val="solid"/>
          </a:ln>
          <a:effectLst>
            <a:outerShdw sx="100000" sy="100000" kx="0" ky="0" algn="bl" rotWithShape="0" blurRad="76200" dist="25400" dir="2700000">
              <a:srgbClr val="64748B">
                <a:alpha val="18000"/>
              </a:srgbClr>
            </a:outerShdw>
          </a:effectLst>
        </p:spPr>
      </p:sp>
      <p:sp>
        <p:nvSpPr>
          <p:cNvPr id="39" name="Text 36"/>
          <p:cNvSpPr/>
          <p:nvPr/>
        </p:nvSpPr>
        <p:spPr>
          <a:xfrm>
            <a:off x="9674352" y="3950208"/>
            <a:ext cx="1188720" cy="182880"/>
          </a:xfrm>
          <a:prstGeom prst="rect">
            <a:avLst/>
          </a:prstGeom>
          <a:noFill/>
          <a:ln/>
        </p:spPr>
        <p:txBody>
          <a:bodyPr wrap="square" lIns="0" tIns="0" rIns="0" bIns="0" rtlCol="0" anchor="ctr"/>
          <a:lstStyle/>
          <a:p>
            <a:pPr indent="0" marL="0">
              <a:buNone/>
            </a:pPr>
            <a:r>
              <a:rPr lang="en-US" sz="950" b="1" spc="100" kern="0" dirty="0">
                <a:solidFill>
                  <a:srgbClr val="1D4ED8"/>
                </a:solidFill>
                <a:latin typeface="Segoe UI" pitchFamily="34" charset="0"/>
                <a:ea typeface="Segoe UI" pitchFamily="34" charset="-122"/>
                <a:cs typeface="Segoe UI" pitchFamily="34" charset="-120"/>
              </a:rPr>
              <a:t>TRỢ LÝ AI</a:t>
            </a:r>
            <a:endParaRPr lang="en-US" sz="950" dirty="0"/>
          </a:p>
        </p:txBody>
      </p:sp>
      <p:sp>
        <p:nvSpPr>
          <p:cNvPr id="40" name="Text 37"/>
          <p:cNvSpPr/>
          <p:nvPr/>
        </p:nvSpPr>
        <p:spPr>
          <a:xfrm>
            <a:off x="9674352" y="4251960"/>
            <a:ext cx="1417320" cy="411480"/>
          </a:xfrm>
          <a:prstGeom prst="rect">
            <a:avLst/>
          </a:prstGeom>
          <a:noFill/>
          <a:ln/>
        </p:spPr>
        <p:txBody>
          <a:bodyPr wrap="square" lIns="0" tIns="0" rIns="0" bIns="0" rtlCol="0" anchor="ctr"/>
          <a:lstStyle/>
          <a:p>
            <a:pPr indent="0" marL="0">
              <a:buNone/>
            </a:pPr>
            <a:r>
              <a:rPr lang="en-US" sz="1220" b="1" dirty="0">
                <a:solidFill>
                  <a:srgbClr val="0F172A"/>
                </a:solidFill>
                <a:latin typeface="Segoe UI" pitchFamily="34" charset="0"/>
                <a:ea typeface="Segoe UI" pitchFamily="34" charset="-122"/>
                <a:cs typeface="Segoe UI" pitchFamily="34" charset="-120"/>
              </a:rPr>
              <a:t>Tôi có thể hỗ trợ</a:t>
            </a:r>
            <a:endParaRPr lang="en-US" sz="1220" dirty="0"/>
          </a:p>
          <a:p>
            <a:pPr indent="0" marL="0">
              <a:buNone/>
            </a:pPr>
            <a:r>
              <a:rPr lang="en-US" sz="1220" b="1" dirty="0">
                <a:solidFill>
                  <a:srgbClr val="0F172A"/>
                </a:solidFill>
                <a:latin typeface="Segoe UI" pitchFamily="34" charset="0"/>
                <a:ea typeface="Segoe UI" pitchFamily="34" charset="-122"/>
                <a:cs typeface="Segoe UI" pitchFamily="34" charset="-120"/>
              </a:rPr>
              <a:t>tra cứu thủ tục.</a:t>
            </a:r>
            <a:endParaRPr lang="en-US" sz="1220" dirty="0"/>
          </a:p>
        </p:txBody>
      </p:sp>
      <p:sp>
        <p:nvSpPr>
          <p:cNvPr id="41" name="Shape 38"/>
          <p:cNvSpPr/>
          <p:nvPr/>
        </p:nvSpPr>
        <p:spPr>
          <a:xfrm>
            <a:off x="10826496" y="3922776"/>
            <a:ext cx="438912" cy="438912"/>
          </a:xfrm>
          <a:prstGeom prst="ellipse">
            <a:avLst/>
          </a:prstGeom>
          <a:solidFill>
            <a:srgbClr val="1D4ED8"/>
          </a:solidFill>
          <a:ln w="12700">
            <a:solidFill>
              <a:srgbClr val="1D4ED8"/>
            </a:solidFill>
            <a:prstDash val="solid"/>
          </a:ln>
        </p:spPr>
      </p:sp>
      <p:pic>
        <p:nvPicPr>
          <p:cNvPr id="42" name="Image 1" descr="preencoded.png">    </p:cNvPr>
          <p:cNvPicPr>
            <a:picLocks noChangeAspect="1"/>
          </p:cNvPicPr>
          <p:nvPr/>
        </p:nvPicPr>
        <p:blipFill>
          <a:blip r:embed="rId2"/>
          <a:stretch>
            <a:fillRect/>
          </a:stretch>
        </p:blipFill>
        <p:spPr>
          <a:xfrm>
            <a:off x="10940613" y="4036893"/>
            <a:ext cx="210678" cy="210678"/>
          </a:xfrm>
          <a:prstGeom prst="rect">
            <a:avLst/>
          </a:prstGeom>
        </p:spPr>
      </p:pic>
      <p:sp>
        <p:nvSpPr>
          <p:cNvPr id="43" name="Text 39"/>
          <p:cNvSpPr/>
          <p:nvPr/>
        </p:nvSpPr>
        <p:spPr>
          <a:xfrm>
            <a:off x="603504" y="6016752"/>
            <a:ext cx="5029200" cy="274320"/>
          </a:xfrm>
          <a:prstGeom prst="rect">
            <a:avLst/>
          </a:prstGeom>
          <a:noFill/>
          <a:ln/>
        </p:spPr>
        <p:txBody>
          <a:bodyPr wrap="square" lIns="0" tIns="0" rIns="0" bIns="0" rtlCol="0" anchor="ctr"/>
          <a:lstStyle/>
          <a:p>
            <a:pPr indent="0" marL="0">
              <a:buNone/>
            </a:pPr>
            <a:r>
              <a:rPr lang="en-US" sz="1300" dirty="0">
                <a:solidFill>
                  <a:srgbClr val="AFC2E8"/>
                </a:solidFill>
                <a:latin typeface="Segoe UI" pitchFamily="34" charset="0"/>
                <a:ea typeface="Segoe UI" pitchFamily="34" charset="-122"/>
                <a:cs typeface="Segoe UI" pitchFamily="34" charset="-120"/>
              </a:rPr>
              <a:t>Tác giả  </a:t>
            </a:r>
            <a:pPr indent="0" marL="0">
              <a:buNone/>
            </a:pPr>
            <a:r>
              <a:rPr lang="en-US" sz="1300" b="1" dirty="0">
                <a:solidFill>
                  <a:srgbClr val="FFFFFF"/>
                </a:solidFill>
                <a:latin typeface="Segoe UI" pitchFamily="34" charset="0"/>
                <a:ea typeface="Segoe UI" pitchFamily="34" charset="-122"/>
                <a:cs typeface="Segoe UI" pitchFamily="34" charset="-120"/>
              </a:rPr>
              <a:t>Câu lạc bộ Sáng tạo</a:t>
            </a:r>
            <a:endParaRPr lang="en-US" sz="1300" dirty="0"/>
          </a:p>
        </p:txBody>
      </p:sp>
      <p:sp>
        <p:nvSpPr>
          <p:cNvPr id="44" name="Shape 40"/>
          <p:cNvSpPr/>
          <p:nvPr/>
        </p:nvSpPr>
        <p:spPr>
          <a:xfrm>
            <a:off x="603504" y="6556248"/>
            <a:ext cx="10984687" cy="0"/>
          </a:xfrm>
          <a:prstGeom prst="line">
            <a:avLst/>
          </a:prstGeom>
          <a:noFill/>
          <a:ln w="8890">
            <a:solidFill>
              <a:srgbClr val="36559B"/>
            </a:solidFill>
            <a:prstDash val="solid"/>
          </a:ln>
        </p:spPr>
      </p:sp>
      <p:sp>
        <p:nvSpPr>
          <p:cNvPr id="45" name="Text 41"/>
          <p:cNvSpPr/>
          <p:nvPr/>
        </p:nvSpPr>
        <p:spPr>
          <a:xfrm>
            <a:off x="603504" y="6601968"/>
            <a:ext cx="4572000" cy="164592"/>
          </a:xfrm>
          <a:prstGeom prst="rect">
            <a:avLst/>
          </a:prstGeom>
          <a:noFill/>
          <a:ln/>
        </p:spPr>
        <p:txBody>
          <a:bodyPr wrap="square" lIns="0" tIns="0" rIns="0" bIns="0" rtlCol="0" anchor="ctr"/>
          <a:lstStyle/>
          <a:p>
            <a:pPr indent="0" marL="0">
              <a:buNone/>
            </a:pPr>
            <a:r>
              <a:rPr lang="en-US" sz="950" b="1" spc="120" kern="0" dirty="0">
                <a:solidFill>
                  <a:srgbClr val="BFD0F0"/>
                </a:solidFill>
                <a:latin typeface="Segoe UI" pitchFamily="34" charset="0"/>
                <a:ea typeface="Segoe UI" pitchFamily="34" charset="-122"/>
                <a:cs typeface="Segoe UI" pitchFamily="34" charset="-120"/>
              </a:rPr>
              <a:t>BẢN ĐỒ CÔNG AN SỐ · TỈNH PHÚ THỌ</a:t>
            </a:r>
            <a:endParaRPr lang="en-US" sz="950" dirty="0"/>
          </a:p>
        </p:txBody>
      </p:sp>
      <p:sp>
        <p:nvSpPr>
          <p:cNvPr id="46" name="Text 42"/>
          <p:cNvSpPr/>
          <p:nvPr/>
        </p:nvSpPr>
        <p:spPr>
          <a:xfrm>
            <a:off x="11222431" y="6583680"/>
            <a:ext cx="365760" cy="182880"/>
          </a:xfrm>
          <a:prstGeom prst="rect">
            <a:avLst/>
          </a:prstGeom>
          <a:noFill/>
          <a:ln/>
        </p:spPr>
        <p:txBody>
          <a:bodyPr wrap="square" lIns="0" tIns="0" rIns="0" bIns="0" rtlCol="0" anchor="ctr"/>
          <a:lstStyle/>
          <a:p>
            <a:pPr algn="r" indent="0" marL="0">
              <a:buNone/>
            </a:pPr>
            <a:r>
              <a:rPr lang="en-US" sz="1000" b="1" dirty="0">
                <a:solidFill>
                  <a:srgbClr val="BFD0F0"/>
                </a:solidFill>
                <a:latin typeface="Segoe UI" pitchFamily="34" charset="0"/>
                <a:ea typeface="Segoe UI" pitchFamily="34" charset="-122"/>
                <a:cs typeface="Segoe UI" pitchFamily="34" charset="-120"/>
              </a:rPr>
              <a:t>01</a:t>
            </a:r>
            <a:endParaRPr lang="en-US" sz="1000" dirty="0"/>
          </a:p>
        </p:txBody>
      </p:sp>
    </p:spTree>
  </p:cSld>
  <p:clrMapOvr>
    <a:masterClrMapping/>
  </p:clrMapOvr>
  <p:transition xmlns:p14="http://schemas.microsoft.com/office/powerpoint/2010/main" spd="med" p14:dur="450">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603504" y="347472"/>
            <a:ext cx="6858000" cy="246888"/>
          </a:xfrm>
          <a:prstGeom prst="rect">
            <a:avLst/>
          </a:prstGeom>
          <a:noFill/>
          <a:ln/>
        </p:spPr>
        <p:txBody>
          <a:bodyPr wrap="square" lIns="0" tIns="0" rIns="0" bIns="0" rtlCol="0" anchor="ctr"/>
          <a:lstStyle/>
          <a:p>
            <a:pPr indent="0" marL="0">
              <a:buNone/>
            </a:pPr>
            <a:r>
              <a:rPr lang="en-US" sz="1250" b="1" spc="220" kern="0" dirty="0">
                <a:solidFill>
                  <a:srgbClr val="1D4ED8"/>
                </a:solidFill>
                <a:latin typeface="Segoe UI" pitchFamily="34" charset="0"/>
                <a:ea typeface="Segoe UI" pitchFamily="34" charset="-122"/>
                <a:cs typeface="Segoe UI" pitchFamily="34" charset="-120"/>
              </a:rPr>
              <a:t>THỰC TRẠNG</a:t>
            </a:r>
            <a:endParaRPr lang="en-US" sz="1250" dirty="0"/>
          </a:p>
        </p:txBody>
      </p:sp>
      <p:sp>
        <p:nvSpPr>
          <p:cNvPr id="3" name="Text 1"/>
          <p:cNvSpPr/>
          <p:nvPr/>
        </p:nvSpPr>
        <p:spPr>
          <a:xfrm>
            <a:off x="603504" y="649224"/>
            <a:ext cx="10972800" cy="530352"/>
          </a:xfrm>
          <a:prstGeom prst="rect">
            <a:avLst/>
          </a:prstGeom>
          <a:noFill/>
          <a:ln/>
        </p:spPr>
        <p:txBody>
          <a:bodyPr wrap="square" lIns="0" tIns="0" rIns="0" bIns="0" rtlCol="0" anchor="ctr"/>
          <a:lstStyle/>
          <a:p>
            <a:pPr indent="0" marL="0">
              <a:buNone/>
            </a:pPr>
            <a:r>
              <a:rPr lang="en-US" sz="3000" b="1" dirty="0">
                <a:solidFill>
                  <a:srgbClr val="0F172A"/>
                </a:solidFill>
                <a:latin typeface="Segoe UI" pitchFamily="34" charset="0"/>
                <a:ea typeface="Segoe UI" pitchFamily="34" charset="-122"/>
                <a:cs typeface="Segoe UI" pitchFamily="34" charset="-120"/>
              </a:rPr>
              <a:t>Một vòng lặp tạo thêm việc cho cả người dân và cán bộ</a:t>
            </a:r>
            <a:endParaRPr lang="en-US" sz="3000" dirty="0"/>
          </a:p>
        </p:txBody>
      </p:sp>
      <p:sp>
        <p:nvSpPr>
          <p:cNvPr id="4" name="Shape 2"/>
          <p:cNvSpPr/>
          <p:nvPr/>
        </p:nvSpPr>
        <p:spPr>
          <a:xfrm>
            <a:off x="603504" y="1243584"/>
            <a:ext cx="960120" cy="0"/>
          </a:xfrm>
          <a:prstGeom prst="line">
            <a:avLst/>
          </a:prstGeom>
          <a:noFill/>
          <a:ln w="31750">
            <a:solidFill>
              <a:srgbClr val="1D4ED8"/>
            </a:solidFill>
            <a:prstDash val="solid"/>
          </a:ln>
        </p:spPr>
      </p:sp>
      <p:sp>
        <p:nvSpPr>
          <p:cNvPr id="5" name="Shape 3"/>
          <p:cNvSpPr/>
          <p:nvPr/>
        </p:nvSpPr>
        <p:spPr>
          <a:xfrm>
            <a:off x="3767328" y="2505456"/>
            <a:ext cx="1463040" cy="676656"/>
          </a:xfrm>
          <a:prstGeom prst="line">
            <a:avLst/>
          </a:prstGeom>
          <a:noFill/>
          <a:ln w="21590">
            <a:solidFill>
              <a:srgbClr val="1D4ED8"/>
            </a:solidFill>
            <a:prstDash val="solid"/>
            <a:tailEnd type="triangle"/>
          </a:ln>
        </p:spPr>
      </p:sp>
      <p:sp>
        <p:nvSpPr>
          <p:cNvPr id="6" name="Shape 4"/>
          <p:cNvSpPr/>
          <p:nvPr/>
        </p:nvSpPr>
        <p:spPr>
          <a:xfrm flipH="1">
            <a:off x="3767328" y="4005072"/>
            <a:ext cx="1463040" cy="658368"/>
          </a:xfrm>
          <a:prstGeom prst="line">
            <a:avLst/>
          </a:prstGeom>
          <a:noFill/>
          <a:ln w="21590">
            <a:solidFill>
              <a:srgbClr val="1D4ED8"/>
            </a:solidFill>
            <a:prstDash val="solid"/>
            <a:tailEnd type="triangle"/>
          </a:ln>
        </p:spPr>
      </p:sp>
      <p:sp>
        <p:nvSpPr>
          <p:cNvPr id="7" name="Shape 5"/>
          <p:cNvSpPr/>
          <p:nvPr/>
        </p:nvSpPr>
        <p:spPr>
          <a:xfrm>
            <a:off x="3767328" y="5065776"/>
            <a:ext cx="4553712" cy="0"/>
          </a:xfrm>
          <a:prstGeom prst="line">
            <a:avLst/>
          </a:prstGeom>
          <a:noFill/>
          <a:ln w="21590">
            <a:solidFill>
              <a:srgbClr val="1D4ED8"/>
            </a:solidFill>
            <a:prstDash val="solid"/>
            <a:tailEnd type="triangle"/>
          </a:ln>
        </p:spPr>
      </p:sp>
      <p:sp>
        <p:nvSpPr>
          <p:cNvPr id="8" name="Shape 6"/>
          <p:cNvSpPr/>
          <p:nvPr/>
        </p:nvSpPr>
        <p:spPr>
          <a:xfrm flipH="1" flipV="1">
            <a:off x="6958584" y="4005072"/>
            <a:ext cx="1435608" cy="612648"/>
          </a:xfrm>
          <a:prstGeom prst="line">
            <a:avLst/>
          </a:prstGeom>
          <a:noFill/>
          <a:ln w="21590">
            <a:solidFill>
              <a:srgbClr val="1D4ED8"/>
            </a:solidFill>
            <a:prstDash val="solid"/>
            <a:tailEnd type="triangle"/>
          </a:ln>
        </p:spPr>
      </p:sp>
      <p:sp>
        <p:nvSpPr>
          <p:cNvPr id="9" name="Shape 7"/>
          <p:cNvSpPr/>
          <p:nvPr/>
        </p:nvSpPr>
        <p:spPr>
          <a:xfrm flipV="1">
            <a:off x="6958584" y="2514600"/>
            <a:ext cx="1435608" cy="667512"/>
          </a:xfrm>
          <a:prstGeom prst="line">
            <a:avLst/>
          </a:prstGeom>
          <a:noFill/>
          <a:ln w="21590">
            <a:solidFill>
              <a:srgbClr val="1D4ED8"/>
            </a:solidFill>
            <a:prstDash val="solid"/>
            <a:tailEnd type="triangle"/>
          </a:ln>
        </p:spPr>
      </p:sp>
      <p:sp>
        <p:nvSpPr>
          <p:cNvPr id="10" name="Shape 8"/>
          <p:cNvSpPr/>
          <p:nvPr/>
        </p:nvSpPr>
        <p:spPr>
          <a:xfrm flipH="1">
            <a:off x="3767328" y="2212848"/>
            <a:ext cx="4626864" cy="0"/>
          </a:xfrm>
          <a:prstGeom prst="line">
            <a:avLst/>
          </a:prstGeom>
          <a:noFill/>
          <a:ln w="21590">
            <a:solidFill>
              <a:srgbClr val="1D4ED8"/>
            </a:solidFill>
            <a:prstDash val="solid"/>
            <a:tailEnd type="triangle"/>
          </a:ln>
        </p:spPr>
      </p:sp>
      <p:sp>
        <p:nvSpPr>
          <p:cNvPr id="11" name="Shape 9"/>
          <p:cNvSpPr/>
          <p:nvPr/>
        </p:nvSpPr>
        <p:spPr>
          <a:xfrm>
            <a:off x="914400" y="1828800"/>
            <a:ext cx="2880360" cy="1078992"/>
          </a:xfrm>
          <a:prstGeom prst="roundRect">
            <a:avLst>
              <a:gd name="adj" fmla="val 6780"/>
            </a:avLst>
          </a:prstGeom>
          <a:solidFill>
            <a:srgbClr val="FFFFFF"/>
          </a:solidFill>
          <a:ln w="12700">
            <a:solidFill>
              <a:srgbClr val="E2E8F0"/>
            </a:solidFill>
            <a:prstDash val="solid"/>
          </a:ln>
          <a:effectLst>
            <a:outerShdw sx="100000" sy="100000" kx="0" ky="0" algn="bl" rotWithShape="0" blurRad="50800" dist="12700" dir="2700000">
              <a:srgbClr val="64748B">
                <a:alpha val="8000"/>
              </a:srgbClr>
            </a:outerShdw>
          </a:effectLst>
        </p:spPr>
      </p:sp>
      <p:sp>
        <p:nvSpPr>
          <p:cNvPr id="12" name="Shape 10"/>
          <p:cNvSpPr/>
          <p:nvPr/>
        </p:nvSpPr>
        <p:spPr>
          <a:xfrm>
            <a:off x="1097280" y="2039112"/>
            <a:ext cx="566928" cy="566928"/>
          </a:xfrm>
          <a:prstGeom prst="ellipse">
            <a:avLst/>
          </a:prstGeom>
          <a:solidFill>
            <a:srgbClr val="EFF6FF"/>
          </a:solidFill>
          <a:ln w="12700">
            <a:solidFill>
              <a:srgbClr val="EFF6FF"/>
            </a:solidFill>
            <a:prstDash val="solid"/>
          </a:ln>
        </p:spPr>
      </p:sp>
      <p:pic>
        <p:nvPicPr>
          <p:cNvPr id="13" name="Image 0" descr="preencoded.png">    </p:cNvPr>
          <p:cNvPicPr>
            <a:picLocks noChangeAspect="1"/>
          </p:cNvPicPr>
          <p:nvPr/>
        </p:nvPicPr>
        <p:blipFill>
          <a:blip r:embed="rId1"/>
          <a:stretch>
            <a:fillRect/>
          </a:stretch>
        </p:blipFill>
        <p:spPr>
          <a:xfrm>
            <a:off x="1250351" y="2192183"/>
            <a:ext cx="260787" cy="260787"/>
          </a:xfrm>
          <a:prstGeom prst="rect">
            <a:avLst/>
          </a:prstGeom>
        </p:spPr>
      </p:pic>
      <p:sp>
        <p:nvSpPr>
          <p:cNvPr id="14" name="Text 11"/>
          <p:cNvSpPr/>
          <p:nvPr/>
        </p:nvSpPr>
        <p:spPr>
          <a:xfrm>
            <a:off x="1810512" y="2002536"/>
            <a:ext cx="1783080" cy="274320"/>
          </a:xfrm>
          <a:prstGeom prst="rect">
            <a:avLst/>
          </a:prstGeom>
          <a:noFill/>
          <a:ln/>
        </p:spPr>
        <p:txBody>
          <a:bodyPr wrap="square" lIns="0" tIns="0" rIns="0" bIns="0" rtlCol="0" anchor="ctr"/>
          <a:lstStyle/>
          <a:p>
            <a:pPr indent="0" marL="0">
              <a:buNone/>
            </a:pPr>
            <a:r>
              <a:rPr lang="en-US" sz="1620" b="1" dirty="0">
                <a:solidFill>
                  <a:srgbClr val="0F172A"/>
                </a:solidFill>
                <a:latin typeface="Segoe UI" pitchFamily="34" charset="0"/>
                <a:ea typeface="Segoe UI" pitchFamily="34" charset="-122"/>
                <a:cs typeface="Segoe UI" pitchFamily="34" charset="-120"/>
              </a:rPr>
              <a:t>Tìm sai địa chỉ</a:t>
            </a:r>
            <a:endParaRPr lang="en-US" sz="1620" dirty="0"/>
          </a:p>
        </p:txBody>
      </p:sp>
      <p:sp>
        <p:nvSpPr>
          <p:cNvPr id="15" name="Text 12"/>
          <p:cNvSpPr/>
          <p:nvPr/>
        </p:nvSpPr>
        <p:spPr>
          <a:xfrm>
            <a:off x="1810512" y="2340864"/>
            <a:ext cx="1783080" cy="393192"/>
          </a:xfrm>
          <a:prstGeom prst="rect">
            <a:avLst/>
          </a:prstGeom>
          <a:noFill/>
          <a:ln/>
        </p:spPr>
        <p:txBody>
          <a:bodyPr wrap="square" lIns="0" tIns="0" rIns="0" bIns="0" rtlCol="0" anchor="ctr"/>
          <a:lstStyle/>
          <a:p>
            <a:pPr indent="0" marL="0">
              <a:buNone/>
            </a:pPr>
            <a:r>
              <a:rPr lang="en-US" sz="1230" dirty="0">
                <a:solidFill>
                  <a:srgbClr val="334155"/>
                </a:solidFill>
                <a:latin typeface="Segoe UI" pitchFamily="34" charset="0"/>
                <a:ea typeface="Segoe UI" pitchFamily="34" charset="-122"/>
                <a:cs typeface="Segoe UI" pitchFamily="34" charset="-120"/>
              </a:rPr>
              <a:t>Người dân loay hoay tìm đúng trụ sở.</a:t>
            </a:r>
            <a:endParaRPr lang="en-US" sz="1230" dirty="0"/>
          </a:p>
        </p:txBody>
      </p:sp>
      <p:sp>
        <p:nvSpPr>
          <p:cNvPr id="16" name="Shape 13"/>
          <p:cNvSpPr/>
          <p:nvPr/>
        </p:nvSpPr>
        <p:spPr>
          <a:xfrm>
            <a:off x="914400" y="4315968"/>
            <a:ext cx="2880360" cy="1078992"/>
          </a:xfrm>
          <a:prstGeom prst="roundRect">
            <a:avLst>
              <a:gd name="adj" fmla="val 6780"/>
            </a:avLst>
          </a:prstGeom>
          <a:solidFill>
            <a:srgbClr val="FFFFFF"/>
          </a:solidFill>
          <a:ln w="12700">
            <a:solidFill>
              <a:srgbClr val="E2E8F0"/>
            </a:solidFill>
            <a:prstDash val="solid"/>
          </a:ln>
          <a:effectLst>
            <a:outerShdw sx="100000" sy="100000" kx="0" ky="0" algn="bl" rotWithShape="0" blurRad="50800" dist="12700" dir="2700000">
              <a:srgbClr val="64748B">
                <a:alpha val="8000"/>
              </a:srgbClr>
            </a:outerShdw>
          </a:effectLst>
        </p:spPr>
      </p:sp>
      <p:sp>
        <p:nvSpPr>
          <p:cNvPr id="17" name="Shape 14"/>
          <p:cNvSpPr/>
          <p:nvPr/>
        </p:nvSpPr>
        <p:spPr>
          <a:xfrm>
            <a:off x="1097280" y="4526280"/>
            <a:ext cx="566928" cy="566928"/>
          </a:xfrm>
          <a:prstGeom prst="ellipse">
            <a:avLst/>
          </a:prstGeom>
          <a:solidFill>
            <a:srgbClr val="EFF6FF"/>
          </a:solidFill>
          <a:ln w="12700">
            <a:solidFill>
              <a:srgbClr val="EFF6FF"/>
            </a:solidFill>
            <a:prstDash val="solid"/>
          </a:ln>
        </p:spPr>
      </p:sp>
      <p:pic>
        <p:nvPicPr>
          <p:cNvPr id="18" name="Image 1" descr="preencoded.png">    </p:cNvPr>
          <p:cNvPicPr>
            <a:picLocks noChangeAspect="1"/>
          </p:cNvPicPr>
          <p:nvPr/>
        </p:nvPicPr>
        <p:blipFill>
          <a:blip r:embed="rId2"/>
          <a:stretch>
            <a:fillRect/>
          </a:stretch>
        </p:blipFill>
        <p:spPr>
          <a:xfrm>
            <a:off x="1250351" y="4679351"/>
            <a:ext cx="260787" cy="260787"/>
          </a:xfrm>
          <a:prstGeom prst="rect">
            <a:avLst/>
          </a:prstGeom>
        </p:spPr>
      </p:pic>
      <p:sp>
        <p:nvSpPr>
          <p:cNvPr id="19" name="Text 15"/>
          <p:cNvSpPr/>
          <p:nvPr/>
        </p:nvSpPr>
        <p:spPr>
          <a:xfrm>
            <a:off x="1810512" y="4489704"/>
            <a:ext cx="1783080" cy="274320"/>
          </a:xfrm>
          <a:prstGeom prst="rect">
            <a:avLst/>
          </a:prstGeom>
          <a:noFill/>
          <a:ln/>
        </p:spPr>
        <p:txBody>
          <a:bodyPr wrap="square" lIns="0" tIns="0" rIns="0" bIns="0" rtlCol="0" anchor="ctr"/>
          <a:lstStyle/>
          <a:p>
            <a:pPr indent="0" marL="0">
              <a:buNone/>
            </a:pPr>
            <a:r>
              <a:rPr lang="en-US" sz="1620" b="1" dirty="0">
                <a:solidFill>
                  <a:srgbClr val="0F172A"/>
                </a:solidFill>
                <a:latin typeface="Segoe UI" pitchFamily="34" charset="0"/>
                <a:ea typeface="Segoe UI" pitchFamily="34" charset="-122"/>
                <a:cs typeface="Segoe UI" pitchFamily="34" charset="-120"/>
              </a:rPr>
              <a:t>Chuẩn bị sai thủ tục</a:t>
            </a:r>
            <a:endParaRPr lang="en-US" sz="1620" dirty="0"/>
          </a:p>
        </p:txBody>
      </p:sp>
      <p:sp>
        <p:nvSpPr>
          <p:cNvPr id="20" name="Text 16"/>
          <p:cNvSpPr/>
          <p:nvPr/>
        </p:nvSpPr>
        <p:spPr>
          <a:xfrm>
            <a:off x="1810512" y="4828032"/>
            <a:ext cx="1783080" cy="393192"/>
          </a:xfrm>
          <a:prstGeom prst="rect">
            <a:avLst/>
          </a:prstGeom>
          <a:noFill/>
          <a:ln/>
        </p:spPr>
        <p:txBody>
          <a:bodyPr wrap="square" lIns="0" tIns="0" rIns="0" bIns="0" rtlCol="0" anchor="ctr"/>
          <a:lstStyle/>
          <a:p>
            <a:pPr indent="0" marL="0">
              <a:buNone/>
            </a:pPr>
            <a:r>
              <a:rPr lang="en-US" sz="1230" dirty="0">
                <a:solidFill>
                  <a:srgbClr val="334155"/>
                </a:solidFill>
                <a:latin typeface="Segoe UI" pitchFamily="34" charset="0"/>
                <a:ea typeface="Segoe UI" pitchFamily="34" charset="-122"/>
                <a:cs typeface="Segoe UI" pitchFamily="34" charset="-120"/>
              </a:rPr>
              <a:t>Thiếu hoặc sai giấy tờ cần thiết.</a:t>
            </a:r>
            <a:endParaRPr lang="en-US" sz="1230" dirty="0"/>
          </a:p>
        </p:txBody>
      </p:sp>
      <p:sp>
        <p:nvSpPr>
          <p:cNvPr id="21" name="Shape 17"/>
          <p:cNvSpPr/>
          <p:nvPr/>
        </p:nvSpPr>
        <p:spPr>
          <a:xfrm>
            <a:off x="8394192" y="4315968"/>
            <a:ext cx="2880360" cy="1078992"/>
          </a:xfrm>
          <a:prstGeom prst="roundRect">
            <a:avLst>
              <a:gd name="adj" fmla="val 6780"/>
            </a:avLst>
          </a:prstGeom>
          <a:solidFill>
            <a:srgbClr val="FFFFFF"/>
          </a:solidFill>
          <a:ln w="12700">
            <a:solidFill>
              <a:srgbClr val="E2E8F0"/>
            </a:solidFill>
            <a:prstDash val="solid"/>
          </a:ln>
          <a:effectLst>
            <a:outerShdw sx="100000" sy="100000" kx="0" ky="0" algn="bl" rotWithShape="0" blurRad="50800" dist="12700" dir="2700000">
              <a:srgbClr val="64748B">
                <a:alpha val="8000"/>
              </a:srgbClr>
            </a:outerShdw>
          </a:effectLst>
        </p:spPr>
      </p:sp>
      <p:sp>
        <p:nvSpPr>
          <p:cNvPr id="22" name="Shape 18"/>
          <p:cNvSpPr/>
          <p:nvPr/>
        </p:nvSpPr>
        <p:spPr>
          <a:xfrm>
            <a:off x="8577072" y="4526280"/>
            <a:ext cx="566928" cy="566928"/>
          </a:xfrm>
          <a:prstGeom prst="ellipse">
            <a:avLst/>
          </a:prstGeom>
          <a:solidFill>
            <a:srgbClr val="EFF6FF"/>
          </a:solidFill>
          <a:ln w="12700">
            <a:solidFill>
              <a:srgbClr val="EFF6FF"/>
            </a:solidFill>
            <a:prstDash val="solid"/>
          </a:ln>
        </p:spPr>
      </p:sp>
      <p:pic>
        <p:nvPicPr>
          <p:cNvPr id="23" name="Image 2" descr="preencoded.png">    </p:cNvPr>
          <p:cNvPicPr>
            <a:picLocks noChangeAspect="1"/>
          </p:cNvPicPr>
          <p:nvPr/>
        </p:nvPicPr>
        <p:blipFill>
          <a:blip r:embed="rId3"/>
          <a:stretch>
            <a:fillRect/>
          </a:stretch>
        </p:blipFill>
        <p:spPr>
          <a:xfrm>
            <a:off x="8730143" y="4679351"/>
            <a:ext cx="260787" cy="260787"/>
          </a:xfrm>
          <a:prstGeom prst="rect">
            <a:avLst/>
          </a:prstGeom>
        </p:spPr>
      </p:pic>
      <p:sp>
        <p:nvSpPr>
          <p:cNvPr id="24" name="Text 19"/>
          <p:cNvSpPr/>
          <p:nvPr/>
        </p:nvSpPr>
        <p:spPr>
          <a:xfrm>
            <a:off x="9290304" y="4489704"/>
            <a:ext cx="1783080" cy="274320"/>
          </a:xfrm>
          <a:prstGeom prst="rect">
            <a:avLst/>
          </a:prstGeom>
          <a:noFill/>
          <a:ln/>
        </p:spPr>
        <p:txBody>
          <a:bodyPr wrap="square" lIns="0" tIns="0" rIns="0" bIns="0" rtlCol="0" anchor="ctr"/>
          <a:lstStyle/>
          <a:p>
            <a:pPr indent="0" marL="0">
              <a:buNone/>
            </a:pPr>
            <a:r>
              <a:rPr lang="en-US" sz="1620" b="1" dirty="0">
                <a:solidFill>
                  <a:srgbClr val="0F172A"/>
                </a:solidFill>
                <a:latin typeface="Segoe UI" pitchFamily="34" charset="0"/>
                <a:ea typeface="Segoe UI" pitchFamily="34" charset="-122"/>
                <a:cs typeface="Segoe UI" pitchFamily="34" charset="-120"/>
              </a:rPr>
              <a:t>Phải đi lại nhiều lần</a:t>
            </a:r>
            <a:endParaRPr lang="en-US" sz="1620" dirty="0"/>
          </a:p>
        </p:txBody>
      </p:sp>
      <p:sp>
        <p:nvSpPr>
          <p:cNvPr id="25" name="Text 20"/>
          <p:cNvSpPr/>
          <p:nvPr/>
        </p:nvSpPr>
        <p:spPr>
          <a:xfrm>
            <a:off x="9290304" y="4828032"/>
            <a:ext cx="1783080" cy="393192"/>
          </a:xfrm>
          <a:prstGeom prst="rect">
            <a:avLst/>
          </a:prstGeom>
          <a:noFill/>
          <a:ln/>
        </p:spPr>
        <p:txBody>
          <a:bodyPr wrap="square" lIns="0" tIns="0" rIns="0" bIns="0" rtlCol="0" anchor="ctr"/>
          <a:lstStyle/>
          <a:p>
            <a:pPr indent="0" marL="0">
              <a:buNone/>
            </a:pPr>
            <a:r>
              <a:rPr lang="en-US" sz="1230" dirty="0">
                <a:solidFill>
                  <a:srgbClr val="334155"/>
                </a:solidFill>
                <a:latin typeface="Segoe UI" pitchFamily="34" charset="0"/>
                <a:ea typeface="Segoe UI" pitchFamily="34" charset="-122"/>
                <a:cs typeface="Segoe UI" pitchFamily="34" charset="-120"/>
              </a:rPr>
              <a:t>Mất thêm thời gian để bổ sung, điều chỉnh.</a:t>
            </a:r>
            <a:endParaRPr lang="en-US" sz="1230" dirty="0"/>
          </a:p>
        </p:txBody>
      </p:sp>
      <p:sp>
        <p:nvSpPr>
          <p:cNvPr id="26" name="Shape 21"/>
          <p:cNvSpPr/>
          <p:nvPr/>
        </p:nvSpPr>
        <p:spPr>
          <a:xfrm>
            <a:off x="8394192" y="1828800"/>
            <a:ext cx="2880360" cy="1078992"/>
          </a:xfrm>
          <a:prstGeom prst="roundRect">
            <a:avLst>
              <a:gd name="adj" fmla="val 6780"/>
            </a:avLst>
          </a:prstGeom>
          <a:solidFill>
            <a:srgbClr val="FFFFFF"/>
          </a:solidFill>
          <a:ln w="12700">
            <a:solidFill>
              <a:srgbClr val="B6D9D5"/>
            </a:solidFill>
            <a:prstDash val="solid"/>
          </a:ln>
          <a:effectLst>
            <a:outerShdw sx="100000" sy="100000" kx="0" ky="0" algn="bl" rotWithShape="0" blurRad="50800" dist="12700" dir="2700000">
              <a:srgbClr val="64748B">
                <a:alpha val="8000"/>
              </a:srgbClr>
            </a:outerShdw>
          </a:effectLst>
        </p:spPr>
      </p:sp>
      <p:sp>
        <p:nvSpPr>
          <p:cNvPr id="27" name="Shape 22"/>
          <p:cNvSpPr/>
          <p:nvPr/>
        </p:nvSpPr>
        <p:spPr>
          <a:xfrm>
            <a:off x="8577072" y="2039112"/>
            <a:ext cx="566928" cy="566928"/>
          </a:xfrm>
          <a:prstGeom prst="ellipse">
            <a:avLst/>
          </a:prstGeom>
          <a:solidFill>
            <a:srgbClr val="0B7A75"/>
          </a:solidFill>
          <a:ln w="12700">
            <a:solidFill>
              <a:srgbClr val="0B7A75"/>
            </a:solidFill>
            <a:prstDash val="solid"/>
          </a:ln>
        </p:spPr>
      </p:sp>
      <p:pic>
        <p:nvPicPr>
          <p:cNvPr id="28" name="Image 3" descr="preencoded.png">    </p:cNvPr>
          <p:cNvPicPr>
            <a:picLocks noChangeAspect="1"/>
          </p:cNvPicPr>
          <p:nvPr/>
        </p:nvPicPr>
        <p:blipFill>
          <a:blip r:embed="rId4"/>
          <a:stretch>
            <a:fillRect/>
          </a:stretch>
        </p:blipFill>
        <p:spPr>
          <a:xfrm>
            <a:off x="8730143" y="2192183"/>
            <a:ext cx="260787" cy="260787"/>
          </a:xfrm>
          <a:prstGeom prst="rect">
            <a:avLst/>
          </a:prstGeom>
        </p:spPr>
      </p:pic>
      <p:sp>
        <p:nvSpPr>
          <p:cNvPr id="29" name="Text 23"/>
          <p:cNvSpPr/>
          <p:nvPr/>
        </p:nvSpPr>
        <p:spPr>
          <a:xfrm>
            <a:off x="9290304" y="2002536"/>
            <a:ext cx="1783080" cy="274320"/>
          </a:xfrm>
          <a:prstGeom prst="rect">
            <a:avLst/>
          </a:prstGeom>
          <a:noFill/>
          <a:ln/>
        </p:spPr>
        <p:txBody>
          <a:bodyPr wrap="square" lIns="0" tIns="0" rIns="0" bIns="0" rtlCol="0" anchor="ctr"/>
          <a:lstStyle/>
          <a:p>
            <a:pPr indent="0" marL="0">
              <a:buNone/>
            </a:pPr>
            <a:r>
              <a:rPr lang="en-US" sz="1620" b="1" dirty="0">
                <a:solidFill>
                  <a:srgbClr val="0F172A"/>
                </a:solidFill>
                <a:latin typeface="Segoe UI" pitchFamily="34" charset="0"/>
                <a:ea typeface="Segoe UI" pitchFamily="34" charset="-122"/>
                <a:cs typeface="Segoe UI" pitchFamily="34" charset="-120"/>
              </a:rPr>
              <a:t>Giải đáp lặp lại</a:t>
            </a:r>
            <a:endParaRPr lang="en-US" sz="1620" dirty="0"/>
          </a:p>
        </p:txBody>
      </p:sp>
      <p:sp>
        <p:nvSpPr>
          <p:cNvPr id="30" name="Text 24"/>
          <p:cNvSpPr/>
          <p:nvPr/>
        </p:nvSpPr>
        <p:spPr>
          <a:xfrm>
            <a:off x="9290304" y="2340864"/>
            <a:ext cx="1783080" cy="393192"/>
          </a:xfrm>
          <a:prstGeom prst="rect">
            <a:avLst/>
          </a:prstGeom>
          <a:noFill/>
          <a:ln/>
        </p:spPr>
        <p:txBody>
          <a:bodyPr wrap="square" lIns="0" tIns="0" rIns="0" bIns="0" rtlCol="0" anchor="ctr"/>
          <a:lstStyle/>
          <a:p>
            <a:pPr indent="0" marL="0">
              <a:buNone/>
            </a:pPr>
            <a:r>
              <a:rPr lang="en-US" sz="1230" dirty="0">
                <a:solidFill>
                  <a:srgbClr val="334155"/>
                </a:solidFill>
                <a:latin typeface="Segoe UI" pitchFamily="34" charset="0"/>
                <a:ea typeface="Segoe UI" pitchFamily="34" charset="-122"/>
                <a:cs typeface="Segoe UI" pitchFamily="34" charset="-120"/>
              </a:rPr>
              <a:t>Cán bộ tiếp tục trả lời các câu hỏi giống nhau.</a:t>
            </a:r>
            <a:endParaRPr lang="en-US" sz="1230" dirty="0"/>
          </a:p>
        </p:txBody>
      </p:sp>
      <p:sp>
        <p:nvSpPr>
          <p:cNvPr id="31" name="Shape 25"/>
          <p:cNvSpPr/>
          <p:nvPr/>
        </p:nvSpPr>
        <p:spPr>
          <a:xfrm>
            <a:off x="5129784" y="2862072"/>
            <a:ext cx="1920240" cy="1463040"/>
          </a:xfrm>
          <a:prstGeom prst="ellipse">
            <a:avLst/>
          </a:prstGeom>
          <a:solidFill>
            <a:srgbClr val="1E3A8A"/>
          </a:solidFill>
          <a:ln w="25400">
            <a:solidFill>
              <a:srgbClr val="1D4ED8"/>
            </a:solidFill>
            <a:prstDash val="solid"/>
          </a:ln>
          <a:effectLst>
            <a:outerShdw sx="100000" sy="100000" kx="0" ky="0" algn="bl" rotWithShape="0" blurRad="76200" dist="25400" dir="2700000">
              <a:srgbClr val="64748B">
                <a:alpha val="16000"/>
              </a:srgbClr>
            </a:outerShdw>
          </a:effectLst>
        </p:spPr>
      </p:sp>
      <p:sp>
        <p:nvSpPr>
          <p:cNvPr id="32" name="Text 26"/>
          <p:cNvSpPr/>
          <p:nvPr/>
        </p:nvSpPr>
        <p:spPr>
          <a:xfrm>
            <a:off x="5266944" y="3429000"/>
            <a:ext cx="1645920" cy="329184"/>
          </a:xfrm>
          <a:prstGeom prst="rect">
            <a:avLst/>
          </a:prstGeom>
          <a:noFill/>
          <a:ln/>
        </p:spPr>
        <p:txBody>
          <a:bodyPr wrap="square" lIns="0" tIns="0" rIns="0" bIns="0" rtlCol="0" anchor="ctr"/>
          <a:lstStyle/>
          <a:p>
            <a:pPr algn="ctr" indent="0" marL="0">
              <a:buNone/>
            </a:pPr>
            <a:r>
              <a:rPr lang="en-US" sz="2400" b="1" spc="120" kern="0" dirty="0">
                <a:solidFill>
                  <a:srgbClr val="FFFFFF"/>
                </a:solidFill>
                <a:latin typeface="Segoe UI" pitchFamily="34" charset="0"/>
                <a:ea typeface="Segoe UI" pitchFamily="34" charset="-122"/>
                <a:cs typeface="Segoe UI" pitchFamily="34" charset="-120"/>
              </a:rPr>
              <a:t>LẶP LẠI</a:t>
            </a:r>
            <a:endParaRPr lang="en-US" sz="2400" dirty="0"/>
          </a:p>
        </p:txBody>
      </p:sp>
      <p:sp>
        <p:nvSpPr>
          <p:cNvPr id="33" name="Text 27"/>
          <p:cNvSpPr/>
          <p:nvPr/>
        </p:nvSpPr>
        <p:spPr>
          <a:xfrm>
            <a:off x="914400" y="1499616"/>
            <a:ext cx="2926080" cy="182880"/>
          </a:xfrm>
          <a:prstGeom prst="rect">
            <a:avLst/>
          </a:prstGeom>
          <a:noFill/>
          <a:ln/>
        </p:spPr>
        <p:txBody>
          <a:bodyPr wrap="square" lIns="0" tIns="0" rIns="0" bIns="0" rtlCol="0" anchor="ctr"/>
          <a:lstStyle/>
          <a:p>
            <a:pPr indent="0" marL="0">
              <a:buNone/>
            </a:pPr>
            <a:r>
              <a:rPr lang="en-US" sz="1050" b="1" spc="150" kern="0" dirty="0">
                <a:solidFill>
                  <a:srgbClr val="1D4ED8"/>
                </a:solidFill>
                <a:latin typeface="Segoe UI" pitchFamily="34" charset="0"/>
                <a:ea typeface="Segoe UI" pitchFamily="34" charset="-122"/>
                <a:cs typeface="Segoe UI" pitchFamily="34" charset="-120"/>
              </a:rPr>
              <a:t>PHÍA NGƯỜI DÂN</a:t>
            </a:r>
            <a:endParaRPr lang="en-US" sz="1050" dirty="0"/>
          </a:p>
        </p:txBody>
      </p:sp>
      <p:sp>
        <p:nvSpPr>
          <p:cNvPr id="34" name="Text 28"/>
          <p:cNvSpPr/>
          <p:nvPr/>
        </p:nvSpPr>
        <p:spPr>
          <a:xfrm>
            <a:off x="8394192" y="1499616"/>
            <a:ext cx="2926080" cy="182880"/>
          </a:xfrm>
          <a:prstGeom prst="rect">
            <a:avLst/>
          </a:prstGeom>
          <a:noFill/>
          <a:ln/>
        </p:spPr>
        <p:txBody>
          <a:bodyPr wrap="square" lIns="0" tIns="0" rIns="0" bIns="0" rtlCol="0" anchor="ctr"/>
          <a:lstStyle/>
          <a:p>
            <a:pPr algn="r" indent="0" marL="0">
              <a:buNone/>
            </a:pPr>
            <a:r>
              <a:rPr lang="en-US" sz="1050" b="1" spc="150" kern="0" dirty="0">
                <a:solidFill>
                  <a:srgbClr val="0B7A75"/>
                </a:solidFill>
                <a:latin typeface="Segoe UI" pitchFamily="34" charset="0"/>
                <a:ea typeface="Segoe UI" pitchFamily="34" charset="-122"/>
                <a:cs typeface="Segoe UI" pitchFamily="34" charset="-120"/>
              </a:rPr>
              <a:t>PHÍA CÁN BỘ</a:t>
            </a:r>
            <a:endParaRPr lang="en-US" sz="1050" dirty="0"/>
          </a:p>
        </p:txBody>
      </p:sp>
      <p:sp>
        <p:nvSpPr>
          <p:cNvPr id="35" name="Text 29"/>
          <p:cNvSpPr/>
          <p:nvPr/>
        </p:nvSpPr>
        <p:spPr>
          <a:xfrm>
            <a:off x="603504" y="6089904"/>
            <a:ext cx="10984687" cy="256032"/>
          </a:xfrm>
          <a:prstGeom prst="rect">
            <a:avLst/>
          </a:prstGeom>
          <a:noFill/>
          <a:ln/>
        </p:spPr>
        <p:txBody>
          <a:bodyPr wrap="square" lIns="0" tIns="0" rIns="0" bIns="0" rtlCol="0" anchor="ctr"/>
          <a:lstStyle/>
          <a:p>
            <a:pPr algn="ctr" indent="0" marL="0">
              <a:buNone/>
            </a:pPr>
            <a:r>
              <a:rPr lang="en-US" sz="1250" i="1" dirty="0">
                <a:solidFill>
                  <a:srgbClr val="64748B"/>
                </a:solidFill>
                <a:latin typeface="Segoe UI" pitchFamily="34" charset="0"/>
                <a:ea typeface="Segoe UI" pitchFamily="34" charset="-122"/>
                <a:cs typeface="Segoe UI" pitchFamily="34" charset="-120"/>
              </a:rPr>
              <a:t>Ghi nhận từ thực tế công tác, chưa có số liệu thống kê chính thức.</a:t>
            </a:r>
            <a:endParaRPr lang="en-US" sz="1250" dirty="0"/>
          </a:p>
        </p:txBody>
      </p:sp>
      <p:sp>
        <p:nvSpPr>
          <p:cNvPr id="36" name="Shape 30"/>
          <p:cNvSpPr/>
          <p:nvPr/>
        </p:nvSpPr>
        <p:spPr>
          <a:xfrm>
            <a:off x="603504" y="6556248"/>
            <a:ext cx="10984687" cy="0"/>
          </a:xfrm>
          <a:prstGeom prst="line">
            <a:avLst/>
          </a:prstGeom>
          <a:noFill/>
          <a:ln w="8890">
            <a:solidFill>
              <a:srgbClr val="E2E8F0"/>
            </a:solidFill>
            <a:prstDash val="solid"/>
          </a:ln>
        </p:spPr>
      </p:sp>
      <p:sp>
        <p:nvSpPr>
          <p:cNvPr id="37" name="Text 31"/>
          <p:cNvSpPr/>
          <p:nvPr/>
        </p:nvSpPr>
        <p:spPr>
          <a:xfrm>
            <a:off x="603504" y="6601968"/>
            <a:ext cx="4572000" cy="164592"/>
          </a:xfrm>
          <a:prstGeom prst="rect">
            <a:avLst/>
          </a:prstGeom>
          <a:noFill/>
          <a:ln/>
        </p:spPr>
        <p:txBody>
          <a:bodyPr wrap="square" lIns="0" tIns="0" rIns="0" bIns="0" rtlCol="0" anchor="ctr"/>
          <a:lstStyle/>
          <a:p>
            <a:pPr indent="0" marL="0">
              <a:buNone/>
            </a:pPr>
            <a:r>
              <a:rPr lang="en-US" sz="950" b="1" spc="120" kern="0" dirty="0">
                <a:solidFill>
                  <a:srgbClr val="64748B"/>
                </a:solidFill>
                <a:latin typeface="Segoe UI" pitchFamily="34" charset="0"/>
                <a:ea typeface="Segoe UI" pitchFamily="34" charset="-122"/>
                <a:cs typeface="Segoe UI" pitchFamily="34" charset="-120"/>
              </a:rPr>
              <a:t>BẢN ĐỒ CÔNG AN SỐ · TỈNH PHÚ THỌ</a:t>
            </a:r>
            <a:endParaRPr lang="en-US" sz="950" dirty="0"/>
          </a:p>
        </p:txBody>
      </p:sp>
      <p:sp>
        <p:nvSpPr>
          <p:cNvPr id="38" name="Text 32"/>
          <p:cNvSpPr/>
          <p:nvPr/>
        </p:nvSpPr>
        <p:spPr>
          <a:xfrm>
            <a:off x="11222431" y="6583680"/>
            <a:ext cx="365760" cy="182880"/>
          </a:xfrm>
          <a:prstGeom prst="rect">
            <a:avLst/>
          </a:prstGeom>
          <a:noFill/>
          <a:ln/>
        </p:spPr>
        <p:txBody>
          <a:bodyPr wrap="square" lIns="0" tIns="0" rIns="0" bIns="0" rtlCol="0" anchor="ctr"/>
          <a:lstStyle/>
          <a:p>
            <a:pPr algn="r" indent="0" marL="0">
              <a:buNone/>
            </a:pPr>
            <a:r>
              <a:rPr lang="en-US" sz="1000" b="1" dirty="0">
                <a:solidFill>
                  <a:srgbClr val="64748B"/>
                </a:solidFill>
                <a:latin typeface="Segoe UI" pitchFamily="34" charset="0"/>
                <a:ea typeface="Segoe UI" pitchFamily="34" charset="-122"/>
                <a:cs typeface="Segoe UI" pitchFamily="34" charset="-120"/>
              </a:rPr>
              <a:t>02</a:t>
            </a:r>
            <a:endParaRPr lang="en-US" sz="1000" dirty="0"/>
          </a:p>
        </p:txBody>
      </p:sp>
    </p:spTree>
  </p:cSld>
  <p:clrMapOvr>
    <a:masterClrMapping/>
  </p:clrMapOvr>
  <p:transition xmlns:p14="http://schemas.microsoft.com/office/powerpoint/2010/main" spd="med" p14:dur="450">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603504" y="566928"/>
            <a:ext cx="4572000" cy="237744"/>
          </a:xfrm>
          <a:prstGeom prst="rect">
            <a:avLst/>
          </a:prstGeom>
          <a:noFill/>
          <a:ln/>
        </p:spPr>
        <p:txBody>
          <a:bodyPr wrap="square" lIns="0" tIns="0" rIns="0" bIns="0" rtlCol="0" anchor="ctr"/>
          <a:lstStyle/>
          <a:p>
            <a:pPr indent="0" marL="0">
              <a:buNone/>
            </a:pPr>
            <a:r>
              <a:rPr lang="en-US" sz="1250" b="1" spc="210" kern="0" dirty="0">
                <a:solidFill>
                  <a:srgbClr val="1D4ED8"/>
                </a:solidFill>
                <a:latin typeface="Segoe UI" pitchFamily="34" charset="0"/>
                <a:ea typeface="Segoe UI" pitchFamily="34" charset="-122"/>
                <a:cs typeface="Segoe UI" pitchFamily="34" charset="-120"/>
              </a:rPr>
              <a:t>NHU CẦU CỦA NGƯỜI DÂN</a:t>
            </a:r>
            <a:endParaRPr lang="en-US" sz="1250" dirty="0"/>
          </a:p>
        </p:txBody>
      </p:sp>
      <p:sp>
        <p:nvSpPr>
          <p:cNvPr id="3" name="Text 1"/>
          <p:cNvSpPr/>
          <p:nvPr/>
        </p:nvSpPr>
        <p:spPr>
          <a:xfrm>
            <a:off x="603504" y="1170432"/>
            <a:ext cx="7452360" cy="2926080"/>
          </a:xfrm>
          <a:prstGeom prst="rect">
            <a:avLst/>
          </a:prstGeom>
          <a:noFill/>
          <a:ln/>
        </p:spPr>
        <p:txBody>
          <a:bodyPr wrap="square" lIns="0" tIns="0" rIns="0" bIns="0" rtlCol="0" anchor="ctr"/>
          <a:lstStyle/>
          <a:p>
            <a:pPr indent="0" marL="0">
              <a:buNone/>
            </a:pPr>
            <a:r>
              <a:rPr lang="en-US" sz="3900" b="1" dirty="0">
                <a:solidFill>
                  <a:srgbClr val="0F172A"/>
                </a:solidFill>
                <a:latin typeface="Segoe UI" pitchFamily="34" charset="0"/>
                <a:ea typeface="Segoe UI" pitchFamily="34" charset="-122"/>
                <a:cs typeface="Segoe UI" pitchFamily="34" charset="-120"/>
              </a:rPr>
              <a:t>Người dân cần được hướng dẫn
</a:t>
            </a:r>
            <a:pPr indent="0" marL="0">
              <a:buNone/>
            </a:pPr>
            <a:r>
              <a:rPr lang="en-US" sz="3900" b="1" dirty="0">
                <a:solidFill>
                  <a:srgbClr val="0B7A75"/>
                </a:solidFill>
                <a:latin typeface="Segoe UI" pitchFamily="34" charset="0"/>
                <a:ea typeface="Segoe UI" pitchFamily="34" charset="-122"/>
                <a:cs typeface="Segoe UI" pitchFamily="34" charset="-120"/>
              </a:rPr>
              <a:t>chính xác</a:t>
            </a:r>
            <a:pPr indent="0" marL="0">
              <a:buNone/>
            </a:pPr>
            <a:r>
              <a:rPr lang="en-US" sz="3900" b="1" dirty="0">
                <a:solidFill>
                  <a:srgbClr val="0F172A"/>
                </a:solidFill>
                <a:latin typeface="Segoe UI" pitchFamily="34" charset="0"/>
                <a:ea typeface="Segoe UI" pitchFamily="34" charset="-122"/>
                <a:cs typeface="Segoe UI" pitchFamily="34" charset="-120"/>
              </a:rPr>
              <a:t> trước khi đến
</a:t>
            </a:r>
            <a:pPr indent="0" marL="0">
              <a:buNone/>
            </a:pPr>
            <a:r>
              <a:rPr lang="en-US" sz="3900" b="1" dirty="0">
                <a:solidFill>
                  <a:srgbClr val="0F172A"/>
                </a:solidFill>
                <a:latin typeface="Segoe UI" pitchFamily="34" charset="0"/>
                <a:ea typeface="Segoe UI" pitchFamily="34" charset="-122"/>
                <a:cs typeface="Segoe UI" pitchFamily="34" charset="-120"/>
              </a:rPr>
              <a:t>làm thủ tục.</a:t>
            </a:r>
            <a:endParaRPr lang="en-US" sz="3900" dirty="0"/>
          </a:p>
        </p:txBody>
      </p:sp>
      <p:sp>
        <p:nvSpPr>
          <p:cNvPr id="4" name="Shape 2"/>
          <p:cNvSpPr/>
          <p:nvPr/>
        </p:nvSpPr>
        <p:spPr>
          <a:xfrm>
            <a:off x="8065008" y="1170432"/>
            <a:ext cx="0" cy="4114800"/>
          </a:xfrm>
          <a:prstGeom prst="line">
            <a:avLst/>
          </a:prstGeom>
          <a:noFill/>
          <a:ln w="12700">
            <a:solidFill>
              <a:srgbClr val="E2E8F0"/>
            </a:solidFill>
            <a:prstDash val="solid"/>
          </a:ln>
        </p:spPr>
      </p:sp>
      <p:sp>
        <p:nvSpPr>
          <p:cNvPr id="5" name="Shape 3"/>
          <p:cNvSpPr/>
          <p:nvPr/>
        </p:nvSpPr>
        <p:spPr>
          <a:xfrm>
            <a:off x="9089136" y="1874520"/>
            <a:ext cx="822960" cy="0"/>
          </a:xfrm>
          <a:prstGeom prst="line">
            <a:avLst/>
          </a:prstGeom>
          <a:noFill/>
          <a:ln w="17780">
            <a:solidFill>
              <a:srgbClr val="1D4ED8"/>
            </a:solidFill>
            <a:prstDash val="solid"/>
            <a:tailEnd type="triangle"/>
          </a:ln>
        </p:spPr>
      </p:sp>
      <p:sp>
        <p:nvSpPr>
          <p:cNvPr id="6" name="Shape 4"/>
          <p:cNvSpPr/>
          <p:nvPr/>
        </p:nvSpPr>
        <p:spPr>
          <a:xfrm>
            <a:off x="8458200" y="1490472"/>
            <a:ext cx="749808" cy="749808"/>
          </a:xfrm>
          <a:prstGeom prst="ellipse">
            <a:avLst/>
          </a:prstGeom>
          <a:solidFill>
            <a:srgbClr val="1D4ED8"/>
          </a:solidFill>
          <a:ln w="12700">
            <a:solidFill>
              <a:srgbClr val="1D4ED8"/>
            </a:solidFill>
            <a:prstDash val="solid"/>
          </a:ln>
        </p:spPr>
      </p:sp>
      <p:pic>
        <p:nvPicPr>
          <p:cNvPr id="7" name="Image 0" descr="preencoded.png">    </p:cNvPr>
          <p:cNvPicPr>
            <a:picLocks noChangeAspect="1"/>
          </p:cNvPicPr>
          <p:nvPr/>
        </p:nvPicPr>
        <p:blipFill>
          <a:blip r:embed="rId1"/>
          <a:stretch>
            <a:fillRect/>
          </a:stretch>
        </p:blipFill>
        <p:spPr>
          <a:xfrm>
            <a:off x="8660648" y="1692920"/>
            <a:ext cx="344912" cy="344912"/>
          </a:xfrm>
          <a:prstGeom prst="rect">
            <a:avLst/>
          </a:prstGeom>
        </p:spPr>
      </p:pic>
      <p:sp>
        <p:nvSpPr>
          <p:cNvPr id="8" name="Text 5"/>
          <p:cNvSpPr/>
          <p:nvPr/>
        </p:nvSpPr>
        <p:spPr>
          <a:xfrm>
            <a:off x="8202168" y="2404872"/>
            <a:ext cx="1261872" cy="256032"/>
          </a:xfrm>
          <a:prstGeom prst="rect">
            <a:avLst/>
          </a:prstGeom>
          <a:noFill/>
          <a:ln/>
        </p:spPr>
        <p:txBody>
          <a:bodyPr wrap="square" lIns="0" tIns="0" rIns="0" bIns="0" rtlCol="0" anchor="ctr"/>
          <a:lstStyle/>
          <a:p>
            <a:pPr algn="ctr" indent="0" marL="0">
              <a:buNone/>
            </a:pPr>
            <a:r>
              <a:rPr lang="en-US" sz="1250" b="1" dirty="0">
                <a:solidFill>
                  <a:srgbClr val="334155"/>
                </a:solidFill>
                <a:latin typeface="Segoe UI" pitchFamily="34" charset="0"/>
                <a:ea typeface="Segoe UI" pitchFamily="34" charset="-122"/>
                <a:cs typeface="Segoe UI" pitchFamily="34" charset="-120"/>
              </a:rPr>
              <a:t>Người dân</a:t>
            </a:r>
            <a:endParaRPr lang="en-US" sz="1250" dirty="0"/>
          </a:p>
        </p:txBody>
      </p:sp>
      <p:sp>
        <p:nvSpPr>
          <p:cNvPr id="9" name="Shape 6"/>
          <p:cNvSpPr/>
          <p:nvPr/>
        </p:nvSpPr>
        <p:spPr>
          <a:xfrm>
            <a:off x="10561320" y="2231136"/>
            <a:ext cx="0" cy="950976"/>
          </a:xfrm>
          <a:prstGeom prst="line">
            <a:avLst/>
          </a:prstGeom>
          <a:noFill/>
          <a:ln w="17780">
            <a:solidFill>
              <a:srgbClr val="1D4ED8"/>
            </a:solidFill>
            <a:prstDash val="solid"/>
            <a:tailEnd type="triangle"/>
          </a:ln>
        </p:spPr>
      </p:sp>
      <p:sp>
        <p:nvSpPr>
          <p:cNvPr id="10" name="Shape 7"/>
          <p:cNvSpPr/>
          <p:nvPr/>
        </p:nvSpPr>
        <p:spPr>
          <a:xfrm>
            <a:off x="10030968" y="1490472"/>
            <a:ext cx="749808" cy="749808"/>
          </a:xfrm>
          <a:prstGeom prst="ellipse">
            <a:avLst/>
          </a:prstGeom>
          <a:solidFill>
            <a:srgbClr val="1D4ED8"/>
          </a:solidFill>
          <a:ln w="12700">
            <a:solidFill>
              <a:srgbClr val="1D4ED8"/>
            </a:solidFill>
            <a:prstDash val="solid"/>
          </a:ln>
        </p:spPr>
      </p:sp>
      <p:pic>
        <p:nvPicPr>
          <p:cNvPr id="11" name="Image 1" descr="preencoded.png">    </p:cNvPr>
          <p:cNvPicPr>
            <a:picLocks noChangeAspect="1"/>
          </p:cNvPicPr>
          <p:nvPr/>
        </p:nvPicPr>
        <p:blipFill>
          <a:blip r:embed="rId2"/>
          <a:stretch>
            <a:fillRect/>
          </a:stretch>
        </p:blipFill>
        <p:spPr>
          <a:xfrm>
            <a:off x="10233416" y="1692920"/>
            <a:ext cx="344912" cy="344912"/>
          </a:xfrm>
          <a:prstGeom prst="rect">
            <a:avLst/>
          </a:prstGeom>
        </p:spPr>
      </p:pic>
      <p:sp>
        <p:nvSpPr>
          <p:cNvPr id="12" name="Text 8"/>
          <p:cNvSpPr/>
          <p:nvPr/>
        </p:nvSpPr>
        <p:spPr>
          <a:xfrm>
            <a:off x="9774936" y="2404872"/>
            <a:ext cx="1261872" cy="256032"/>
          </a:xfrm>
          <a:prstGeom prst="rect">
            <a:avLst/>
          </a:prstGeom>
          <a:noFill/>
          <a:ln/>
        </p:spPr>
        <p:txBody>
          <a:bodyPr wrap="square" lIns="0" tIns="0" rIns="0" bIns="0" rtlCol="0" anchor="ctr"/>
          <a:lstStyle/>
          <a:p>
            <a:pPr algn="ctr" indent="0" marL="0">
              <a:buNone/>
            </a:pPr>
            <a:r>
              <a:rPr lang="en-US" sz="1250" b="1" dirty="0">
                <a:solidFill>
                  <a:srgbClr val="334155"/>
                </a:solidFill>
                <a:latin typeface="Segoe UI" pitchFamily="34" charset="0"/>
                <a:ea typeface="Segoe UI" pitchFamily="34" charset="-122"/>
                <a:cs typeface="Segoe UI" pitchFamily="34" charset="-120"/>
              </a:rPr>
              <a:t>Điện thoại</a:t>
            </a:r>
            <a:endParaRPr lang="en-US" sz="1250" dirty="0"/>
          </a:p>
        </p:txBody>
      </p:sp>
      <p:sp>
        <p:nvSpPr>
          <p:cNvPr id="13" name="Shape 9"/>
          <p:cNvSpPr/>
          <p:nvPr/>
        </p:nvSpPr>
        <p:spPr>
          <a:xfrm>
            <a:off x="9089136" y="3749040"/>
            <a:ext cx="822960" cy="0"/>
          </a:xfrm>
          <a:prstGeom prst="line">
            <a:avLst/>
          </a:prstGeom>
          <a:noFill/>
          <a:ln w="17780">
            <a:solidFill>
              <a:srgbClr val="0B7A75"/>
            </a:solidFill>
            <a:prstDash val="solid"/>
            <a:tailEnd type="triangle"/>
          </a:ln>
        </p:spPr>
      </p:sp>
      <p:sp>
        <p:nvSpPr>
          <p:cNvPr id="14" name="Shape 10"/>
          <p:cNvSpPr/>
          <p:nvPr/>
        </p:nvSpPr>
        <p:spPr>
          <a:xfrm>
            <a:off x="8458200" y="3364992"/>
            <a:ext cx="749808" cy="749808"/>
          </a:xfrm>
          <a:prstGeom prst="ellipse">
            <a:avLst/>
          </a:prstGeom>
          <a:solidFill>
            <a:srgbClr val="0B7A75"/>
          </a:solidFill>
          <a:ln w="12700">
            <a:solidFill>
              <a:srgbClr val="0B7A75"/>
            </a:solidFill>
            <a:prstDash val="solid"/>
          </a:ln>
        </p:spPr>
      </p:sp>
      <p:pic>
        <p:nvPicPr>
          <p:cNvPr id="15" name="Image 2" descr="preencoded.png">    </p:cNvPr>
          <p:cNvPicPr>
            <a:picLocks noChangeAspect="1"/>
          </p:cNvPicPr>
          <p:nvPr/>
        </p:nvPicPr>
        <p:blipFill>
          <a:blip r:embed="rId3"/>
          <a:stretch>
            <a:fillRect/>
          </a:stretch>
        </p:blipFill>
        <p:spPr>
          <a:xfrm>
            <a:off x="8660648" y="3567440"/>
            <a:ext cx="344912" cy="344912"/>
          </a:xfrm>
          <a:prstGeom prst="rect">
            <a:avLst/>
          </a:prstGeom>
        </p:spPr>
      </p:pic>
      <p:sp>
        <p:nvSpPr>
          <p:cNvPr id="16" name="Text 11"/>
          <p:cNvSpPr/>
          <p:nvPr/>
        </p:nvSpPr>
        <p:spPr>
          <a:xfrm>
            <a:off x="8202168" y="4279392"/>
            <a:ext cx="1261872" cy="256032"/>
          </a:xfrm>
          <a:prstGeom prst="rect">
            <a:avLst/>
          </a:prstGeom>
          <a:noFill/>
          <a:ln/>
        </p:spPr>
        <p:txBody>
          <a:bodyPr wrap="square" lIns="0" tIns="0" rIns="0" bIns="0" rtlCol="0" anchor="ctr"/>
          <a:lstStyle/>
          <a:p>
            <a:pPr algn="ctr" indent="0" marL="0">
              <a:buNone/>
            </a:pPr>
            <a:r>
              <a:rPr lang="en-US" sz="1250" b="1" dirty="0">
                <a:solidFill>
                  <a:srgbClr val="334155"/>
                </a:solidFill>
                <a:latin typeface="Segoe UI" pitchFamily="34" charset="0"/>
                <a:ea typeface="Segoe UI" pitchFamily="34" charset="-122"/>
                <a:cs typeface="Segoe UI" pitchFamily="34" charset="-120"/>
              </a:rPr>
              <a:t>Đúng địa chỉ</a:t>
            </a:r>
            <a:endParaRPr lang="en-US" sz="1250" dirty="0"/>
          </a:p>
        </p:txBody>
      </p:sp>
      <p:sp>
        <p:nvSpPr>
          <p:cNvPr id="17" name="Shape 12"/>
          <p:cNvSpPr/>
          <p:nvPr/>
        </p:nvSpPr>
        <p:spPr>
          <a:xfrm>
            <a:off x="10030968" y="3364992"/>
            <a:ext cx="749808" cy="749808"/>
          </a:xfrm>
          <a:prstGeom prst="ellipse">
            <a:avLst/>
          </a:prstGeom>
          <a:solidFill>
            <a:srgbClr val="0B7A75"/>
          </a:solidFill>
          <a:ln w="12700">
            <a:solidFill>
              <a:srgbClr val="0B7A75"/>
            </a:solidFill>
            <a:prstDash val="solid"/>
          </a:ln>
        </p:spPr>
      </p:sp>
      <p:pic>
        <p:nvPicPr>
          <p:cNvPr id="18" name="Image 3" descr="preencoded.png">    </p:cNvPr>
          <p:cNvPicPr>
            <a:picLocks noChangeAspect="1"/>
          </p:cNvPicPr>
          <p:nvPr/>
        </p:nvPicPr>
        <p:blipFill>
          <a:blip r:embed="rId4"/>
          <a:stretch>
            <a:fillRect/>
          </a:stretch>
        </p:blipFill>
        <p:spPr>
          <a:xfrm>
            <a:off x="10233416" y="3567440"/>
            <a:ext cx="344912" cy="344912"/>
          </a:xfrm>
          <a:prstGeom prst="rect">
            <a:avLst/>
          </a:prstGeom>
        </p:spPr>
      </p:pic>
      <p:sp>
        <p:nvSpPr>
          <p:cNvPr id="19" name="Text 13"/>
          <p:cNvSpPr/>
          <p:nvPr/>
        </p:nvSpPr>
        <p:spPr>
          <a:xfrm>
            <a:off x="9774936" y="4279392"/>
            <a:ext cx="1261872" cy="256032"/>
          </a:xfrm>
          <a:prstGeom prst="rect">
            <a:avLst/>
          </a:prstGeom>
          <a:noFill/>
          <a:ln/>
        </p:spPr>
        <p:txBody>
          <a:bodyPr wrap="square" lIns="0" tIns="0" rIns="0" bIns="0" rtlCol="0" anchor="ctr"/>
          <a:lstStyle/>
          <a:p>
            <a:pPr algn="ctr" indent="0" marL="0">
              <a:buNone/>
            </a:pPr>
            <a:r>
              <a:rPr lang="en-US" sz="1250" b="1" dirty="0">
                <a:solidFill>
                  <a:srgbClr val="334155"/>
                </a:solidFill>
                <a:latin typeface="Segoe UI" pitchFamily="34" charset="0"/>
                <a:ea typeface="Segoe UI" pitchFamily="34" charset="-122"/>
                <a:cs typeface="Segoe UI" pitchFamily="34" charset="-120"/>
              </a:rPr>
              <a:t>Đúng trụ sở</a:t>
            </a:r>
            <a:endParaRPr lang="en-US" sz="1250" dirty="0"/>
          </a:p>
        </p:txBody>
      </p:sp>
      <p:sp>
        <p:nvSpPr>
          <p:cNvPr id="20" name="Text 14"/>
          <p:cNvSpPr/>
          <p:nvPr/>
        </p:nvSpPr>
        <p:spPr>
          <a:xfrm>
            <a:off x="603504" y="4828032"/>
            <a:ext cx="5029200" cy="256032"/>
          </a:xfrm>
          <a:prstGeom prst="rect">
            <a:avLst/>
          </a:prstGeom>
          <a:noFill/>
          <a:ln/>
        </p:spPr>
        <p:txBody>
          <a:bodyPr wrap="square" lIns="0" tIns="0" rIns="0" bIns="0" rtlCol="0" anchor="ctr"/>
          <a:lstStyle/>
          <a:p>
            <a:pPr indent="0" marL="0">
              <a:buNone/>
            </a:pPr>
            <a:r>
              <a:rPr lang="en-US" sz="1300" i="1" dirty="0">
                <a:solidFill>
                  <a:srgbClr val="64748B"/>
                </a:solidFill>
                <a:latin typeface="Segoe UI" pitchFamily="34" charset="0"/>
                <a:ea typeface="Segoe UI" pitchFamily="34" charset="-122"/>
                <a:cs typeface="Segoe UI" pitchFamily="34" charset="-120"/>
              </a:rPr>
              <a:t>Nhu cầu thường gặp của người dân</a:t>
            </a:r>
            <a:endParaRPr lang="en-US" sz="1300" dirty="0"/>
          </a:p>
        </p:txBody>
      </p:sp>
      <p:sp>
        <p:nvSpPr>
          <p:cNvPr id="21" name="Shape 15"/>
          <p:cNvSpPr/>
          <p:nvPr/>
        </p:nvSpPr>
        <p:spPr>
          <a:xfrm>
            <a:off x="603504" y="6556248"/>
            <a:ext cx="10984687" cy="0"/>
          </a:xfrm>
          <a:prstGeom prst="line">
            <a:avLst/>
          </a:prstGeom>
          <a:noFill/>
          <a:ln w="8890">
            <a:solidFill>
              <a:srgbClr val="E2E8F0"/>
            </a:solidFill>
            <a:prstDash val="solid"/>
          </a:ln>
        </p:spPr>
      </p:sp>
      <p:sp>
        <p:nvSpPr>
          <p:cNvPr id="22" name="Text 16"/>
          <p:cNvSpPr/>
          <p:nvPr/>
        </p:nvSpPr>
        <p:spPr>
          <a:xfrm>
            <a:off x="603504" y="6601968"/>
            <a:ext cx="4572000" cy="164592"/>
          </a:xfrm>
          <a:prstGeom prst="rect">
            <a:avLst/>
          </a:prstGeom>
          <a:noFill/>
          <a:ln/>
        </p:spPr>
        <p:txBody>
          <a:bodyPr wrap="square" lIns="0" tIns="0" rIns="0" bIns="0" rtlCol="0" anchor="ctr"/>
          <a:lstStyle/>
          <a:p>
            <a:pPr indent="0" marL="0">
              <a:buNone/>
            </a:pPr>
            <a:r>
              <a:rPr lang="en-US" sz="950" b="1" spc="120" kern="0" dirty="0">
                <a:solidFill>
                  <a:srgbClr val="64748B"/>
                </a:solidFill>
                <a:latin typeface="Segoe UI" pitchFamily="34" charset="0"/>
                <a:ea typeface="Segoe UI" pitchFamily="34" charset="-122"/>
                <a:cs typeface="Segoe UI" pitchFamily="34" charset="-120"/>
              </a:rPr>
              <a:t>BẢN ĐỒ CÔNG AN SỐ · TỈNH PHÚ THỌ</a:t>
            </a:r>
            <a:endParaRPr lang="en-US" sz="950" dirty="0"/>
          </a:p>
        </p:txBody>
      </p:sp>
      <p:sp>
        <p:nvSpPr>
          <p:cNvPr id="23" name="Text 17"/>
          <p:cNvSpPr/>
          <p:nvPr/>
        </p:nvSpPr>
        <p:spPr>
          <a:xfrm>
            <a:off x="11222431" y="6583680"/>
            <a:ext cx="365760" cy="182880"/>
          </a:xfrm>
          <a:prstGeom prst="rect">
            <a:avLst/>
          </a:prstGeom>
          <a:noFill/>
          <a:ln/>
        </p:spPr>
        <p:txBody>
          <a:bodyPr wrap="square" lIns="0" tIns="0" rIns="0" bIns="0" rtlCol="0" anchor="ctr"/>
          <a:lstStyle/>
          <a:p>
            <a:pPr algn="r" indent="0" marL="0">
              <a:buNone/>
            </a:pPr>
            <a:r>
              <a:rPr lang="en-US" sz="1000" b="1" dirty="0">
                <a:solidFill>
                  <a:srgbClr val="64748B"/>
                </a:solidFill>
                <a:latin typeface="Segoe UI" pitchFamily="34" charset="0"/>
                <a:ea typeface="Segoe UI" pitchFamily="34" charset="-122"/>
                <a:cs typeface="Segoe UI" pitchFamily="34" charset="-120"/>
              </a:rPr>
              <a:t>03</a:t>
            </a:r>
            <a:endParaRPr lang="en-US" sz="1000" dirty="0"/>
          </a:p>
        </p:txBody>
      </p:sp>
    </p:spTree>
  </p:cSld>
  <p:clrMapOvr>
    <a:masterClrMapping/>
  </p:clrMapOvr>
  <p:transition xmlns:p14="http://schemas.microsoft.com/office/powerpoint/2010/main" spd="med" p14:dur="450">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603504" y="347472"/>
            <a:ext cx="6858000" cy="246888"/>
          </a:xfrm>
          <a:prstGeom prst="rect">
            <a:avLst/>
          </a:prstGeom>
          <a:noFill/>
          <a:ln/>
        </p:spPr>
        <p:txBody>
          <a:bodyPr wrap="square" lIns="0" tIns="0" rIns="0" bIns="0" rtlCol="0" anchor="ctr"/>
          <a:lstStyle/>
          <a:p>
            <a:pPr indent="0" marL="0">
              <a:buNone/>
            </a:pPr>
            <a:r>
              <a:rPr lang="en-US" sz="1250" b="1" spc="220" kern="0" dirty="0">
                <a:solidFill>
                  <a:srgbClr val="1D4ED8"/>
                </a:solidFill>
                <a:latin typeface="Segoe UI" pitchFamily="34" charset="0"/>
                <a:ea typeface="Segoe UI" pitchFamily="34" charset="-122"/>
                <a:cs typeface="Segoe UI" pitchFamily="34" charset="-120"/>
              </a:rPr>
              <a:t>GIẢI PHÁP</a:t>
            </a:r>
            <a:endParaRPr lang="en-US" sz="1250" dirty="0"/>
          </a:p>
        </p:txBody>
      </p:sp>
      <p:sp>
        <p:nvSpPr>
          <p:cNvPr id="3" name="Text 1"/>
          <p:cNvSpPr/>
          <p:nvPr/>
        </p:nvSpPr>
        <p:spPr>
          <a:xfrm>
            <a:off x="603504" y="649224"/>
            <a:ext cx="10881360" cy="530352"/>
          </a:xfrm>
          <a:prstGeom prst="rect">
            <a:avLst/>
          </a:prstGeom>
          <a:noFill/>
          <a:ln/>
        </p:spPr>
        <p:txBody>
          <a:bodyPr wrap="square" lIns="0" tIns="0" rIns="0" bIns="0" rtlCol="0" anchor="ctr"/>
          <a:lstStyle/>
          <a:p>
            <a:pPr indent="0" marL="0">
              <a:buNone/>
            </a:pPr>
            <a:r>
              <a:rPr lang="en-US" sz="2800" b="1" dirty="0">
                <a:solidFill>
                  <a:srgbClr val="0F172A"/>
                </a:solidFill>
                <a:latin typeface="Segoe UI" pitchFamily="34" charset="0"/>
                <a:ea typeface="Segoe UI" pitchFamily="34" charset="-122"/>
                <a:cs typeface="Segoe UI" pitchFamily="34" charset="-120"/>
              </a:rPr>
              <a:t>Một điểm chạm để tra cứu đúng nơi và hỏi đúng thủ tục</a:t>
            </a:r>
            <a:endParaRPr lang="en-US" sz="2800" dirty="0"/>
          </a:p>
        </p:txBody>
      </p:sp>
      <p:sp>
        <p:nvSpPr>
          <p:cNvPr id="4" name="Shape 2"/>
          <p:cNvSpPr/>
          <p:nvPr/>
        </p:nvSpPr>
        <p:spPr>
          <a:xfrm>
            <a:off x="603504" y="1243584"/>
            <a:ext cx="960120" cy="0"/>
          </a:xfrm>
          <a:prstGeom prst="line">
            <a:avLst/>
          </a:prstGeom>
          <a:noFill/>
          <a:ln w="31750">
            <a:solidFill>
              <a:srgbClr val="1D4ED8"/>
            </a:solidFill>
            <a:prstDash val="solid"/>
          </a:ln>
        </p:spPr>
      </p:sp>
      <p:sp>
        <p:nvSpPr>
          <p:cNvPr id="5" name="Text 3"/>
          <p:cNvSpPr/>
          <p:nvPr/>
        </p:nvSpPr>
        <p:spPr>
          <a:xfrm>
            <a:off x="603504" y="1527048"/>
            <a:ext cx="3246120" cy="292608"/>
          </a:xfrm>
          <a:prstGeom prst="rect">
            <a:avLst/>
          </a:prstGeom>
          <a:noFill/>
          <a:ln/>
        </p:spPr>
        <p:txBody>
          <a:bodyPr wrap="square" lIns="0" tIns="0" rIns="0" bIns="0" rtlCol="0" anchor="ctr"/>
          <a:lstStyle/>
          <a:p>
            <a:pPr indent="0" marL="0">
              <a:buNone/>
            </a:pPr>
            <a:r>
              <a:rPr lang="en-US" sz="1200" b="1" spc="160" kern="0" dirty="0">
                <a:solidFill>
                  <a:srgbClr val="1D4ED8"/>
                </a:solidFill>
                <a:latin typeface="Segoe UI" pitchFamily="34" charset="0"/>
                <a:ea typeface="Segoe UI" pitchFamily="34" charset="-122"/>
                <a:cs typeface="Segoe UI" pitchFamily="34" charset="-120"/>
              </a:rPr>
              <a:t>BẢN ĐỒ CÔNG AN SỐ</a:t>
            </a:r>
            <a:endParaRPr lang="en-US" sz="1200" dirty="0"/>
          </a:p>
        </p:txBody>
      </p:sp>
      <p:sp>
        <p:nvSpPr>
          <p:cNvPr id="6" name="Text 4"/>
          <p:cNvSpPr/>
          <p:nvPr/>
        </p:nvSpPr>
        <p:spPr>
          <a:xfrm>
            <a:off x="603504" y="1901952"/>
            <a:ext cx="3246120" cy="1078992"/>
          </a:xfrm>
          <a:prstGeom prst="rect">
            <a:avLst/>
          </a:prstGeom>
          <a:noFill/>
          <a:ln/>
        </p:spPr>
        <p:txBody>
          <a:bodyPr wrap="square" lIns="0" tIns="0" rIns="0" bIns="0" rtlCol="0" anchor="ctr"/>
          <a:lstStyle/>
          <a:p>
            <a:pPr indent="0" marL="0">
              <a:buNone/>
            </a:pPr>
            <a:r>
              <a:rPr lang="en-US" sz="2600" b="1" dirty="0">
                <a:solidFill>
                  <a:srgbClr val="0F172A"/>
                </a:solidFill>
                <a:latin typeface="Segoe UI" pitchFamily="34" charset="0"/>
                <a:ea typeface="Segoe UI" pitchFamily="34" charset="-122"/>
                <a:cs typeface="Segoe UI" pitchFamily="34" charset="-120"/>
              </a:rPr>
              <a:t>Bản đồ tương tác</a:t>
            </a:r>
            <a:endParaRPr lang="en-US" sz="2600" dirty="0"/>
          </a:p>
          <a:p>
            <a:pPr indent="0" marL="0">
              <a:buNone/>
            </a:pPr>
            <a:r>
              <a:rPr lang="en-US" sz="2600" b="1" dirty="0">
                <a:solidFill>
                  <a:srgbClr val="0F172A"/>
                </a:solidFill>
                <a:latin typeface="Segoe UI" pitchFamily="34" charset="0"/>
                <a:ea typeface="Segoe UI" pitchFamily="34" charset="-122"/>
                <a:cs typeface="Segoe UI" pitchFamily="34" charset="-120"/>
              </a:rPr>
              <a:t>+ Trợ lý ảo AI</a:t>
            </a:r>
            <a:endParaRPr lang="en-US" sz="2600" dirty="0"/>
          </a:p>
        </p:txBody>
      </p:sp>
      <p:sp>
        <p:nvSpPr>
          <p:cNvPr id="7" name="Shape 5"/>
          <p:cNvSpPr/>
          <p:nvPr/>
        </p:nvSpPr>
        <p:spPr>
          <a:xfrm>
            <a:off x="603504" y="3182112"/>
            <a:ext cx="566928" cy="566928"/>
          </a:xfrm>
          <a:prstGeom prst="ellipse">
            <a:avLst/>
          </a:prstGeom>
          <a:solidFill>
            <a:srgbClr val="1D4ED8"/>
          </a:solidFill>
          <a:ln w="12700">
            <a:solidFill>
              <a:srgbClr val="1D4ED8"/>
            </a:solidFill>
            <a:prstDash val="solid"/>
          </a:ln>
        </p:spPr>
      </p:sp>
      <p:pic>
        <p:nvPicPr>
          <p:cNvPr id="8" name="Image 0" descr="preencoded.png">    </p:cNvPr>
          <p:cNvPicPr>
            <a:picLocks noChangeAspect="1"/>
          </p:cNvPicPr>
          <p:nvPr/>
        </p:nvPicPr>
        <p:blipFill>
          <a:blip r:embed="rId1"/>
          <a:stretch>
            <a:fillRect/>
          </a:stretch>
        </p:blipFill>
        <p:spPr>
          <a:xfrm>
            <a:off x="756575" y="3335183"/>
            <a:ext cx="260787" cy="260787"/>
          </a:xfrm>
          <a:prstGeom prst="rect">
            <a:avLst/>
          </a:prstGeom>
        </p:spPr>
      </p:pic>
      <p:sp>
        <p:nvSpPr>
          <p:cNvPr id="9" name="Text 6"/>
          <p:cNvSpPr/>
          <p:nvPr/>
        </p:nvSpPr>
        <p:spPr>
          <a:xfrm>
            <a:off x="1353312" y="3191256"/>
            <a:ext cx="2377440" cy="256032"/>
          </a:xfrm>
          <a:prstGeom prst="rect">
            <a:avLst/>
          </a:prstGeom>
          <a:noFill/>
          <a:ln/>
        </p:spPr>
        <p:txBody>
          <a:bodyPr wrap="square" lIns="0" tIns="0" rIns="0" bIns="0" rtlCol="0" anchor="ctr"/>
          <a:lstStyle/>
          <a:p>
            <a:pPr indent="0" marL="0">
              <a:buNone/>
            </a:pPr>
            <a:r>
              <a:rPr lang="en-US" sz="1700" b="1" dirty="0">
                <a:solidFill>
                  <a:srgbClr val="0F172A"/>
                </a:solidFill>
                <a:latin typeface="Segoe UI" pitchFamily="34" charset="0"/>
                <a:ea typeface="Segoe UI" pitchFamily="34" charset="-122"/>
                <a:cs typeface="Segoe UI" pitchFamily="34" charset="-120"/>
              </a:rPr>
              <a:t>Bản đồ tương tác</a:t>
            </a:r>
            <a:endParaRPr lang="en-US" sz="1700" dirty="0"/>
          </a:p>
        </p:txBody>
      </p:sp>
      <p:sp>
        <p:nvSpPr>
          <p:cNvPr id="10" name="Text 7"/>
          <p:cNvSpPr/>
          <p:nvPr/>
        </p:nvSpPr>
        <p:spPr>
          <a:xfrm>
            <a:off x="1353312" y="3511296"/>
            <a:ext cx="2304288" cy="438912"/>
          </a:xfrm>
          <a:prstGeom prst="rect">
            <a:avLst/>
          </a:prstGeom>
          <a:noFill/>
          <a:ln/>
        </p:spPr>
        <p:txBody>
          <a:bodyPr wrap="square" lIns="0" tIns="0" rIns="0" bIns="0" rtlCol="0" anchor="ctr"/>
          <a:lstStyle/>
          <a:p>
            <a:pPr indent="0" marL="0">
              <a:buNone/>
            </a:pPr>
            <a:r>
              <a:rPr lang="en-US" sz="1280" dirty="0">
                <a:solidFill>
                  <a:srgbClr val="334155"/>
                </a:solidFill>
                <a:latin typeface="Segoe UI" pitchFamily="34" charset="0"/>
                <a:ea typeface="Segoe UI" pitchFamily="34" charset="-122"/>
                <a:cs typeface="Segoe UI" pitchFamily="34" charset="-120"/>
              </a:rPr>
              <a:t>Định vị mạng lưới trụ sở trên nền OpenStreetMap.</a:t>
            </a:r>
            <a:endParaRPr lang="en-US" sz="1280" dirty="0"/>
          </a:p>
        </p:txBody>
      </p:sp>
      <p:sp>
        <p:nvSpPr>
          <p:cNvPr id="11" name="Shape 8"/>
          <p:cNvSpPr/>
          <p:nvPr/>
        </p:nvSpPr>
        <p:spPr>
          <a:xfrm>
            <a:off x="603504" y="4343400"/>
            <a:ext cx="566928" cy="566928"/>
          </a:xfrm>
          <a:prstGeom prst="ellipse">
            <a:avLst/>
          </a:prstGeom>
          <a:solidFill>
            <a:srgbClr val="0B7A75"/>
          </a:solidFill>
          <a:ln w="12700">
            <a:solidFill>
              <a:srgbClr val="0B7A75"/>
            </a:solidFill>
            <a:prstDash val="solid"/>
          </a:ln>
        </p:spPr>
      </p:sp>
      <p:pic>
        <p:nvPicPr>
          <p:cNvPr id="12" name="Image 1" descr="preencoded.png">    </p:cNvPr>
          <p:cNvPicPr>
            <a:picLocks noChangeAspect="1"/>
          </p:cNvPicPr>
          <p:nvPr/>
        </p:nvPicPr>
        <p:blipFill>
          <a:blip r:embed="rId2"/>
          <a:stretch>
            <a:fillRect/>
          </a:stretch>
        </p:blipFill>
        <p:spPr>
          <a:xfrm>
            <a:off x="756575" y="4496471"/>
            <a:ext cx="260787" cy="260787"/>
          </a:xfrm>
          <a:prstGeom prst="rect">
            <a:avLst/>
          </a:prstGeom>
        </p:spPr>
      </p:pic>
      <p:sp>
        <p:nvSpPr>
          <p:cNvPr id="13" name="Text 9"/>
          <p:cNvSpPr/>
          <p:nvPr/>
        </p:nvSpPr>
        <p:spPr>
          <a:xfrm>
            <a:off x="1353312" y="4352544"/>
            <a:ext cx="2377440" cy="256032"/>
          </a:xfrm>
          <a:prstGeom prst="rect">
            <a:avLst/>
          </a:prstGeom>
          <a:noFill/>
          <a:ln/>
        </p:spPr>
        <p:txBody>
          <a:bodyPr wrap="square" lIns="0" tIns="0" rIns="0" bIns="0" rtlCol="0" anchor="ctr"/>
          <a:lstStyle/>
          <a:p>
            <a:pPr indent="0" marL="0">
              <a:buNone/>
            </a:pPr>
            <a:r>
              <a:rPr lang="en-US" sz="1700" b="1" dirty="0">
                <a:solidFill>
                  <a:srgbClr val="0F172A"/>
                </a:solidFill>
                <a:latin typeface="Segoe UI" pitchFamily="34" charset="0"/>
                <a:ea typeface="Segoe UI" pitchFamily="34" charset="-122"/>
                <a:cs typeface="Segoe UI" pitchFamily="34" charset="-120"/>
              </a:rPr>
              <a:t>Trợ lý ảo AI</a:t>
            </a:r>
            <a:endParaRPr lang="en-US" sz="1700" dirty="0"/>
          </a:p>
        </p:txBody>
      </p:sp>
      <p:sp>
        <p:nvSpPr>
          <p:cNvPr id="14" name="Text 10"/>
          <p:cNvSpPr/>
          <p:nvPr/>
        </p:nvSpPr>
        <p:spPr>
          <a:xfrm>
            <a:off x="1353312" y="4672584"/>
            <a:ext cx="2304288" cy="438912"/>
          </a:xfrm>
          <a:prstGeom prst="rect">
            <a:avLst/>
          </a:prstGeom>
          <a:noFill/>
          <a:ln/>
        </p:spPr>
        <p:txBody>
          <a:bodyPr wrap="square" lIns="0" tIns="0" rIns="0" bIns="0" rtlCol="0" anchor="ctr"/>
          <a:lstStyle/>
          <a:p>
            <a:pPr indent="0" marL="0">
              <a:buNone/>
            </a:pPr>
            <a:r>
              <a:rPr lang="en-US" sz="1280" dirty="0">
                <a:solidFill>
                  <a:srgbClr val="334155"/>
                </a:solidFill>
                <a:latin typeface="Segoe UI" pitchFamily="34" charset="0"/>
                <a:ea typeface="Segoe UI" pitchFamily="34" charset="-122"/>
                <a:cs typeface="Segoe UI" pitchFamily="34" charset="-120"/>
              </a:rPr>
              <a:t>Tư vấn thủ tục hành chính, giải đáp 24/7.</a:t>
            </a:r>
            <a:endParaRPr lang="en-US" sz="1280" dirty="0"/>
          </a:p>
        </p:txBody>
      </p:sp>
      <p:sp>
        <p:nvSpPr>
          <p:cNvPr id="15" name="Shape 11"/>
          <p:cNvSpPr/>
          <p:nvPr/>
        </p:nvSpPr>
        <p:spPr>
          <a:xfrm>
            <a:off x="3950208" y="1463040"/>
            <a:ext cx="7644384" cy="4443984"/>
          </a:xfrm>
          <a:prstGeom prst="roundRect">
            <a:avLst>
              <a:gd name="adj" fmla="val 2058"/>
            </a:avLst>
          </a:prstGeom>
          <a:solidFill>
            <a:srgbClr val="FFFFFF"/>
          </a:solidFill>
          <a:ln w="12700">
            <a:solidFill>
              <a:srgbClr val="E2E8F0"/>
            </a:solidFill>
            <a:prstDash val="solid"/>
          </a:ln>
          <a:effectLst>
            <a:outerShdw sx="100000" sy="100000" kx="0" ky="0" algn="bl" rotWithShape="0" blurRad="101600" dist="25400" dir="2700000">
              <a:srgbClr val="64748B">
                <a:alpha val="18000"/>
              </a:srgbClr>
            </a:outerShdw>
          </a:effectLst>
        </p:spPr>
      </p:sp>
      <p:sp>
        <p:nvSpPr>
          <p:cNvPr id="16" name="Shape 12"/>
          <p:cNvSpPr/>
          <p:nvPr/>
        </p:nvSpPr>
        <p:spPr>
          <a:xfrm>
            <a:off x="3950208" y="1463040"/>
            <a:ext cx="7644384" cy="310896"/>
          </a:xfrm>
          <a:prstGeom prst="rect">
            <a:avLst/>
          </a:prstGeom>
          <a:solidFill>
            <a:srgbClr val="16306E"/>
          </a:solidFill>
          <a:ln w="12700">
            <a:solidFill>
              <a:srgbClr val="16306E"/>
            </a:solidFill>
            <a:prstDash val="solid"/>
          </a:ln>
        </p:spPr>
      </p:sp>
      <p:sp>
        <p:nvSpPr>
          <p:cNvPr id="17" name="Shape 13"/>
          <p:cNvSpPr/>
          <p:nvPr/>
        </p:nvSpPr>
        <p:spPr>
          <a:xfrm>
            <a:off x="4096512" y="1563624"/>
            <a:ext cx="73152" cy="73152"/>
          </a:xfrm>
          <a:prstGeom prst="ellipse">
            <a:avLst/>
          </a:prstGeom>
          <a:solidFill>
            <a:srgbClr val="8EA3D1"/>
          </a:solidFill>
          <a:ln w="12700">
            <a:solidFill>
              <a:srgbClr val="8EA3D1"/>
            </a:solidFill>
            <a:prstDash val="solid"/>
          </a:ln>
        </p:spPr>
      </p:sp>
      <p:sp>
        <p:nvSpPr>
          <p:cNvPr id="18" name="Shape 14"/>
          <p:cNvSpPr/>
          <p:nvPr/>
        </p:nvSpPr>
        <p:spPr>
          <a:xfrm>
            <a:off x="4261104" y="1563624"/>
            <a:ext cx="73152" cy="73152"/>
          </a:xfrm>
          <a:prstGeom prst="ellipse">
            <a:avLst/>
          </a:prstGeom>
          <a:solidFill>
            <a:srgbClr val="B7C5E3"/>
          </a:solidFill>
          <a:ln w="12700">
            <a:solidFill>
              <a:srgbClr val="B7C5E3"/>
            </a:solidFill>
            <a:prstDash val="solid"/>
          </a:ln>
        </p:spPr>
      </p:sp>
      <p:sp>
        <p:nvSpPr>
          <p:cNvPr id="19" name="Shape 15"/>
          <p:cNvSpPr/>
          <p:nvPr/>
        </p:nvSpPr>
        <p:spPr>
          <a:xfrm>
            <a:off x="4425696" y="1563624"/>
            <a:ext cx="73152" cy="73152"/>
          </a:xfrm>
          <a:prstGeom prst="ellipse">
            <a:avLst/>
          </a:prstGeom>
          <a:solidFill>
            <a:srgbClr val="0B7A75"/>
          </a:solidFill>
          <a:ln w="12700">
            <a:solidFill>
              <a:srgbClr val="0B7A75"/>
            </a:solidFill>
            <a:prstDash val="solid"/>
          </a:ln>
        </p:spPr>
      </p:sp>
      <p:pic>
        <p:nvPicPr>
          <p:cNvPr id="20" name="Image 2" descr="D:\04. Github\bandocapt\presentation\asset\giao dien desktop.png">    </p:cNvPr>
          <p:cNvPicPr>
            <a:picLocks noChangeAspect="1"/>
          </p:cNvPicPr>
          <p:nvPr/>
        </p:nvPicPr>
        <p:blipFill>
          <a:blip r:embed="rId3"/>
          <a:srcRect l="0" r="0" t="0" b="0"/>
          <a:stretch/>
        </p:blipFill>
        <p:spPr>
          <a:xfrm>
            <a:off x="4023360" y="1847088"/>
            <a:ext cx="7498080" cy="3986784"/>
          </a:xfrm>
          <a:prstGeom prst="rect">
            <a:avLst/>
          </a:prstGeom>
        </p:spPr>
      </p:pic>
      <p:sp>
        <p:nvSpPr>
          <p:cNvPr id="21" name="Shape 16"/>
          <p:cNvSpPr/>
          <p:nvPr/>
        </p:nvSpPr>
        <p:spPr>
          <a:xfrm flipV="1">
            <a:off x="5696712" y="4288536"/>
            <a:ext cx="475488" cy="1078992"/>
          </a:xfrm>
          <a:prstGeom prst="line">
            <a:avLst/>
          </a:prstGeom>
          <a:noFill/>
          <a:ln w="15240">
            <a:solidFill>
              <a:srgbClr val="1D4ED8"/>
            </a:solidFill>
            <a:prstDash val="solid"/>
            <a:tailEnd type="triangle"/>
          </a:ln>
        </p:spPr>
      </p:sp>
      <p:sp>
        <p:nvSpPr>
          <p:cNvPr id="22" name="Shape 17"/>
          <p:cNvSpPr/>
          <p:nvPr/>
        </p:nvSpPr>
        <p:spPr>
          <a:xfrm>
            <a:off x="4206240" y="5413248"/>
            <a:ext cx="1572768" cy="347472"/>
          </a:xfrm>
          <a:prstGeom prst="roundRect">
            <a:avLst>
              <a:gd name="adj" fmla="val 21053"/>
            </a:avLst>
          </a:prstGeom>
          <a:solidFill>
            <a:srgbClr val="EFF6FF"/>
          </a:solidFill>
          <a:ln w="10160">
            <a:solidFill>
              <a:srgbClr val="1D4ED8"/>
            </a:solidFill>
            <a:prstDash val="solid"/>
          </a:ln>
        </p:spPr>
      </p:sp>
      <p:sp>
        <p:nvSpPr>
          <p:cNvPr id="23" name="Text 18"/>
          <p:cNvSpPr/>
          <p:nvPr/>
        </p:nvSpPr>
        <p:spPr>
          <a:xfrm>
            <a:off x="4279392" y="5413248"/>
            <a:ext cx="1426464" cy="347472"/>
          </a:xfrm>
          <a:prstGeom prst="rect">
            <a:avLst/>
          </a:prstGeom>
          <a:noFill/>
          <a:ln/>
        </p:spPr>
        <p:txBody>
          <a:bodyPr wrap="square" lIns="0" tIns="0" rIns="0" bIns="0" rtlCol="0" anchor="ctr"/>
          <a:lstStyle/>
          <a:p>
            <a:pPr algn="ctr" indent="0" marL="0">
              <a:buNone/>
            </a:pPr>
            <a:r>
              <a:rPr lang="en-US" sz="950" b="1" spc="60" kern="0" dirty="0">
                <a:solidFill>
                  <a:srgbClr val="1E3A8A"/>
                </a:solidFill>
                <a:latin typeface="Segoe UI" pitchFamily="34" charset="0"/>
                <a:ea typeface="Segoe UI" pitchFamily="34" charset="-122"/>
                <a:cs typeface="Segoe UI" pitchFamily="34" charset="-120"/>
              </a:rPr>
              <a:t>KHU VỰC BẢN ĐỒ</a:t>
            </a:r>
            <a:endParaRPr lang="en-US" sz="950" dirty="0"/>
          </a:p>
        </p:txBody>
      </p:sp>
      <p:sp>
        <p:nvSpPr>
          <p:cNvPr id="24" name="Shape 19"/>
          <p:cNvSpPr/>
          <p:nvPr/>
        </p:nvSpPr>
        <p:spPr>
          <a:xfrm flipH="1" flipV="1">
            <a:off x="9400032" y="3977640"/>
            <a:ext cx="155448" cy="1399032"/>
          </a:xfrm>
          <a:prstGeom prst="line">
            <a:avLst/>
          </a:prstGeom>
          <a:noFill/>
          <a:ln w="15240">
            <a:solidFill>
              <a:srgbClr val="0B7A75"/>
            </a:solidFill>
            <a:prstDash val="solid"/>
            <a:tailEnd type="triangle"/>
          </a:ln>
        </p:spPr>
      </p:sp>
      <p:sp>
        <p:nvSpPr>
          <p:cNvPr id="25" name="Shape 20"/>
          <p:cNvSpPr/>
          <p:nvPr/>
        </p:nvSpPr>
        <p:spPr>
          <a:xfrm>
            <a:off x="9144000" y="5413248"/>
            <a:ext cx="1700784" cy="347472"/>
          </a:xfrm>
          <a:prstGeom prst="roundRect">
            <a:avLst>
              <a:gd name="adj" fmla="val 21053"/>
            </a:avLst>
          </a:prstGeom>
          <a:solidFill>
            <a:srgbClr val="0B7A75"/>
          </a:solidFill>
          <a:ln w="10160">
            <a:solidFill>
              <a:srgbClr val="0B7A75"/>
            </a:solidFill>
            <a:prstDash val="solid"/>
          </a:ln>
        </p:spPr>
      </p:sp>
      <p:sp>
        <p:nvSpPr>
          <p:cNvPr id="26" name="Text 21"/>
          <p:cNvSpPr/>
          <p:nvPr/>
        </p:nvSpPr>
        <p:spPr>
          <a:xfrm>
            <a:off x="9217152" y="5413248"/>
            <a:ext cx="1554480" cy="347472"/>
          </a:xfrm>
          <a:prstGeom prst="rect">
            <a:avLst/>
          </a:prstGeom>
          <a:noFill/>
          <a:ln/>
        </p:spPr>
        <p:txBody>
          <a:bodyPr wrap="square" lIns="0" tIns="0" rIns="0" bIns="0" rtlCol="0" anchor="ctr"/>
          <a:lstStyle/>
          <a:p>
            <a:pPr algn="ctr" indent="0" marL="0">
              <a:buNone/>
            </a:pPr>
            <a:r>
              <a:rPr lang="en-US" sz="950" b="1" spc="60" kern="0" dirty="0">
                <a:solidFill>
                  <a:srgbClr val="FFFFFF"/>
                </a:solidFill>
                <a:latin typeface="Segoe UI" pitchFamily="34" charset="0"/>
                <a:ea typeface="Segoe UI" pitchFamily="34" charset="-122"/>
                <a:cs typeface="Segoe UI" pitchFamily="34" charset="-120"/>
              </a:rPr>
              <a:t>KHU VỰC CHATBOT</a:t>
            </a:r>
            <a:endParaRPr lang="en-US" sz="950" dirty="0"/>
          </a:p>
        </p:txBody>
      </p:sp>
      <p:sp>
        <p:nvSpPr>
          <p:cNvPr id="27" name="Text 22"/>
          <p:cNvSpPr/>
          <p:nvPr/>
        </p:nvSpPr>
        <p:spPr>
          <a:xfrm>
            <a:off x="6565392" y="6053328"/>
            <a:ext cx="3383280" cy="182880"/>
          </a:xfrm>
          <a:prstGeom prst="rect">
            <a:avLst/>
          </a:prstGeom>
          <a:noFill/>
          <a:ln/>
        </p:spPr>
        <p:txBody>
          <a:bodyPr wrap="square" lIns="0" tIns="0" rIns="0" bIns="0" rtlCol="0" anchor="ctr"/>
          <a:lstStyle/>
          <a:p>
            <a:pPr algn="ctr" indent="0" marL="0">
              <a:buNone/>
            </a:pPr>
            <a:r>
              <a:rPr lang="en-US" sz="1100" i="1" dirty="0">
                <a:solidFill>
                  <a:srgbClr val="64748B"/>
                </a:solidFill>
                <a:latin typeface="Segoe UI" pitchFamily="34" charset="0"/>
                <a:ea typeface="Segoe UI" pitchFamily="34" charset="-122"/>
                <a:cs typeface="Segoe UI" pitchFamily="34" charset="-120"/>
              </a:rPr>
              <a:t>Giao diện thử nghiệm trên máy tính</a:t>
            </a:r>
            <a:endParaRPr lang="en-US" sz="1100" dirty="0"/>
          </a:p>
        </p:txBody>
      </p:sp>
      <p:sp>
        <p:nvSpPr>
          <p:cNvPr id="28" name="Shape 23"/>
          <p:cNvSpPr/>
          <p:nvPr/>
        </p:nvSpPr>
        <p:spPr>
          <a:xfrm>
            <a:off x="603504" y="6556248"/>
            <a:ext cx="10984687" cy="0"/>
          </a:xfrm>
          <a:prstGeom prst="line">
            <a:avLst/>
          </a:prstGeom>
          <a:noFill/>
          <a:ln w="8890">
            <a:solidFill>
              <a:srgbClr val="E2E8F0"/>
            </a:solidFill>
            <a:prstDash val="solid"/>
          </a:ln>
        </p:spPr>
      </p:sp>
      <p:sp>
        <p:nvSpPr>
          <p:cNvPr id="29" name="Text 24"/>
          <p:cNvSpPr/>
          <p:nvPr/>
        </p:nvSpPr>
        <p:spPr>
          <a:xfrm>
            <a:off x="603504" y="6601968"/>
            <a:ext cx="4572000" cy="164592"/>
          </a:xfrm>
          <a:prstGeom prst="rect">
            <a:avLst/>
          </a:prstGeom>
          <a:noFill/>
          <a:ln/>
        </p:spPr>
        <p:txBody>
          <a:bodyPr wrap="square" lIns="0" tIns="0" rIns="0" bIns="0" rtlCol="0" anchor="ctr"/>
          <a:lstStyle/>
          <a:p>
            <a:pPr indent="0" marL="0">
              <a:buNone/>
            </a:pPr>
            <a:r>
              <a:rPr lang="en-US" sz="950" b="1" spc="120" kern="0" dirty="0">
                <a:solidFill>
                  <a:srgbClr val="64748B"/>
                </a:solidFill>
                <a:latin typeface="Segoe UI" pitchFamily="34" charset="0"/>
                <a:ea typeface="Segoe UI" pitchFamily="34" charset="-122"/>
                <a:cs typeface="Segoe UI" pitchFamily="34" charset="-120"/>
              </a:rPr>
              <a:t>BẢN ĐỒ CÔNG AN SỐ · TỈNH PHÚ THỌ</a:t>
            </a:r>
            <a:endParaRPr lang="en-US" sz="950" dirty="0"/>
          </a:p>
        </p:txBody>
      </p:sp>
      <p:sp>
        <p:nvSpPr>
          <p:cNvPr id="30" name="Text 25"/>
          <p:cNvSpPr/>
          <p:nvPr/>
        </p:nvSpPr>
        <p:spPr>
          <a:xfrm>
            <a:off x="11222431" y="6583680"/>
            <a:ext cx="365760" cy="182880"/>
          </a:xfrm>
          <a:prstGeom prst="rect">
            <a:avLst/>
          </a:prstGeom>
          <a:noFill/>
          <a:ln/>
        </p:spPr>
        <p:txBody>
          <a:bodyPr wrap="square" lIns="0" tIns="0" rIns="0" bIns="0" rtlCol="0" anchor="ctr"/>
          <a:lstStyle/>
          <a:p>
            <a:pPr algn="r" indent="0" marL="0">
              <a:buNone/>
            </a:pPr>
            <a:r>
              <a:rPr lang="en-US" sz="1000" b="1" dirty="0">
                <a:solidFill>
                  <a:srgbClr val="64748B"/>
                </a:solidFill>
                <a:latin typeface="Segoe UI" pitchFamily="34" charset="0"/>
                <a:ea typeface="Segoe UI" pitchFamily="34" charset="-122"/>
                <a:cs typeface="Segoe UI" pitchFamily="34" charset="-120"/>
              </a:rPr>
              <a:t>04</a:t>
            </a:r>
            <a:endParaRPr lang="en-US" sz="1000" dirty="0"/>
          </a:p>
        </p:txBody>
      </p:sp>
    </p:spTree>
  </p:cSld>
  <p:clrMapOvr>
    <a:masterClrMapping/>
  </p:clrMapOvr>
  <p:transition xmlns:p14="http://schemas.microsoft.com/office/powerpoint/2010/main" spd="med" p14:dur="450">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306E"/>
        </a:solidFill>
      </p:bgPr>
    </p:bg>
    <p:spTree>
      <p:nvGrpSpPr>
        <p:cNvPr id="1" name=""/>
        <p:cNvGrpSpPr/>
        <p:nvPr/>
      </p:nvGrpSpPr>
      <p:grpSpPr>
        <a:xfrm>
          <a:off x="0" y="0"/>
          <a:ext cx="0" cy="0"/>
          <a:chOff x="0" y="0"/>
          <a:chExt cx="0" cy="0"/>
        </a:xfrm>
      </p:grpSpPr>
      <p:sp>
        <p:nvSpPr>
          <p:cNvPr id="2" name="Shape 0"/>
          <p:cNvSpPr/>
          <p:nvPr/>
        </p:nvSpPr>
        <p:spPr>
          <a:xfrm>
            <a:off x="9429750" y="640080"/>
            <a:ext cx="994410" cy="365760"/>
          </a:xfrm>
          <a:prstGeom prst="line">
            <a:avLst/>
          </a:prstGeom>
          <a:noFill/>
          <a:ln w="15240">
            <a:solidFill>
              <a:srgbClr val="6F89C5">
                <a:alpha val="54000"/>
              </a:srgbClr>
            </a:solidFill>
            <a:prstDash val="solid"/>
            <a:tailEnd type="none"/>
          </a:ln>
        </p:spPr>
      </p:sp>
      <p:sp>
        <p:nvSpPr>
          <p:cNvPr id="3" name="Shape 1"/>
          <p:cNvSpPr/>
          <p:nvPr/>
        </p:nvSpPr>
        <p:spPr>
          <a:xfrm>
            <a:off x="10424160" y="1005840"/>
            <a:ext cx="651510" cy="960120"/>
          </a:xfrm>
          <a:prstGeom prst="line">
            <a:avLst/>
          </a:prstGeom>
          <a:noFill/>
          <a:ln w="15240">
            <a:solidFill>
              <a:srgbClr val="6F89C5">
                <a:alpha val="54000"/>
              </a:srgbClr>
            </a:solidFill>
            <a:prstDash val="solid"/>
            <a:tailEnd type="none"/>
          </a:ln>
        </p:spPr>
      </p:sp>
      <p:sp>
        <p:nvSpPr>
          <p:cNvPr id="4" name="Shape 2"/>
          <p:cNvSpPr/>
          <p:nvPr/>
        </p:nvSpPr>
        <p:spPr>
          <a:xfrm flipH="1">
            <a:off x="10801350" y="1965960"/>
            <a:ext cx="274320" cy="960120"/>
          </a:xfrm>
          <a:prstGeom prst="line">
            <a:avLst/>
          </a:prstGeom>
          <a:noFill/>
          <a:ln w="15240">
            <a:solidFill>
              <a:srgbClr val="6F89C5">
                <a:alpha val="54000"/>
              </a:srgbClr>
            </a:solidFill>
            <a:prstDash val="solid"/>
            <a:tailEnd type="none"/>
          </a:ln>
        </p:spPr>
      </p:sp>
      <p:sp>
        <p:nvSpPr>
          <p:cNvPr id="5" name="Shape 3"/>
          <p:cNvSpPr/>
          <p:nvPr/>
        </p:nvSpPr>
        <p:spPr>
          <a:xfrm>
            <a:off x="10801350" y="2926080"/>
            <a:ext cx="445770" cy="868680"/>
          </a:xfrm>
          <a:prstGeom prst="line">
            <a:avLst/>
          </a:prstGeom>
          <a:noFill/>
          <a:ln w="15240">
            <a:solidFill>
              <a:srgbClr val="6F89C5">
                <a:alpha val="54000"/>
              </a:srgbClr>
            </a:solidFill>
            <a:prstDash val="solid"/>
            <a:tailEnd type="none"/>
          </a:ln>
        </p:spPr>
      </p:sp>
      <p:sp>
        <p:nvSpPr>
          <p:cNvPr id="6" name="Shape 4"/>
          <p:cNvSpPr/>
          <p:nvPr/>
        </p:nvSpPr>
        <p:spPr>
          <a:xfrm flipH="1">
            <a:off x="10252710" y="3794760"/>
            <a:ext cx="994410" cy="1143000"/>
          </a:xfrm>
          <a:prstGeom prst="line">
            <a:avLst/>
          </a:prstGeom>
          <a:noFill/>
          <a:ln w="15240">
            <a:solidFill>
              <a:srgbClr val="6F89C5">
                <a:alpha val="54000"/>
              </a:srgbClr>
            </a:solidFill>
            <a:prstDash val="solid"/>
            <a:tailEnd type="none"/>
          </a:ln>
        </p:spPr>
      </p:sp>
      <p:sp>
        <p:nvSpPr>
          <p:cNvPr id="7" name="Shape 5"/>
          <p:cNvSpPr/>
          <p:nvPr/>
        </p:nvSpPr>
        <p:spPr>
          <a:xfrm flipH="1" flipV="1">
            <a:off x="9258300" y="4526280"/>
            <a:ext cx="994410" cy="411480"/>
          </a:xfrm>
          <a:prstGeom prst="line">
            <a:avLst/>
          </a:prstGeom>
          <a:noFill/>
          <a:ln w="15240">
            <a:solidFill>
              <a:srgbClr val="6F89C5">
                <a:alpha val="54000"/>
              </a:srgbClr>
            </a:solidFill>
            <a:prstDash val="solid"/>
            <a:tailEnd type="none"/>
          </a:ln>
        </p:spPr>
      </p:sp>
      <p:sp>
        <p:nvSpPr>
          <p:cNvPr id="8" name="Shape 6"/>
          <p:cNvSpPr/>
          <p:nvPr/>
        </p:nvSpPr>
        <p:spPr>
          <a:xfrm flipH="1">
            <a:off x="8743950" y="4526280"/>
            <a:ext cx="514350" cy="548640"/>
          </a:xfrm>
          <a:prstGeom prst="line">
            <a:avLst/>
          </a:prstGeom>
          <a:noFill/>
          <a:ln w="15240">
            <a:solidFill>
              <a:srgbClr val="6F89C5">
                <a:alpha val="54000"/>
              </a:srgbClr>
            </a:solidFill>
            <a:prstDash val="solid"/>
            <a:tailEnd type="none"/>
          </a:ln>
        </p:spPr>
      </p:sp>
      <p:sp>
        <p:nvSpPr>
          <p:cNvPr id="9" name="Shape 7"/>
          <p:cNvSpPr/>
          <p:nvPr/>
        </p:nvSpPr>
        <p:spPr>
          <a:xfrm flipH="1" flipV="1">
            <a:off x="8229600" y="3749040"/>
            <a:ext cx="514350" cy="1325880"/>
          </a:xfrm>
          <a:prstGeom prst="line">
            <a:avLst/>
          </a:prstGeom>
          <a:noFill/>
          <a:ln w="15240">
            <a:solidFill>
              <a:srgbClr val="6F89C5">
                <a:alpha val="54000"/>
              </a:srgbClr>
            </a:solidFill>
            <a:prstDash val="solid"/>
            <a:tailEnd type="none"/>
          </a:ln>
        </p:spPr>
      </p:sp>
      <p:sp>
        <p:nvSpPr>
          <p:cNvPr id="10" name="Shape 8"/>
          <p:cNvSpPr/>
          <p:nvPr/>
        </p:nvSpPr>
        <p:spPr>
          <a:xfrm flipV="1">
            <a:off x="8229600" y="2743200"/>
            <a:ext cx="342900" cy="1005840"/>
          </a:xfrm>
          <a:prstGeom prst="line">
            <a:avLst/>
          </a:prstGeom>
          <a:noFill/>
          <a:ln w="15240">
            <a:solidFill>
              <a:srgbClr val="6F89C5">
                <a:alpha val="54000"/>
              </a:srgbClr>
            </a:solidFill>
            <a:prstDash val="solid"/>
            <a:tailEnd type="none"/>
          </a:ln>
        </p:spPr>
      </p:sp>
      <p:sp>
        <p:nvSpPr>
          <p:cNvPr id="11" name="Shape 9"/>
          <p:cNvSpPr/>
          <p:nvPr/>
        </p:nvSpPr>
        <p:spPr>
          <a:xfrm flipH="1" flipV="1">
            <a:off x="8023860" y="1783080"/>
            <a:ext cx="548640" cy="960120"/>
          </a:xfrm>
          <a:prstGeom prst="line">
            <a:avLst/>
          </a:prstGeom>
          <a:noFill/>
          <a:ln w="15240">
            <a:solidFill>
              <a:srgbClr val="6F89C5">
                <a:alpha val="54000"/>
              </a:srgbClr>
            </a:solidFill>
            <a:prstDash val="solid"/>
            <a:tailEnd type="none"/>
          </a:ln>
        </p:spPr>
      </p:sp>
      <p:sp>
        <p:nvSpPr>
          <p:cNvPr id="12" name="Shape 10"/>
          <p:cNvSpPr/>
          <p:nvPr/>
        </p:nvSpPr>
        <p:spPr>
          <a:xfrm flipV="1">
            <a:off x="8023860" y="1325880"/>
            <a:ext cx="857250" cy="457200"/>
          </a:xfrm>
          <a:prstGeom prst="line">
            <a:avLst/>
          </a:prstGeom>
          <a:noFill/>
          <a:ln w="15240">
            <a:solidFill>
              <a:srgbClr val="6F89C5">
                <a:alpha val="54000"/>
              </a:srgbClr>
            </a:solidFill>
            <a:prstDash val="solid"/>
            <a:tailEnd type="none"/>
          </a:ln>
        </p:spPr>
      </p:sp>
      <p:sp>
        <p:nvSpPr>
          <p:cNvPr id="13" name="Shape 11"/>
          <p:cNvSpPr/>
          <p:nvPr/>
        </p:nvSpPr>
        <p:spPr>
          <a:xfrm flipV="1">
            <a:off x="8881110" y="640080"/>
            <a:ext cx="548640" cy="685800"/>
          </a:xfrm>
          <a:prstGeom prst="line">
            <a:avLst/>
          </a:prstGeom>
          <a:noFill/>
          <a:ln w="15240">
            <a:solidFill>
              <a:srgbClr val="6F89C5">
                <a:alpha val="54000"/>
              </a:srgbClr>
            </a:solidFill>
            <a:prstDash val="solid"/>
            <a:tailEnd type="none"/>
          </a:ln>
        </p:spPr>
      </p:sp>
      <p:sp>
        <p:nvSpPr>
          <p:cNvPr id="14" name="Shape 12"/>
          <p:cNvSpPr/>
          <p:nvPr/>
        </p:nvSpPr>
        <p:spPr>
          <a:xfrm flipV="1">
            <a:off x="8846820" y="1600200"/>
            <a:ext cx="994410" cy="594360"/>
          </a:xfrm>
          <a:prstGeom prst="line">
            <a:avLst/>
          </a:prstGeom>
          <a:noFill/>
          <a:ln w="10160">
            <a:solidFill>
              <a:srgbClr val="6F89C5">
                <a:alpha val="40000"/>
              </a:srgbClr>
            </a:solidFill>
            <a:prstDash val="solid"/>
            <a:tailEnd type="none"/>
          </a:ln>
        </p:spPr>
      </p:sp>
      <p:sp>
        <p:nvSpPr>
          <p:cNvPr id="15" name="Shape 13"/>
          <p:cNvSpPr/>
          <p:nvPr/>
        </p:nvSpPr>
        <p:spPr>
          <a:xfrm>
            <a:off x="9841230" y="1600200"/>
            <a:ext cx="582930" cy="1051560"/>
          </a:xfrm>
          <a:prstGeom prst="line">
            <a:avLst/>
          </a:prstGeom>
          <a:noFill/>
          <a:ln w="10160">
            <a:solidFill>
              <a:srgbClr val="6F89C5">
                <a:alpha val="40000"/>
              </a:srgbClr>
            </a:solidFill>
            <a:prstDash val="solid"/>
            <a:tailEnd type="none"/>
          </a:ln>
        </p:spPr>
      </p:sp>
      <p:sp>
        <p:nvSpPr>
          <p:cNvPr id="16" name="Shape 14"/>
          <p:cNvSpPr/>
          <p:nvPr/>
        </p:nvSpPr>
        <p:spPr>
          <a:xfrm flipH="1">
            <a:off x="9395460" y="2651760"/>
            <a:ext cx="1028700" cy="914400"/>
          </a:xfrm>
          <a:prstGeom prst="line">
            <a:avLst/>
          </a:prstGeom>
          <a:noFill/>
          <a:ln w="10160">
            <a:solidFill>
              <a:srgbClr val="6F89C5">
                <a:alpha val="40000"/>
              </a:srgbClr>
            </a:solidFill>
            <a:prstDash val="solid"/>
            <a:tailEnd type="none"/>
          </a:ln>
        </p:spPr>
      </p:sp>
      <p:sp>
        <p:nvSpPr>
          <p:cNvPr id="17" name="Shape 15"/>
          <p:cNvSpPr/>
          <p:nvPr/>
        </p:nvSpPr>
        <p:spPr>
          <a:xfrm>
            <a:off x="9395460" y="3566160"/>
            <a:ext cx="891540" cy="594360"/>
          </a:xfrm>
          <a:prstGeom prst="line">
            <a:avLst/>
          </a:prstGeom>
          <a:noFill/>
          <a:ln w="10160">
            <a:solidFill>
              <a:srgbClr val="6F89C5">
                <a:alpha val="40000"/>
              </a:srgbClr>
            </a:solidFill>
            <a:prstDash val="solid"/>
            <a:tailEnd type="none"/>
          </a:ln>
        </p:spPr>
      </p:sp>
      <p:sp>
        <p:nvSpPr>
          <p:cNvPr id="18" name="Shape 16"/>
          <p:cNvSpPr/>
          <p:nvPr/>
        </p:nvSpPr>
        <p:spPr>
          <a:xfrm flipH="1" flipV="1">
            <a:off x="8641080" y="3886200"/>
            <a:ext cx="1645920" cy="274320"/>
          </a:xfrm>
          <a:prstGeom prst="line">
            <a:avLst/>
          </a:prstGeom>
          <a:noFill/>
          <a:ln w="10160">
            <a:solidFill>
              <a:srgbClr val="6F89C5">
                <a:alpha val="40000"/>
              </a:srgbClr>
            </a:solidFill>
            <a:prstDash val="solid"/>
            <a:tailEnd type="none"/>
          </a:ln>
        </p:spPr>
      </p:sp>
      <p:sp>
        <p:nvSpPr>
          <p:cNvPr id="19" name="Shape 17"/>
          <p:cNvSpPr/>
          <p:nvPr/>
        </p:nvSpPr>
        <p:spPr>
          <a:xfrm>
            <a:off x="8801100" y="2148840"/>
            <a:ext cx="91440" cy="91440"/>
          </a:xfrm>
          <a:prstGeom prst="ellipse">
            <a:avLst/>
          </a:prstGeom>
          <a:solidFill>
            <a:srgbClr val="6F89C5">
              <a:alpha val="88000"/>
            </a:srgbClr>
          </a:solidFill>
          <a:ln w="12700">
            <a:solidFill>
              <a:srgbClr val="6F89C5">
                <a:alpha val="75000"/>
              </a:srgbClr>
            </a:solidFill>
            <a:prstDash val="solid"/>
          </a:ln>
        </p:spPr>
      </p:sp>
      <p:sp>
        <p:nvSpPr>
          <p:cNvPr id="20" name="Shape 18"/>
          <p:cNvSpPr/>
          <p:nvPr/>
        </p:nvSpPr>
        <p:spPr>
          <a:xfrm>
            <a:off x="9795510" y="1554480"/>
            <a:ext cx="91440" cy="91440"/>
          </a:xfrm>
          <a:prstGeom prst="ellipse">
            <a:avLst/>
          </a:prstGeom>
          <a:solidFill>
            <a:srgbClr val="6F89C5">
              <a:alpha val="88000"/>
            </a:srgbClr>
          </a:solidFill>
          <a:ln w="12700">
            <a:solidFill>
              <a:srgbClr val="6F89C5">
                <a:alpha val="75000"/>
              </a:srgbClr>
            </a:solidFill>
            <a:prstDash val="solid"/>
          </a:ln>
        </p:spPr>
      </p:sp>
      <p:sp>
        <p:nvSpPr>
          <p:cNvPr id="21" name="Shape 19"/>
          <p:cNvSpPr/>
          <p:nvPr/>
        </p:nvSpPr>
        <p:spPr>
          <a:xfrm>
            <a:off x="10378440" y="2606040"/>
            <a:ext cx="91440" cy="91440"/>
          </a:xfrm>
          <a:prstGeom prst="ellipse">
            <a:avLst/>
          </a:prstGeom>
          <a:solidFill>
            <a:srgbClr val="6F89C5">
              <a:alpha val="88000"/>
            </a:srgbClr>
          </a:solidFill>
          <a:ln w="12700">
            <a:solidFill>
              <a:srgbClr val="6F89C5">
                <a:alpha val="75000"/>
              </a:srgbClr>
            </a:solidFill>
            <a:prstDash val="solid"/>
          </a:ln>
        </p:spPr>
      </p:sp>
      <p:sp>
        <p:nvSpPr>
          <p:cNvPr id="22" name="Shape 20"/>
          <p:cNvSpPr/>
          <p:nvPr/>
        </p:nvSpPr>
        <p:spPr>
          <a:xfrm>
            <a:off x="9349740" y="3520440"/>
            <a:ext cx="91440" cy="91440"/>
          </a:xfrm>
          <a:prstGeom prst="ellipse">
            <a:avLst/>
          </a:prstGeom>
          <a:solidFill>
            <a:srgbClr val="0B7A75">
              <a:alpha val="88000"/>
            </a:srgbClr>
          </a:solidFill>
          <a:ln w="12700">
            <a:solidFill>
              <a:srgbClr val="0B7A75">
                <a:alpha val="75000"/>
              </a:srgbClr>
            </a:solidFill>
            <a:prstDash val="solid"/>
          </a:ln>
        </p:spPr>
      </p:sp>
      <p:sp>
        <p:nvSpPr>
          <p:cNvPr id="23" name="Shape 21"/>
          <p:cNvSpPr/>
          <p:nvPr/>
        </p:nvSpPr>
        <p:spPr>
          <a:xfrm>
            <a:off x="10241280" y="4114800"/>
            <a:ext cx="91440" cy="91440"/>
          </a:xfrm>
          <a:prstGeom prst="ellipse">
            <a:avLst/>
          </a:prstGeom>
          <a:solidFill>
            <a:srgbClr val="6F89C5">
              <a:alpha val="88000"/>
            </a:srgbClr>
          </a:solidFill>
          <a:ln w="12700">
            <a:solidFill>
              <a:srgbClr val="6F89C5">
                <a:alpha val="75000"/>
              </a:srgbClr>
            </a:solidFill>
            <a:prstDash val="solid"/>
          </a:ln>
        </p:spPr>
      </p:sp>
      <p:sp>
        <p:nvSpPr>
          <p:cNvPr id="24" name="Shape 22"/>
          <p:cNvSpPr/>
          <p:nvPr/>
        </p:nvSpPr>
        <p:spPr>
          <a:xfrm>
            <a:off x="8595360" y="3840480"/>
            <a:ext cx="91440" cy="91440"/>
          </a:xfrm>
          <a:prstGeom prst="ellipse">
            <a:avLst/>
          </a:prstGeom>
          <a:solidFill>
            <a:srgbClr val="6F89C5">
              <a:alpha val="88000"/>
            </a:srgbClr>
          </a:solidFill>
          <a:ln w="12700">
            <a:solidFill>
              <a:srgbClr val="6F89C5">
                <a:alpha val="75000"/>
              </a:srgbClr>
            </a:solidFill>
            <a:prstDash val="solid"/>
          </a:ln>
        </p:spPr>
      </p:sp>
      <p:sp>
        <p:nvSpPr>
          <p:cNvPr id="25" name="Shape 23"/>
          <p:cNvSpPr/>
          <p:nvPr/>
        </p:nvSpPr>
        <p:spPr>
          <a:xfrm>
            <a:off x="1408176" y="5513832"/>
            <a:ext cx="1453896" cy="0"/>
          </a:xfrm>
          <a:prstGeom prst="line">
            <a:avLst/>
          </a:prstGeom>
          <a:noFill/>
          <a:ln w="12700">
            <a:solidFill>
              <a:srgbClr val="7890C4">
                <a:alpha val="58000"/>
              </a:srgbClr>
            </a:solidFill>
            <a:prstDash val="solid"/>
            <a:tailEnd type="triangle"/>
          </a:ln>
        </p:spPr>
      </p:sp>
      <p:sp>
        <p:nvSpPr>
          <p:cNvPr id="26" name="Shape 24"/>
          <p:cNvSpPr/>
          <p:nvPr/>
        </p:nvSpPr>
        <p:spPr>
          <a:xfrm>
            <a:off x="786384" y="5212080"/>
            <a:ext cx="603504" cy="603504"/>
          </a:xfrm>
          <a:prstGeom prst="ellipse">
            <a:avLst/>
          </a:prstGeom>
          <a:solidFill>
            <a:srgbClr val="1E3A8A"/>
          </a:solidFill>
          <a:ln w="12700">
            <a:solidFill>
              <a:srgbClr val="1E3A8A"/>
            </a:solidFill>
            <a:prstDash val="solid"/>
          </a:ln>
        </p:spPr>
      </p:sp>
      <p:pic>
        <p:nvPicPr>
          <p:cNvPr id="27" name="Image 0" descr="preencoded.png">    </p:cNvPr>
          <p:cNvPicPr>
            <a:picLocks noChangeAspect="1"/>
          </p:cNvPicPr>
          <p:nvPr/>
        </p:nvPicPr>
        <p:blipFill>
          <a:blip r:embed="rId1"/>
          <a:stretch>
            <a:fillRect/>
          </a:stretch>
        </p:blipFill>
        <p:spPr>
          <a:xfrm>
            <a:off x="961400" y="5387096"/>
            <a:ext cx="253472" cy="253472"/>
          </a:xfrm>
          <a:prstGeom prst="rect">
            <a:avLst/>
          </a:prstGeom>
        </p:spPr>
      </p:pic>
      <p:sp>
        <p:nvSpPr>
          <p:cNvPr id="28" name="Text 25"/>
          <p:cNvSpPr/>
          <p:nvPr/>
        </p:nvSpPr>
        <p:spPr>
          <a:xfrm>
            <a:off x="512064" y="5925312"/>
            <a:ext cx="1170432" cy="182880"/>
          </a:xfrm>
          <a:prstGeom prst="rect">
            <a:avLst/>
          </a:prstGeom>
          <a:noFill/>
          <a:ln/>
        </p:spPr>
        <p:txBody>
          <a:bodyPr wrap="square" lIns="0" tIns="0" rIns="0" bIns="0" rtlCol="0" anchor="ctr"/>
          <a:lstStyle/>
          <a:p>
            <a:pPr algn="ctr" indent="0" marL="0">
              <a:buNone/>
            </a:pPr>
            <a:r>
              <a:rPr lang="en-US" sz="950" b="1" spc="80" kern="0" dirty="0">
                <a:solidFill>
                  <a:srgbClr val="AFC2E8"/>
                </a:solidFill>
                <a:latin typeface="Segoe UI" pitchFamily="34" charset="0"/>
                <a:ea typeface="Segoe UI" pitchFamily="34" charset="-122"/>
                <a:cs typeface="Segoe UI" pitchFamily="34" charset="-120"/>
              </a:rPr>
              <a:t>CÂU HỎI</a:t>
            </a:r>
            <a:endParaRPr lang="en-US" sz="950" dirty="0"/>
          </a:p>
        </p:txBody>
      </p:sp>
      <p:sp>
        <p:nvSpPr>
          <p:cNvPr id="29" name="Shape 26"/>
          <p:cNvSpPr/>
          <p:nvPr/>
        </p:nvSpPr>
        <p:spPr>
          <a:xfrm>
            <a:off x="3739896" y="5513832"/>
            <a:ext cx="1453896" cy="0"/>
          </a:xfrm>
          <a:prstGeom prst="line">
            <a:avLst/>
          </a:prstGeom>
          <a:noFill/>
          <a:ln w="12700">
            <a:solidFill>
              <a:srgbClr val="7890C4">
                <a:alpha val="58000"/>
              </a:srgbClr>
            </a:solidFill>
            <a:prstDash val="solid"/>
            <a:tailEnd type="triangle"/>
          </a:ln>
        </p:spPr>
      </p:sp>
      <p:sp>
        <p:nvSpPr>
          <p:cNvPr id="30" name="Shape 27"/>
          <p:cNvSpPr/>
          <p:nvPr/>
        </p:nvSpPr>
        <p:spPr>
          <a:xfrm>
            <a:off x="3118104" y="5212080"/>
            <a:ext cx="603504" cy="603504"/>
          </a:xfrm>
          <a:prstGeom prst="ellipse">
            <a:avLst/>
          </a:prstGeom>
          <a:solidFill>
            <a:srgbClr val="1E3A8A"/>
          </a:solidFill>
          <a:ln w="12700">
            <a:solidFill>
              <a:srgbClr val="1E3A8A"/>
            </a:solidFill>
            <a:prstDash val="solid"/>
          </a:ln>
        </p:spPr>
      </p:sp>
      <p:pic>
        <p:nvPicPr>
          <p:cNvPr id="31" name="Image 1" descr="preencoded.png">    </p:cNvPr>
          <p:cNvPicPr>
            <a:picLocks noChangeAspect="1"/>
          </p:cNvPicPr>
          <p:nvPr/>
        </p:nvPicPr>
        <p:blipFill>
          <a:blip r:embed="rId2"/>
          <a:stretch>
            <a:fillRect/>
          </a:stretch>
        </p:blipFill>
        <p:spPr>
          <a:xfrm>
            <a:off x="3293120" y="5387096"/>
            <a:ext cx="253472" cy="253472"/>
          </a:xfrm>
          <a:prstGeom prst="rect">
            <a:avLst/>
          </a:prstGeom>
        </p:spPr>
      </p:pic>
      <p:sp>
        <p:nvSpPr>
          <p:cNvPr id="32" name="Text 28"/>
          <p:cNvSpPr/>
          <p:nvPr/>
        </p:nvSpPr>
        <p:spPr>
          <a:xfrm>
            <a:off x="2843784" y="5925312"/>
            <a:ext cx="1170432" cy="182880"/>
          </a:xfrm>
          <a:prstGeom prst="rect">
            <a:avLst/>
          </a:prstGeom>
          <a:noFill/>
          <a:ln/>
        </p:spPr>
        <p:txBody>
          <a:bodyPr wrap="square" lIns="0" tIns="0" rIns="0" bIns="0" rtlCol="0" anchor="ctr"/>
          <a:lstStyle/>
          <a:p>
            <a:pPr algn="ctr" indent="0" marL="0">
              <a:buNone/>
            </a:pPr>
            <a:r>
              <a:rPr lang="en-US" sz="950" b="1" spc="80" kern="0" dirty="0">
                <a:solidFill>
                  <a:srgbClr val="AFC2E8"/>
                </a:solidFill>
                <a:latin typeface="Segoe UI" pitchFamily="34" charset="0"/>
                <a:ea typeface="Segoe UI" pitchFamily="34" charset="-122"/>
                <a:cs typeface="Segoe UI" pitchFamily="34" charset="-120"/>
              </a:rPr>
              <a:t>TÀI LIỆU</a:t>
            </a:r>
            <a:endParaRPr lang="en-US" sz="950" dirty="0"/>
          </a:p>
        </p:txBody>
      </p:sp>
      <p:sp>
        <p:nvSpPr>
          <p:cNvPr id="33" name="Shape 29"/>
          <p:cNvSpPr/>
          <p:nvPr/>
        </p:nvSpPr>
        <p:spPr>
          <a:xfrm>
            <a:off x="6071616" y="5513832"/>
            <a:ext cx="1453896" cy="0"/>
          </a:xfrm>
          <a:prstGeom prst="line">
            <a:avLst/>
          </a:prstGeom>
          <a:noFill/>
          <a:ln w="12700">
            <a:solidFill>
              <a:srgbClr val="7890C4">
                <a:alpha val="58000"/>
              </a:srgbClr>
            </a:solidFill>
            <a:prstDash val="solid"/>
            <a:tailEnd type="triangle"/>
          </a:ln>
        </p:spPr>
      </p:sp>
      <p:sp>
        <p:nvSpPr>
          <p:cNvPr id="34" name="Shape 30"/>
          <p:cNvSpPr/>
          <p:nvPr/>
        </p:nvSpPr>
        <p:spPr>
          <a:xfrm>
            <a:off x="5449824" y="5212080"/>
            <a:ext cx="603504" cy="603504"/>
          </a:xfrm>
          <a:prstGeom prst="ellipse">
            <a:avLst/>
          </a:prstGeom>
          <a:solidFill>
            <a:srgbClr val="1E3A8A"/>
          </a:solidFill>
          <a:ln w="12700">
            <a:solidFill>
              <a:srgbClr val="1E3A8A"/>
            </a:solidFill>
            <a:prstDash val="solid"/>
          </a:ln>
        </p:spPr>
      </p:sp>
      <p:pic>
        <p:nvPicPr>
          <p:cNvPr id="35" name="Image 2" descr="preencoded.png">    </p:cNvPr>
          <p:cNvPicPr>
            <a:picLocks noChangeAspect="1"/>
          </p:cNvPicPr>
          <p:nvPr/>
        </p:nvPicPr>
        <p:blipFill>
          <a:blip r:embed="rId3"/>
          <a:stretch>
            <a:fillRect/>
          </a:stretch>
        </p:blipFill>
        <p:spPr>
          <a:xfrm>
            <a:off x="5624840" y="5387096"/>
            <a:ext cx="253472" cy="253472"/>
          </a:xfrm>
          <a:prstGeom prst="rect">
            <a:avLst/>
          </a:prstGeom>
        </p:spPr>
      </p:pic>
      <p:sp>
        <p:nvSpPr>
          <p:cNvPr id="36" name="Text 31"/>
          <p:cNvSpPr/>
          <p:nvPr/>
        </p:nvSpPr>
        <p:spPr>
          <a:xfrm>
            <a:off x="5175504" y="5925312"/>
            <a:ext cx="1170432" cy="182880"/>
          </a:xfrm>
          <a:prstGeom prst="rect">
            <a:avLst/>
          </a:prstGeom>
          <a:noFill/>
          <a:ln/>
        </p:spPr>
        <p:txBody>
          <a:bodyPr wrap="square" lIns="0" tIns="0" rIns="0" bIns="0" rtlCol="0" anchor="ctr"/>
          <a:lstStyle/>
          <a:p>
            <a:pPr algn="ctr" indent="0" marL="0">
              <a:buNone/>
            </a:pPr>
            <a:r>
              <a:rPr lang="en-US" sz="950" b="1" spc="80" kern="0" dirty="0">
                <a:solidFill>
                  <a:srgbClr val="AFC2E8"/>
                </a:solidFill>
                <a:latin typeface="Segoe UI" pitchFamily="34" charset="0"/>
                <a:ea typeface="Segoe UI" pitchFamily="34" charset="-122"/>
                <a:cs typeface="Segoe UI" pitchFamily="34" charset="-120"/>
              </a:rPr>
              <a:t>AI</a:t>
            </a:r>
            <a:endParaRPr lang="en-US" sz="950" dirty="0"/>
          </a:p>
        </p:txBody>
      </p:sp>
      <p:sp>
        <p:nvSpPr>
          <p:cNvPr id="37" name="Shape 32"/>
          <p:cNvSpPr/>
          <p:nvPr/>
        </p:nvSpPr>
        <p:spPr>
          <a:xfrm>
            <a:off x="8403336" y="5513832"/>
            <a:ext cx="1453896" cy="0"/>
          </a:xfrm>
          <a:prstGeom prst="line">
            <a:avLst/>
          </a:prstGeom>
          <a:noFill/>
          <a:ln w="12700">
            <a:solidFill>
              <a:srgbClr val="7890C4">
                <a:alpha val="58000"/>
              </a:srgbClr>
            </a:solidFill>
            <a:prstDash val="solid"/>
            <a:tailEnd type="triangle"/>
          </a:ln>
        </p:spPr>
      </p:sp>
      <p:sp>
        <p:nvSpPr>
          <p:cNvPr id="38" name="Shape 33"/>
          <p:cNvSpPr/>
          <p:nvPr/>
        </p:nvSpPr>
        <p:spPr>
          <a:xfrm>
            <a:off x="7781544" y="5212080"/>
            <a:ext cx="603504" cy="603504"/>
          </a:xfrm>
          <a:prstGeom prst="ellipse">
            <a:avLst/>
          </a:prstGeom>
          <a:solidFill>
            <a:srgbClr val="0B7A75"/>
          </a:solidFill>
          <a:ln w="12700">
            <a:solidFill>
              <a:srgbClr val="0B7A75"/>
            </a:solidFill>
            <a:prstDash val="solid"/>
          </a:ln>
        </p:spPr>
      </p:sp>
      <p:pic>
        <p:nvPicPr>
          <p:cNvPr id="39" name="Image 3" descr="preencoded.png">    </p:cNvPr>
          <p:cNvPicPr>
            <a:picLocks noChangeAspect="1"/>
          </p:cNvPicPr>
          <p:nvPr/>
        </p:nvPicPr>
        <p:blipFill>
          <a:blip r:embed="rId4"/>
          <a:stretch>
            <a:fillRect/>
          </a:stretch>
        </p:blipFill>
        <p:spPr>
          <a:xfrm>
            <a:off x="7956560" y="5387096"/>
            <a:ext cx="253472" cy="253472"/>
          </a:xfrm>
          <a:prstGeom prst="rect">
            <a:avLst/>
          </a:prstGeom>
        </p:spPr>
      </p:pic>
      <p:sp>
        <p:nvSpPr>
          <p:cNvPr id="40" name="Text 34"/>
          <p:cNvSpPr/>
          <p:nvPr/>
        </p:nvSpPr>
        <p:spPr>
          <a:xfrm>
            <a:off x="7507224" y="5925312"/>
            <a:ext cx="1170432" cy="182880"/>
          </a:xfrm>
          <a:prstGeom prst="rect">
            <a:avLst/>
          </a:prstGeom>
          <a:noFill/>
          <a:ln/>
        </p:spPr>
        <p:txBody>
          <a:bodyPr wrap="square" lIns="0" tIns="0" rIns="0" bIns="0" rtlCol="0" anchor="ctr"/>
          <a:lstStyle/>
          <a:p>
            <a:pPr algn="ctr" indent="0" marL="0">
              <a:buNone/>
            </a:pPr>
            <a:r>
              <a:rPr lang="en-US" sz="950" b="1" spc="80" kern="0" dirty="0">
                <a:solidFill>
                  <a:srgbClr val="AFC2E8"/>
                </a:solidFill>
                <a:latin typeface="Segoe UI" pitchFamily="34" charset="0"/>
                <a:ea typeface="Segoe UI" pitchFamily="34" charset="-122"/>
                <a:cs typeface="Segoe UI" pitchFamily="34" charset="-120"/>
              </a:rPr>
              <a:t>KIỂM TRA</a:t>
            </a:r>
            <a:endParaRPr lang="en-US" sz="950" dirty="0"/>
          </a:p>
        </p:txBody>
      </p:sp>
      <p:sp>
        <p:nvSpPr>
          <p:cNvPr id="41" name="Shape 35"/>
          <p:cNvSpPr/>
          <p:nvPr/>
        </p:nvSpPr>
        <p:spPr>
          <a:xfrm>
            <a:off x="10113264" y="5212080"/>
            <a:ext cx="603504" cy="603504"/>
          </a:xfrm>
          <a:prstGeom prst="ellipse">
            <a:avLst/>
          </a:prstGeom>
          <a:solidFill>
            <a:srgbClr val="0B7A75"/>
          </a:solidFill>
          <a:ln w="12700">
            <a:solidFill>
              <a:srgbClr val="0B7A75"/>
            </a:solidFill>
            <a:prstDash val="solid"/>
          </a:ln>
        </p:spPr>
      </p:sp>
      <p:pic>
        <p:nvPicPr>
          <p:cNvPr id="42" name="Image 4" descr="preencoded.png">    </p:cNvPr>
          <p:cNvPicPr>
            <a:picLocks noChangeAspect="1"/>
          </p:cNvPicPr>
          <p:nvPr/>
        </p:nvPicPr>
        <p:blipFill>
          <a:blip r:embed="rId5"/>
          <a:stretch>
            <a:fillRect/>
          </a:stretch>
        </p:blipFill>
        <p:spPr>
          <a:xfrm>
            <a:off x="10288280" y="5387096"/>
            <a:ext cx="253472" cy="253472"/>
          </a:xfrm>
          <a:prstGeom prst="rect">
            <a:avLst/>
          </a:prstGeom>
        </p:spPr>
      </p:pic>
      <p:sp>
        <p:nvSpPr>
          <p:cNvPr id="43" name="Text 36"/>
          <p:cNvSpPr/>
          <p:nvPr/>
        </p:nvSpPr>
        <p:spPr>
          <a:xfrm>
            <a:off x="9838944" y="5925312"/>
            <a:ext cx="1170432" cy="182880"/>
          </a:xfrm>
          <a:prstGeom prst="rect">
            <a:avLst/>
          </a:prstGeom>
          <a:noFill/>
          <a:ln/>
        </p:spPr>
        <p:txBody>
          <a:bodyPr wrap="square" lIns="0" tIns="0" rIns="0" bIns="0" rtlCol="0" anchor="ctr"/>
          <a:lstStyle/>
          <a:p>
            <a:pPr algn="ctr" indent="0" marL="0">
              <a:buNone/>
            </a:pPr>
            <a:r>
              <a:rPr lang="en-US" sz="950" b="1" spc="80" kern="0" dirty="0">
                <a:solidFill>
                  <a:srgbClr val="AFC2E8"/>
                </a:solidFill>
                <a:latin typeface="Segoe UI" pitchFamily="34" charset="0"/>
                <a:ea typeface="Segoe UI" pitchFamily="34" charset="-122"/>
                <a:cs typeface="Segoe UI" pitchFamily="34" charset="-120"/>
              </a:rPr>
              <a:t>CÂU TRẢ LỜI</a:t>
            </a:r>
            <a:endParaRPr lang="en-US" sz="950" dirty="0"/>
          </a:p>
        </p:txBody>
      </p:sp>
      <p:sp>
        <p:nvSpPr>
          <p:cNvPr id="44" name="Text 37"/>
          <p:cNvSpPr/>
          <p:nvPr/>
        </p:nvSpPr>
        <p:spPr>
          <a:xfrm>
            <a:off x="603504" y="960120"/>
            <a:ext cx="6583680" cy="1417320"/>
          </a:xfrm>
          <a:prstGeom prst="rect">
            <a:avLst/>
          </a:prstGeom>
          <a:noFill/>
          <a:ln/>
        </p:spPr>
        <p:txBody>
          <a:bodyPr wrap="square" lIns="0" tIns="0" rIns="0" bIns="0" rtlCol="0" anchor="ctr"/>
          <a:lstStyle/>
          <a:p>
            <a:pPr indent="0" marL="0">
              <a:buNone/>
            </a:pPr>
            <a:r>
              <a:rPr lang="en-US" sz="4600" b="1" dirty="0">
                <a:solidFill>
                  <a:srgbClr val="FFFFFF"/>
                </a:solidFill>
                <a:latin typeface="Segoe UI" pitchFamily="34" charset="0"/>
                <a:ea typeface="Segoe UI" pitchFamily="34" charset="-122"/>
                <a:cs typeface="Segoe UI" pitchFamily="34" charset="-120"/>
              </a:rPr>
              <a:t>GIẢM RỦI RO</a:t>
            </a:r>
            <a:endParaRPr lang="en-US" sz="4600" dirty="0"/>
          </a:p>
          <a:p>
            <a:pPr indent="0" marL="0">
              <a:buNone/>
            </a:pPr>
            <a:r>
              <a:rPr lang="en-US" sz="4600" b="1" dirty="0">
                <a:solidFill>
                  <a:srgbClr val="FFFFFF"/>
                </a:solidFill>
                <a:latin typeface="Segoe UI" pitchFamily="34" charset="0"/>
                <a:ea typeface="Segoe UI" pitchFamily="34" charset="-122"/>
                <a:cs typeface="Segoe UI" pitchFamily="34" charset="-120"/>
              </a:rPr>
              <a:t>TRẢ LỜI SAI</a:t>
            </a:r>
            <a:endParaRPr lang="en-US" sz="4600" dirty="0"/>
          </a:p>
        </p:txBody>
      </p:sp>
      <p:sp>
        <p:nvSpPr>
          <p:cNvPr id="45" name="Text 38"/>
          <p:cNvSpPr/>
          <p:nvPr/>
        </p:nvSpPr>
        <p:spPr>
          <a:xfrm>
            <a:off x="603504" y="2578608"/>
            <a:ext cx="1097280" cy="310896"/>
          </a:xfrm>
          <a:prstGeom prst="rect">
            <a:avLst/>
          </a:prstGeom>
          <a:noFill/>
          <a:ln/>
        </p:spPr>
        <p:txBody>
          <a:bodyPr wrap="square" lIns="0" tIns="0" rIns="0" bIns="0" rtlCol="0" anchor="ctr"/>
          <a:lstStyle/>
          <a:p>
            <a:pPr indent="0" marL="0">
              <a:buNone/>
            </a:pPr>
            <a:r>
              <a:rPr lang="en-US" sz="1400" b="1" spc="200" kern="0" dirty="0">
                <a:solidFill>
                  <a:srgbClr val="AFC2E8"/>
                </a:solidFill>
                <a:latin typeface="Segoe UI" pitchFamily="34" charset="0"/>
                <a:ea typeface="Segoe UI" pitchFamily="34" charset="-122"/>
                <a:cs typeface="Segoe UI" pitchFamily="34" charset="-120"/>
              </a:rPr>
              <a:t>BẰNG</a:t>
            </a:r>
            <a:endParaRPr lang="en-US" sz="1400" dirty="0"/>
          </a:p>
        </p:txBody>
      </p:sp>
      <p:sp>
        <p:nvSpPr>
          <p:cNvPr id="46" name="Text 39"/>
          <p:cNvSpPr/>
          <p:nvPr/>
        </p:nvSpPr>
        <p:spPr>
          <a:xfrm>
            <a:off x="603504" y="2944368"/>
            <a:ext cx="7589520" cy="603504"/>
          </a:xfrm>
          <a:prstGeom prst="rect">
            <a:avLst/>
          </a:prstGeom>
          <a:noFill/>
          <a:ln/>
        </p:spPr>
        <p:txBody>
          <a:bodyPr wrap="square" lIns="0" tIns="0" rIns="0" bIns="0" rtlCol="0" anchor="ctr"/>
          <a:lstStyle/>
          <a:p>
            <a:pPr indent="0" marL="0">
              <a:buNone/>
            </a:pPr>
            <a:r>
              <a:rPr lang="en-US" sz="2900" b="1" dirty="0">
                <a:solidFill>
                  <a:srgbClr val="0B7A75"/>
                </a:solidFill>
                <a:latin typeface="Segoe UI" pitchFamily="34" charset="0"/>
                <a:ea typeface="Segoe UI" pitchFamily="34" charset="-122"/>
                <a:cs typeface="Segoe UI" pitchFamily="34" charset="-120"/>
              </a:rPr>
              <a:t>DỮ LIỆU CÓ KIỂM SOÁT</a:t>
            </a:r>
            <a:endParaRPr lang="en-US" sz="2900" dirty="0"/>
          </a:p>
        </p:txBody>
      </p:sp>
      <p:sp>
        <p:nvSpPr>
          <p:cNvPr id="47" name="Text 40"/>
          <p:cNvSpPr/>
          <p:nvPr/>
        </p:nvSpPr>
        <p:spPr>
          <a:xfrm>
            <a:off x="603504" y="3749040"/>
            <a:ext cx="5943600" cy="603504"/>
          </a:xfrm>
          <a:prstGeom prst="rect">
            <a:avLst/>
          </a:prstGeom>
          <a:noFill/>
          <a:ln/>
        </p:spPr>
        <p:txBody>
          <a:bodyPr wrap="square" lIns="0" tIns="0" rIns="0" bIns="0" rtlCol="0" anchor="ctr"/>
          <a:lstStyle/>
          <a:p>
            <a:pPr indent="0" marL="0">
              <a:buNone/>
            </a:pPr>
            <a:r>
              <a:rPr lang="en-US" sz="2900" b="1" dirty="0">
                <a:solidFill>
                  <a:srgbClr val="0B7A75"/>
                </a:solidFill>
                <a:latin typeface="Segoe UI" pitchFamily="34" charset="0"/>
                <a:ea typeface="Segoe UI" pitchFamily="34" charset="-122"/>
                <a:cs typeface="Segoe UI" pitchFamily="34" charset="-120"/>
              </a:rPr>
              <a:t>VÀ HẬU KIỂM.</a:t>
            </a:r>
            <a:endParaRPr lang="en-US" sz="2900" dirty="0"/>
          </a:p>
        </p:txBody>
      </p:sp>
      <p:sp>
        <p:nvSpPr>
          <p:cNvPr id="48" name="Shape 41"/>
          <p:cNvSpPr/>
          <p:nvPr/>
        </p:nvSpPr>
        <p:spPr>
          <a:xfrm>
            <a:off x="9070848" y="1865376"/>
            <a:ext cx="1170432" cy="1170432"/>
          </a:xfrm>
          <a:prstGeom prst="ellipse">
            <a:avLst/>
          </a:prstGeom>
          <a:solidFill>
            <a:srgbClr val="0B7A75"/>
          </a:solidFill>
          <a:ln w="12700">
            <a:solidFill>
              <a:srgbClr val="0B7A75"/>
            </a:solidFill>
            <a:prstDash val="solid"/>
          </a:ln>
        </p:spPr>
      </p:sp>
      <p:pic>
        <p:nvPicPr>
          <p:cNvPr id="49" name="Image 5" descr="preencoded.png">    </p:cNvPr>
          <p:cNvPicPr>
            <a:picLocks noChangeAspect="1"/>
          </p:cNvPicPr>
          <p:nvPr/>
        </p:nvPicPr>
        <p:blipFill>
          <a:blip r:embed="rId6"/>
          <a:stretch>
            <a:fillRect/>
          </a:stretch>
        </p:blipFill>
        <p:spPr>
          <a:xfrm>
            <a:off x="9386865" y="2181393"/>
            <a:ext cx="538399" cy="538399"/>
          </a:xfrm>
          <a:prstGeom prst="rect">
            <a:avLst/>
          </a:prstGeom>
        </p:spPr>
      </p:pic>
      <p:sp>
        <p:nvSpPr>
          <p:cNvPr id="50" name="Shape 42"/>
          <p:cNvSpPr/>
          <p:nvPr/>
        </p:nvSpPr>
        <p:spPr>
          <a:xfrm>
            <a:off x="603504" y="6556248"/>
            <a:ext cx="10984687" cy="0"/>
          </a:xfrm>
          <a:prstGeom prst="line">
            <a:avLst/>
          </a:prstGeom>
          <a:noFill/>
          <a:ln w="8890">
            <a:solidFill>
              <a:srgbClr val="36559B"/>
            </a:solidFill>
            <a:prstDash val="solid"/>
          </a:ln>
        </p:spPr>
      </p:sp>
      <p:sp>
        <p:nvSpPr>
          <p:cNvPr id="51" name="Text 43"/>
          <p:cNvSpPr/>
          <p:nvPr/>
        </p:nvSpPr>
        <p:spPr>
          <a:xfrm>
            <a:off x="603504" y="6601968"/>
            <a:ext cx="4572000" cy="164592"/>
          </a:xfrm>
          <a:prstGeom prst="rect">
            <a:avLst/>
          </a:prstGeom>
          <a:noFill/>
          <a:ln/>
        </p:spPr>
        <p:txBody>
          <a:bodyPr wrap="square" lIns="0" tIns="0" rIns="0" bIns="0" rtlCol="0" anchor="ctr"/>
          <a:lstStyle/>
          <a:p>
            <a:pPr indent="0" marL="0">
              <a:buNone/>
            </a:pPr>
            <a:r>
              <a:rPr lang="en-US" sz="950" b="1" spc="120" kern="0" dirty="0">
                <a:solidFill>
                  <a:srgbClr val="BFD0F0"/>
                </a:solidFill>
                <a:latin typeface="Segoe UI" pitchFamily="34" charset="0"/>
                <a:ea typeface="Segoe UI" pitchFamily="34" charset="-122"/>
                <a:cs typeface="Segoe UI" pitchFamily="34" charset="-120"/>
              </a:rPr>
              <a:t>BẢN ĐỒ CÔNG AN SỐ · TỈNH PHÚ THỌ</a:t>
            </a:r>
            <a:endParaRPr lang="en-US" sz="950" dirty="0"/>
          </a:p>
        </p:txBody>
      </p:sp>
      <p:sp>
        <p:nvSpPr>
          <p:cNvPr id="52" name="Text 44"/>
          <p:cNvSpPr/>
          <p:nvPr/>
        </p:nvSpPr>
        <p:spPr>
          <a:xfrm>
            <a:off x="11222431" y="6583680"/>
            <a:ext cx="365760" cy="182880"/>
          </a:xfrm>
          <a:prstGeom prst="rect">
            <a:avLst/>
          </a:prstGeom>
          <a:noFill/>
          <a:ln/>
        </p:spPr>
        <p:txBody>
          <a:bodyPr wrap="square" lIns="0" tIns="0" rIns="0" bIns="0" rtlCol="0" anchor="ctr"/>
          <a:lstStyle/>
          <a:p>
            <a:pPr algn="r" indent="0" marL="0">
              <a:buNone/>
            </a:pPr>
            <a:r>
              <a:rPr lang="en-US" sz="1000" b="1" dirty="0">
                <a:solidFill>
                  <a:srgbClr val="BFD0F0"/>
                </a:solidFill>
                <a:latin typeface="Segoe UI" pitchFamily="34" charset="0"/>
                <a:ea typeface="Segoe UI" pitchFamily="34" charset="-122"/>
                <a:cs typeface="Segoe UI" pitchFamily="34" charset="-120"/>
              </a:rPr>
              <a:t>05</a:t>
            </a:r>
            <a:endParaRPr lang="en-US" sz="1000" dirty="0"/>
          </a:p>
        </p:txBody>
      </p:sp>
    </p:spTree>
  </p:cSld>
  <p:clrMapOvr>
    <a:masterClrMapping/>
  </p:clrMapOvr>
  <mc:AlternateContent xmlns:mc="http://schemas.openxmlformats.org/markup-compatibility/2006">
    <mc:Choice xmlns:p159="http://schemas.microsoft.com/office/powerpoint/2015/9/main" Requires="p159">
      <p:transition xmlns:p14="http://schemas.microsoft.com/office/powerpoint/2010/main" spd="med" p14:dur="800">
        <p159:morph option="byObject"/>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603504" y="347472"/>
            <a:ext cx="6858000" cy="246888"/>
          </a:xfrm>
          <a:prstGeom prst="rect">
            <a:avLst/>
          </a:prstGeom>
          <a:noFill/>
          <a:ln/>
        </p:spPr>
        <p:txBody>
          <a:bodyPr wrap="square" lIns="0" tIns="0" rIns="0" bIns="0" rtlCol="0" anchor="ctr"/>
          <a:lstStyle/>
          <a:p>
            <a:pPr indent="0" marL="0">
              <a:buNone/>
            </a:pPr>
            <a:r>
              <a:rPr lang="en-US" sz="1250" b="1" spc="220" kern="0" dirty="0">
                <a:solidFill>
                  <a:srgbClr val="1D4ED8"/>
                </a:solidFill>
                <a:latin typeface="Segoe UI" pitchFamily="34" charset="0"/>
                <a:ea typeface="Segoe UI" pitchFamily="34" charset="-122"/>
                <a:cs typeface="Segoe UI" pitchFamily="34" charset="-120"/>
              </a:rPr>
              <a:t>CÁCH TIẾP CẬN KỸ THUẬT</a:t>
            </a:r>
            <a:endParaRPr lang="en-US" sz="1250" dirty="0"/>
          </a:p>
        </p:txBody>
      </p:sp>
      <p:sp>
        <p:nvSpPr>
          <p:cNvPr id="3" name="Text 1"/>
          <p:cNvSpPr/>
          <p:nvPr/>
        </p:nvSpPr>
        <p:spPr>
          <a:xfrm>
            <a:off x="603504" y="649224"/>
            <a:ext cx="10972800" cy="530352"/>
          </a:xfrm>
          <a:prstGeom prst="rect">
            <a:avLst/>
          </a:prstGeom>
          <a:noFill/>
          <a:ln/>
        </p:spPr>
        <p:txBody>
          <a:bodyPr wrap="square" lIns="0" tIns="0" rIns="0" bIns="0" rtlCol="0" anchor="ctr"/>
          <a:lstStyle/>
          <a:p>
            <a:pPr indent="0" marL="0">
              <a:buNone/>
            </a:pPr>
            <a:r>
              <a:rPr lang="en-US" sz="2850" b="1" dirty="0">
                <a:solidFill>
                  <a:srgbClr val="0F172A"/>
                </a:solidFill>
                <a:latin typeface="Segoe UI" pitchFamily="34" charset="0"/>
                <a:ea typeface="Segoe UI" pitchFamily="34" charset="-122"/>
                <a:cs typeface="Segoe UI" pitchFamily="34" charset="-120"/>
              </a:rPr>
              <a:t>4 lớp kiểm soát nối tiếp để giảm rủi ro trả lời sai</a:t>
            </a:r>
            <a:endParaRPr lang="en-US" sz="2850" dirty="0"/>
          </a:p>
        </p:txBody>
      </p:sp>
      <p:sp>
        <p:nvSpPr>
          <p:cNvPr id="4" name="Shape 2"/>
          <p:cNvSpPr/>
          <p:nvPr/>
        </p:nvSpPr>
        <p:spPr>
          <a:xfrm>
            <a:off x="603504" y="1243584"/>
            <a:ext cx="960120" cy="0"/>
          </a:xfrm>
          <a:prstGeom prst="line">
            <a:avLst/>
          </a:prstGeom>
          <a:noFill/>
          <a:ln w="31750">
            <a:solidFill>
              <a:srgbClr val="1D4ED8"/>
            </a:solidFill>
            <a:prstDash val="solid"/>
          </a:ln>
        </p:spPr>
      </p:sp>
      <p:sp>
        <p:nvSpPr>
          <p:cNvPr id="5" name="Shape 3"/>
          <p:cNvSpPr/>
          <p:nvPr/>
        </p:nvSpPr>
        <p:spPr>
          <a:xfrm>
            <a:off x="603504" y="2569464"/>
            <a:ext cx="1078992" cy="1115568"/>
          </a:xfrm>
          <a:prstGeom prst="roundRect">
            <a:avLst>
              <a:gd name="adj" fmla="val 6780"/>
            </a:avLst>
          </a:prstGeom>
          <a:solidFill>
            <a:srgbClr val="1E3A8A"/>
          </a:solidFill>
          <a:ln w="12700">
            <a:solidFill>
              <a:srgbClr val="1E3A8A"/>
            </a:solidFill>
            <a:prstDash val="solid"/>
          </a:ln>
        </p:spPr>
      </p:sp>
      <p:pic>
        <p:nvPicPr>
          <p:cNvPr id="6" name="Image 0" descr="preencoded.png">    </p:cNvPr>
          <p:cNvPicPr>
            <a:picLocks noChangeAspect="1"/>
          </p:cNvPicPr>
          <p:nvPr/>
        </p:nvPicPr>
        <p:blipFill>
          <a:blip r:embed="rId1"/>
          <a:stretch>
            <a:fillRect/>
          </a:stretch>
        </p:blipFill>
        <p:spPr>
          <a:xfrm>
            <a:off x="969264" y="2779776"/>
            <a:ext cx="347472" cy="347472"/>
          </a:xfrm>
          <a:prstGeom prst="rect">
            <a:avLst/>
          </a:prstGeom>
        </p:spPr>
      </p:pic>
      <p:sp>
        <p:nvSpPr>
          <p:cNvPr id="7" name="Text 4"/>
          <p:cNvSpPr/>
          <p:nvPr/>
        </p:nvSpPr>
        <p:spPr>
          <a:xfrm>
            <a:off x="713232" y="3200400"/>
            <a:ext cx="859536"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Câu hỏi</a:t>
            </a:r>
            <a:endParaRPr lang="en-US" sz="1150" dirty="0"/>
          </a:p>
          <a:p>
            <a:pPr algn="ctr" indent="0" marL="0">
              <a:buNone/>
            </a:pPr>
            <a:r>
              <a:rPr lang="en-US" sz="1150" b="1" dirty="0">
                <a:solidFill>
                  <a:srgbClr val="FFFFFF"/>
                </a:solidFill>
                <a:latin typeface="Segoe UI" pitchFamily="34" charset="0"/>
                <a:ea typeface="Segoe UI" pitchFamily="34" charset="-122"/>
                <a:cs typeface="Segoe UI" pitchFamily="34" charset="-120"/>
              </a:rPr>
              <a:t>người dân</a:t>
            </a:r>
            <a:endParaRPr lang="en-US" sz="1150" dirty="0"/>
          </a:p>
        </p:txBody>
      </p:sp>
      <p:sp>
        <p:nvSpPr>
          <p:cNvPr id="8" name="Shape 5"/>
          <p:cNvSpPr/>
          <p:nvPr/>
        </p:nvSpPr>
        <p:spPr>
          <a:xfrm>
            <a:off x="1682496" y="3127248"/>
            <a:ext cx="128016" cy="0"/>
          </a:xfrm>
          <a:prstGeom prst="line">
            <a:avLst/>
          </a:prstGeom>
          <a:noFill/>
          <a:ln w="17780">
            <a:solidFill>
              <a:srgbClr val="1D4ED8"/>
            </a:solidFill>
            <a:prstDash val="solid"/>
            <a:tailEnd type="triangle"/>
          </a:ln>
        </p:spPr>
      </p:sp>
      <p:sp>
        <p:nvSpPr>
          <p:cNvPr id="9" name="Shape 6"/>
          <p:cNvSpPr/>
          <p:nvPr/>
        </p:nvSpPr>
        <p:spPr>
          <a:xfrm>
            <a:off x="1901952" y="1901952"/>
            <a:ext cx="1920240" cy="2542032"/>
          </a:xfrm>
          <a:prstGeom prst="roundRect">
            <a:avLst>
              <a:gd name="adj" fmla="val 3810"/>
            </a:avLst>
          </a:prstGeom>
          <a:solidFill>
            <a:srgbClr val="FFFFFF"/>
          </a:solidFill>
          <a:ln w="12700">
            <a:solidFill>
              <a:srgbClr val="E2E8F0"/>
            </a:solidFill>
            <a:prstDash val="solid"/>
          </a:ln>
          <a:effectLst>
            <a:outerShdw sx="100000" sy="100000" kx="0" ky="0" algn="bl" rotWithShape="0" blurRad="50800" dist="12700" dir="2700000">
              <a:srgbClr val="64748B">
                <a:alpha val="10000"/>
              </a:srgbClr>
            </a:outerShdw>
          </a:effectLst>
        </p:spPr>
      </p:sp>
      <p:sp>
        <p:nvSpPr>
          <p:cNvPr id="10" name="Shape 7"/>
          <p:cNvSpPr/>
          <p:nvPr/>
        </p:nvSpPr>
        <p:spPr>
          <a:xfrm>
            <a:off x="2020824" y="2020824"/>
            <a:ext cx="347472" cy="347472"/>
          </a:xfrm>
          <a:prstGeom prst="ellipse">
            <a:avLst/>
          </a:prstGeom>
          <a:solidFill>
            <a:srgbClr val="1E3A8A"/>
          </a:solidFill>
          <a:ln w="12700">
            <a:solidFill>
              <a:srgbClr val="1E3A8A"/>
            </a:solidFill>
            <a:prstDash val="solid"/>
          </a:ln>
        </p:spPr>
      </p:sp>
      <p:sp>
        <p:nvSpPr>
          <p:cNvPr id="11" name="Text 8"/>
          <p:cNvSpPr/>
          <p:nvPr/>
        </p:nvSpPr>
        <p:spPr>
          <a:xfrm>
            <a:off x="2020824" y="2020824"/>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1</a:t>
            </a:r>
            <a:endParaRPr lang="en-US" sz="1100" dirty="0"/>
          </a:p>
        </p:txBody>
      </p:sp>
      <p:pic>
        <p:nvPicPr>
          <p:cNvPr id="12" name="Image 1" descr="preencoded.png">    </p:cNvPr>
          <p:cNvPicPr>
            <a:picLocks noChangeAspect="1"/>
          </p:cNvPicPr>
          <p:nvPr/>
        </p:nvPicPr>
        <p:blipFill>
          <a:blip r:embed="rId2"/>
          <a:stretch>
            <a:fillRect/>
          </a:stretch>
        </p:blipFill>
        <p:spPr>
          <a:xfrm>
            <a:off x="3419856" y="2029968"/>
            <a:ext cx="228600" cy="228600"/>
          </a:xfrm>
          <a:prstGeom prst="rect">
            <a:avLst/>
          </a:prstGeom>
        </p:spPr>
      </p:pic>
      <p:sp>
        <p:nvSpPr>
          <p:cNvPr id="13" name="Text 9"/>
          <p:cNvSpPr/>
          <p:nvPr/>
        </p:nvSpPr>
        <p:spPr>
          <a:xfrm>
            <a:off x="2039112" y="2496312"/>
            <a:ext cx="1645920" cy="530352"/>
          </a:xfrm>
          <a:prstGeom prst="rect">
            <a:avLst/>
          </a:prstGeom>
          <a:noFill/>
          <a:ln/>
        </p:spPr>
        <p:txBody>
          <a:bodyPr wrap="square" lIns="0" tIns="0" rIns="0" bIns="0" rtlCol="0" anchor="t"/>
          <a:lstStyle/>
          <a:p>
            <a:pPr indent="0" marL="0">
              <a:buNone/>
            </a:pPr>
            <a:r>
              <a:rPr lang="en-US" sz="1550" b="1" dirty="0">
                <a:solidFill>
                  <a:srgbClr val="0F172A"/>
                </a:solidFill>
                <a:latin typeface="Segoe UI" pitchFamily="34" charset="0"/>
                <a:ea typeface="Segoe UI" pitchFamily="34" charset="-122"/>
                <a:cs typeface="Segoe UI" pitchFamily="34" charset="-120"/>
              </a:rPr>
              <a:t>Truy hồi có kiểm soát</a:t>
            </a:r>
            <a:endParaRPr lang="en-US" sz="1550" dirty="0"/>
          </a:p>
        </p:txBody>
      </p:sp>
      <p:sp>
        <p:nvSpPr>
          <p:cNvPr id="14" name="Text 10"/>
          <p:cNvSpPr/>
          <p:nvPr/>
        </p:nvSpPr>
        <p:spPr>
          <a:xfrm>
            <a:off x="2039112" y="3063240"/>
            <a:ext cx="1645920" cy="1261872"/>
          </a:xfrm>
          <a:prstGeom prst="rect">
            <a:avLst/>
          </a:prstGeom>
          <a:noFill/>
          <a:ln/>
        </p:spPr>
        <p:txBody>
          <a:bodyPr wrap="square" lIns="0" tIns="0" rIns="0" bIns="0" rtlCol="0" anchor="t"/>
          <a:lstStyle/>
          <a:p>
            <a:pPr indent="0" marL="0">
              <a:buNone/>
            </a:pPr>
            <a:r>
              <a:rPr lang="en-US" sz="1130" dirty="0">
                <a:solidFill>
                  <a:srgbClr val="334155"/>
                </a:solidFill>
                <a:latin typeface="Segoe UI" pitchFamily="34" charset="0"/>
                <a:ea typeface="Segoe UI" pitchFamily="34" charset="-122"/>
                <a:cs typeface="Segoe UI" pitchFamily="34" charset="-120"/>
              </a:rPr>
              <a:t>Ưu tiên nguồn đã rà soát, đúng thẩm quyền và cấp thực hiện.</a:t>
            </a:r>
            <a:endParaRPr lang="en-US" sz="1130" dirty="0"/>
          </a:p>
        </p:txBody>
      </p:sp>
      <p:sp>
        <p:nvSpPr>
          <p:cNvPr id="15" name="Shape 11"/>
          <p:cNvSpPr/>
          <p:nvPr/>
        </p:nvSpPr>
        <p:spPr>
          <a:xfrm>
            <a:off x="1975104" y="4617720"/>
            <a:ext cx="1773936" cy="347472"/>
          </a:xfrm>
          <a:prstGeom prst="roundRect">
            <a:avLst>
              <a:gd name="adj" fmla="val 21053"/>
            </a:avLst>
          </a:prstGeom>
          <a:solidFill>
            <a:srgbClr val="EFF6FF"/>
          </a:solidFill>
          <a:ln w="10160">
            <a:solidFill>
              <a:srgbClr val="1D4ED8"/>
            </a:solidFill>
            <a:prstDash val="solid"/>
          </a:ln>
        </p:spPr>
      </p:sp>
      <p:sp>
        <p:nvSpPr>
          <p:cNvPr id="16" name="Text 12"/>
          <p:cNvSpPr/>
          <p:nvPr/>
        </p:nvSpPr>
        <p:spPr>
          <a:xfrm>
            <a:off x="2048256" y="4617720"/>
            <a:ext cx="1627632" cy="347472"/>
          </a:xfrm>
          <a:prstGeom prst="rect">
            <a:avLst/>
          </a:prstGeom>
          <a:noFill/>
          <a:ln/>
        </p:spPr>
        <p:txBody>
          <a:bodyPr wrap="square" lIns="0" tIns="0" rIns="0" bIns="0" rtlCol="0" anchor="ctr"/>
          <a:lstStyle/>
          <a:p>
            <a:pPr algn="ctr" indent="0" marL="0">
              <a:buNone/>
            </a:pPr>
            <a:r>
              <a:rPr lang="en-US" sz="950" b="1" spc="60" kern="0" dirty="0">
                <a:solidFill>
                  <a:srgbClr val="1E3A8A"/>
                </a:solidFill>
                <a:latin typeface="Segoe UI" pitchFamily="34" charset="0"/>
                <a:ea typeface="Segoe UI" pitchFamily="34" charset="-122"/>
                <a:cs typeface="Segoe UI" pitchFamily="34" charset="-120"/>
              </a:rPr>
              <a:t>ĐÃ KIỂM THỬ — CHỜ PHÊ DUYỆT</a:t>
            </a:r>
            <a:endParaRPr lang="en-US" sz="950" dirty="0"/>
          </a:p>
        </p:txBody>
      </p:sp>
      <p:sp>
        <p:nvSpPr>
          <p:cNvPr id="17" name="Shape 13"/>
          <p:cNvSpPr/>
          <p:nvPr/>
        </p:nvSpPr>
        <p:spPr>
          <a:xfrm>
            <a:off x="3840480" y="3127248"/>
            <a:ext cx="182880" cy="0"/>
          </a:xfrm>
          <a:prstGeom prst="line">
            <a:avLst/>
          </a:prstGeom>
          <a:noFill/>
          <a:ln w="17780">
            <a:solidFill>
              <a:srgbClr val="1D4ED8"/>
            </a:solidFill>
            <a:prstDash val="solid"/>
            <a:tailEnd type="triangle"/>
          </a:ln>
        </p:spPr>
      </p:sp>
      <p:sp>
        <p:nvSpPr>
          <p:cNvPr id="18" name="Shape 14"/>
          <p:cNvSpPr/>
          <p:nvPr/>
        </p:nvSpPr>
        <p:spPr>
          <a:xfrm>
            <a:off x="4078224" y="1901952"/>
            <a:ext cx="1920240" cy="2542032"/>
          </a:xfrm>
          <a:prstGeom prst="roundRect">
            <a:avLst>
              <a:gd name="adj" fmla="val 3810"/>
            </a:avLst>
          </a:prstGeom>
          <a:solidFill>
            <a:srgbClr val="16306E"/>
          </a:solidFill>
          <a:ln w="19050">
            <a:solidFill>
              <a:srgbClr val="0B7A75"/>
            </a:solidFill>
            <a:prstDash val="solid"/>
          </a:ln>
          <a:effectLst>
            <a:outerShdw sx="100000" sy="100000" kx="0" ky="0" algn="bl" rotWithShape="0" blurRad="50800" dist="12700" dir="2700000">
              <a:srgbClr val="64748B">
                <a:alpha val="10000"/>
              </a:srgbClr>
            </a:outerShdw>
          </a:effectLst>
        </p:spPr>
      </p:sp>
      <p:sp>
        <p:nvSpPr>
          <p:cNvPr id="19" name="Shape 15"/>
          <p:cNvSpPr/>
          <p:nvPr/>
        </p:nvSpPr>
        <p:spPr>
          <a:xfrm>
            <a:off x="4197096" y="2020824"/>
            <a:ext cx="347472" cy="347472"/>
          </a:xfrm>
          <a:prstGeom prst="ellipse">
            <a:avLst/>
          </a:prstGeom>
          <a:solidFill>
            <a:srgbClr val="0B7A75"/>
          </a:solidFill>
          <a:ln w="12700">
            <a:solidFill>
              <a:srgbClr val="0B7A75"/>
            </a:solidFill>
            <a:prstDash val="solid"/>
          </a:ln>
        </p:spPr>
      </p:sp>
      <p:sp>
        <p:nvSpPr>
          <p:cNvPr id="20" name="Text 16"/>
          <p:cNvSpPr/>
          <p:nvPr/>
        </p:nvSpPr>
        <p:spPr>
          <a:xfrm>
            <a:off x="4197096" y="2020824"/>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2</a:t>
            </a:r>
            <a:endParaRPr lang="en-US" sz="1100" dirty="0"/>
          </a:p>
        </p:txBody>
      </p:sp>
      <p:pic>
        <p:nvPicPr>
          <p:cNvPr id="21" name="Image 2" descr="preencoded.png">    </p:cNvPr>
          <p:cNvPicPr>
            <a:picLocks noChangeAspect="1"/>
          </p:cNvPicPr>
          <p:nvPr/>
        </p:nvPicPr>
        <p:blipFill>
          <a:blip r:embed="rId3"/>
          <a:stretch>
            <a:fillRect/>
          </a:stretch>
        </p:blipFill>
        <p:spPr>
          <a:xfrm>
            <a:off x="5596128" y="2029968"/>
            <a:ext cx="228600" cy="228600"/>
          </a:xfrm>
          <a:prstGeom prst="rect">
            <a:avLst/>
          </a:prstGeom>
        </p:spPr>
      </p:pic>
      <p:sp>
        <p:nvSpPr>
          <p:cNvPr id="22" name="Text 17"/>
          <p:cNvSpPr/>
          <p:nvPr/>
        </p:nvSpPr>
        <p:spPr>
          <a:xfrm>
            <a:off x="4215384" y="2496312"/>
            <a:ext cx="1645920" cy="530352"/>
          </a:xfrm>
          <a:prstGeom prst="rect">
            <a:avLst/>
          </a:prstGeom>
          <a:noFill/>
          <a:ln/>
        </p:spPr>
        <p:txBody>
          <a:bodyPr wrap="square" lIns="0" tIns="0" rIns="0" bIns="0" rtlCol="0" anchor="t"/>
          <a:lstStyle/>
          <a:p>
            <a:pPr indent="0" marL="0">
              <a:buNone/>
            </a:pPr>
            <a:r>
              <a:rPr lang="en-US" sz="1550" b="1" dirty="0">
                <a:solidFill>
                  <a:srgbClr val="FFFFFF"/>
                </a:solidFill>
                <a:latin typeface="Segoe UI" pitchFamily="34" charset="0"/>
                <a:ea typeface="Segoe UI" pitchFamily="34" charset="-122"/>
                <a:cs typeface="Segoe UI" pitchFamily="34" charset="-120"/>
              </a:rPr>
              <a:t>AI chấm điểm lại</a:t>
            </a:r>
            <a:endParaRPr lang="en-US" sz="1550" dirty="0"/>
          </a:p>
        </p:txBody>
      </p:sp>
      <p:sp>
        <p:nvSpPr>
          <p:cNvPr id="23" name="Text 18"/>
          <p:cNvSpPr/>
          <p:nvPr/>
        </p:nvSpPr>
        <p:spPr>
          <a:xfrm>
            <a:off x="4215384" y="3063240"/>
            <a:ext cx="1645920" cy="1261872"/>
          </a:xfrm>
          <a:prstGeom prst="rect">
            <a:avLst/>
          </a:prstGeom>
          <a:noFill/>
          <a:ln/>
        </p:spPr>
        <p:txBody>
          <a:bodyPr wrap="square" lIns="0" tIns="0" rIns="0" bIns="0" rtlCol="0" anchor="t"/>
          <a:lstStyle/>
          <a:p>
            <a:pPr indent="0" marL="0">
              <a:buNone/>
            </a:pPr>
            <a:r>
              <a:rPr lang="en-US" sz="1130" dirty="0">
                <a:solidFill>
                  <a:srgbClr val="DCE6F8"/>
                </a:solidFill>
                <a:latin typeface="Segoe UI" pitchFamily="34" charset="0"/>
                <a:ea typeface="Segoe UI" pitchFamily="34" charset="-122"/>
                <a:cs typeface="Segoe UI" pitchFamily="34" charset="-120"/>
              </a:rPr>
              <a:t>Mô hình thứ hai loại tài liệu gần giống nhưng sai ngữ cảnh.</a:t>
            </a:r>
            <a:endParaRPr lang="en-US" sz="1130" dirty="0"/>
          </a:p>
        </p:txBody>
      </p:sp>
      <p:sp>
        <p:nvSpPr>
          <p:cNvPr id="24" name="Shape 19"/>
          <p:cNvSpPr/>
          <p:nvPr/>
        </p:nvSpPr>
        <p:spPr>
          <a:xfrm>
            <a:off x="4151376" y="4617720"/>
            <a:ext cx="1773936" cy="347472"/>
          </a:xfrm>
          <a:prstGeom prst="roundRect">
            <a:avLst>
              <a:gd name="adj" fmla="val 21053"/>
            </a:avLst>
          </a:prstGeom>
          <a:solidFill>
            <a:srgbClr val="0B7A75"/>
          </a:solidFill>
          <a:ln w="10160">
            <a:solidFill>
              <a:srgbClr val="0B7A75"/>
            </a:solidFill>
            <a:prstDash val="solid"/>
          </a:ln>
        </p:spPr>
      </p:sp>
      <p:sp>
        <p:nvSpPr>
          <p:cNvPr id="25" name="Text 20"/>
          <p:cNvSpPr/>
          <p:nvPr/>
        </p:nvSpPr>
        <p:spPr>
          <a:xfrm>
            <a:off x="4224528" y="4617720"/>
            <a:ext cx="1627632" cy="347472"/>
          </a:xfrm>
          <a:prstGeom prst="rect">
            <a:avLst/>
          </a:prstGeom>
          <a:noFill/>
          <a:ln/>
        </p:spPr>
        <p:txBody>
          <a:bodyPr wrap="square" lIns="0" tIns="0" rIns="0" bIns="0" rtlCol="0" anchor="ctr"/>
          <a:lstStyle/>
          <a:p>
            <a:pPr algn="ctr" indent="0" marL="0">
              <a:buNone/>
            </a:pPr>
            <a:r>
              <a:rPr lang="en-US" sz="950" b="1" spc="60" kern="0" dirty="0">
                <a:solidFill>
                  <a:srgbClr val="FFFFFF"/>
                </a:solidFill>
                <a:latin typeface="Segoe UI" pitchFamily="34" charset="0"/>
                <a:ea typeface="Segoe UI" pitchFamily="34" charset="-122"/>
                <a:cs typeface="Segoe UI" pitchFamily="34" charset="-120"/>
              </a:rPr>
              <a:t>ĐANG HOẠT ĐỘNG</a:t>
            </a:r>
            <a:endParaRPr lang="en-US" sz="950" dirty="0"/>
          </a:p>
        </p:txBody>
      </p:sp>
      <p:sp>
        <p:nvSpPr>
          <p:cNvPr id="26" name="Shape 21"/>
          <p:cNvSpPr/>
          <p:nvPr/>
        </p:nvSpPr>
        <p:spPr>
          <a:xfrm>
            <a:off x="6016752" y="3127248"/>
            <a:ext cx="182880" cy="0"/>
          </a:xfrm>
          <a:prstGeom prst="line">
            <a:avLst/>
          </a:prstGeom>
          <a:noFill/>
          <a:ln w="17780">
            <a:solidFill>
              <a:srgbClr val="1D4ED8"/>
            </a:solidFill>
            <a:prstDash val="solid"/>
            <a:tailEnd type="triangle"/>
          </a:ln>
        </p:spPr>
      </p:sp>
      <p:sp>
        <p:nvSpPr>
          <p:cNvPr id="27" name="Shape 22"/>
          <p:cNvSpPr/>
          <p:nvPr/>
        </p:nvSpPr>
        <p:spPr>
          <a:xfrm>
            <a:off x="6254496" y="1901952"/>
            <a:ext cx="1920240" cy="2542032"/>
          </a:xfrm>
          <a:prstGeom prst="roundRect">
            <a:avLst>
              <a:gd name="adj" fmla="val 3810"/>
            </a:avLst>
          </a:prstGeom>
          <a:solidFill>
            <a:srgbClr val="FFFFFF"/>
          </a:solidFill>
          <a:ln w="12700">
            <a:solidFill>
              <a:srgbClr val="E2E8F0"/>
            </a:solidFill>
            <a:prstDash val="solid"/>
          </a:ln>
          <a:effectLst>
            <a:outerShdw sx="100000" sy="100000" kx="0" ky="0" algn="bl" rotWithShape="0" blurRad="50800" dist="12700" dir="2700000">
              <a:srgbClr val="64748B">
                <a:alpha val="10000"/>
              </a:srgbClr>
            </a:outerShdw>
          </a:effectLst>
        </p:spPr>
      </p:sp>
      <p:sp>
        <p:nvSpPr>
          <p:cNvPr id="28" name="Shape 23"/>
          <p:cNvSpPr/>
          <p:nvPr/>
        </p:nvSpPr>
        <p:spPr>
          <a:xfrm>
            <a:off x="6373368" y="2020824"/>
            <a:ext cx="347472" cy="347472"/>
          </a:xfrm>
          <a:prstGeom prst="ellipse">
            <a:avLst/>
          </a:prstGeom>
          <a:solidFill>
            <a:srgbClr val="1E3A8A"/>
          </a:solidFill>
          <a:ln w="12700">
            <a:solidFill>
              <a:srgbClr val="1E3A8A"/>
            </a:solidFill>
            <a:prstDash val="solid"/>
          </a:ln>
        </p:spPr>
      </p:sp>
      <p:sp>
        <p:nvSpPr>
          <p:cNvPr id="29" name="Text 24"/>
          <p:cNvSpPr/>
          <p:nvPr/>
        </p:nvSpPr>
        <p:spPr>
          <a:xfrm>
            <a:off x="6373368" y="2020824"/>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3</a:t>
            </a:r>
            <a:endParaRPr lang="en-US" sz="1100" dirty="0"/>
          </a:p>
        </p:txBody>
      </p:sp>
      <p:pic>
        <p:nvPicPr>
          <p:cNvPr id="30" name="Image 3" descr="preencoded.png">    </p:cNvPr>
          <p:cNvPicPr>
            <a:picLocks noChangeAspect="1"/>
          </p:cNvPicPr>
          <p:nvPr/>
        </p:nvPicPr>
        <p:blipFill>
          <a:blip r:embed="rId4"/>
          <a:stretch>
            <a:fillRect/>
          </a:stretch>
        </p:blipFill>
        <p:spPr>
          <a:xfrm>
            <a:off x="7772400" y="2029968"/>
            <a:ext cx="228600" cy="228600"/>
          </a:xfrm>
          <a:prstGeom prst="rect">
            <a:avLst/>
          </a:prstGeom>
        </p:spPr>
      </p:pic>
      <p:sp>
        <p:nvSpPr>
          <p:cNvPr id="31" name="Text 25"/>
          <p:cNvSpPr/>
          <p:nvPr/>
        </p:nvSpPr>
        <p:spPr>
          <a:xfrm>
            <a:off x="6391656" y="2496312"/>
            <a:ext cx="1645920" cy="530352"/>
          </a:xfrm>
          <a:prstGeom prst="rect">
            <a:avLst/>
          </a:prstGeom>
          <a:noFill/>
          <a:ln/>
        </p:spPr>
        <p:txBody>
          <a:bodyPr wrap="square" lIns="0" tIns="0" rIns="0" bIns="0" rtlCol="0" anchor="t"/>
          <a:lstStyle/>
          <a:p>
            <a:pPr indent="0" marL="0">
              <a:buNone/>
            </a:pPr>
            <a:r>
              <a:rPr lang="en-US" sz="1550" b="1" dirty="0">
                <a:solidFill>
                  <a:srgbClr val="0F172A"/>
                </a:solidFill>
                <a:latin typeface="Segoe UI" pitchFamily="34" charset="0"/>
                <a:ea typeface="Segoe UI" pitchFamily="34" charset="-122"/>
                <a:cs typeface="Segoe UI" pitchFamily="34" charset="-120"/>
              </a:rPr>
              <a:t>Bám theo căn cứ</a:t>
            </a:r>
            <a:endParaRPr lang="en-US" sz="1550" dirty="0"/>
          </a:p>
        </p:txBody>
      </p:sp>
      <p:sp>
        <p:nvSpPr>
          <p:cNvPr id="32" name="Text 26"/>
          <p:cNvSpPr/>
          <p:nvPr/>
        </p:nvSpPr>
        <p:spPr>
          <a:xfrm>
            <a:off x="6391656" y="3063240"/>
            <a:ext cx="1645920" cy="1261872"/>
          </a:xfrm>
          <a:prstGeom prst="rect">
            <a:avLst/>
          </a:prstGeom>
          <a:noFill/>
          <a:ln/>
        </p:spPr>
        <p:txBody>
          <a:bodyPr wrap="square" lIns="0" tIns="0" rIns="0" bIns="0" rtlCol="0" anchor="t"/>
          <a:lstStyle/>
          <a:p>
            <a:pPr indent="0" marL="0">
              <a:buNone/>
            </a:pPr>
            <a:r>
              <a:rPr lang="en-US" sz="1130" dirty="0">
                <a:solidFill>
                  <a:srgbClr val="334155"/>
                </a:solidFill>
                <a:latin typeface="Segoe UI" pitchFamily="34" charset="0"/>
                <a:ea typeface="Segoe UI" pitchFamily="34" charset="-122"/>
                <a:cs typeface="Segoe UI" pitchFamily="34" charset="-120"/>
              </a:rPr>
              <a:t>Thiếu căn cứ thì báo không đủ cơ sở, thay vì suy diễn.</a:t>
            </a:r>
            <a:endParaRPr lang="en-US" sz="1130" dirty="0"/>
          </a:p>
        </p:txBody>
      </p:sp>
      <p:sp>
        <p:nvSpPr>
          <p:cNvPr id="33" name="Shape 27"/>
          <p:cNvSpPr/>
          <p:nvPr/>
        </p:nvSpPr>
        <p:spPr>
          <a:xfrm>
            <a:off x="6327648" y="4617720"/>
            <a:ext cx="1773936" cy="347472"/>
          </a:xfrm>
          <a:prstGeom prst="roundRect">
            <a:avLst>
              <a:gd name="adj" fmla="val 21053"/>
            </a:avLst>
          </a:prstGeom>
          <a:solidFill>
            <a:srgbClr val="EFF6FF"/>
          </a:solidFill>
          <a:ln w="10160">
            <a:solidFill>
              <a:srgbClr val="1D4ED8"/>
            </a:solidFill>
            <a:prstDash val="solid"/>
          </a:ln>
        </p:spPr>
      </p:sp>
      <p:sp>
        <p:nvSpPr>
          <p:cNvPr id="34" name="Text 28"/>
          <p:cNvSpPr/>
          <p:nvPr/>
        </p:nvSpPr>
        <p:spPr>
          <a:xfrm>
            <a:off x="6400800" y="4617720"/>
            <a:ext cx="1627632" cy="347472"/>
          </a:xfrm>
          <a:prstGeom prst="rect">
            <a:avLst/>
          </a:prstGeom>
          <a:noFill/>
          <a:ln/>
        </p:spPr>
        <p:txBody>
          <a:bodyPr wrap="square" lIns="0" tIns="0" rIns="0" bIns="0" rtlCol="0" anchor="ctr"/>
          <a:lstStyle/>
          <a:p>
            <a:pPr algn="ctr" indent="0" marL="0">
              <a:buNone/>
            </a:pPr>
            <a:r>
              <a:rPr lang="en-US" sz="950" b="1" spc="60" kern="0" dirty="0">
                <a:solidFill>
                  <a:srgbClr val="1E3A8A"/>
                </a:solidFill>
                <a:latin typeface="Segoe UI" pitchFamily="34" charset="0"/>
                <a:ea typeface="Segoe UI" pitchFamily="34" charset="-122"/>
                <a:cs typeface="Segoe UI" pitchFamily="34" charset="-120"/>
              </a:rPr>
              <a:t>ĐÃ KIỂM THỬ — CHỜ PHÊ DUYỆT</a:t>
            </a:r>
            <a:endParaRPr lang="en-US" sz="950" dirty="0"/>
          </a:p>
        </p:txBody>
      </p:sp>
      <p:sp>
        <p:nvSpPr>
          <p:cNvPr id="35" name="Shape 29"/>
          <p:cNvSpPr/>
          <p:nvPr/>
        </p:nvSpPr>
        <p:spPr>
          <a:xfrm>
            <a:off x="8193024" y="3127248"/>
            <a:ext cx="182880" cy="0"/>
          </a:xfrm>
          <a:prstGeom prst="line">
            <a:avLst/>
          </a:prstGeom>
          <a:noFill/>
          <a:ln w="17780">
            <a:solidFill>
              <a:srgbClr val="1D4ED8"/>
            </a:solidFill>
            <a:prstDash val="solid"/>
            <a:tailEnd type="triangle"/>
          </a:ln>
        </p:spPr>
      </p:sp>
      <p:sp>
        <p:nvSpPr>
          <p:cNvPr id="36" name="Shape 30"/>
          <p:cNvSpPr/>
          <p:nvPr/>
        </p:nvSpPr>
        <p:spPr>
          <a:xfrm>
            <a:off x="8430768" y="1901952"/>
            <a:ext cx="1920240" cy="2542032"/>
          </a:xfrm>
          <a:prstGeom prst="roundRect">
            <a:avLst>
              <a:gd name="adj" fmla="val 3810"/>
            </a:avLst>
          </a:prstGeom>
          <a:solidFill>
            <a:srgbClr val="16306E"/>
          </a:solidFill>
          <a:ln w="19050">
            <a:solidFill>
              <a:srgbClr val="0B7A75"/>
            </a:solidFill>
            <a:prstDash val="solid"/>
          </a:ln>
          <a:effectLst>
            <a:outerShdw sx="100000" sy="100000" kx="0" ky="0" algn="bl" rotWithShape="0" blurRad="50800" dist="12700" dir="2700000">
              <a:srgbClr val="64748B">
                <a:alpha val="10000"/>
              </a:srgbClr>
            </a:outerShdw>
          </a:effectLst>
        </p:spPr>
      </p:sp>
      <p:sp>
        <p:nvSpPr>
          <p:cNvPr id="37" name="Shape 31"/>
          <p:cNvSpPr/>
          <p:nvPr/>
        </p:nvSpPr>
        <p:spPr>
          <a:xfrm>
            <a:off x="8549640" y="2020824"/>
            <a:ext cx="347472" cy="347472"/>
          </a:xfrm>
          <a:prstGeom prst="ellipse">
            <a:avLst/>
          </a:prstGeom>
          <a:solidFill>
            <a:srgbClr val="0B7A75"/>
          </a:solidFill>
          <a:ln w="12700">
            <a:solidFill>
              <a:srgbClr val="0B7A75"/>
            </a:solidFill>
            <a:prstDash val="solid"/>
          </a:ln>
        </p:spPr>
      </p:sp>
      <p:sp>
        <p:nvSpPr>
          <p:cNvPr id="38" name="Text 32"/>
          <p:cNvSpPr/>
          <p:nvPr/>
        </p:nvSpPr>
        <p:spPr>
          <a:xfrm>
            <a:off x="8549640" y="2020824"/>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4</a:t>
            </a:r>
            <a:endParaRPr lang="en-US" sz="1100" dirty="0"/>
          </a:p>
        </p:txBody>
      </p:sp>
      <p:pic>
        <p:nvPicPr>
          <p:cNvPr id="39" name="Image 4" descr="preencoded.png">    </p:cNvPr>
          <p:cNvPicPr>
            <a:picLocks noChangeAspect="1"/>
          </p:cNvPicPr>
          <p:nvPr/>
        </p:nvPicPr>
        <p:blipFill>
          <a:blip r:embed="rId5"/>
          <a:stretch>
            <a:fillRect/>
          </a:stretch>
        </p:blipFill>
        <p:spPr>
          <a:xfrm>
            <a:off x="9948672" y="2029968"/>
            <a:ext cx="228600" cy="228600"/>
          </a:xfrm>
          <a:prstGeom prst="rect">
            <a:avLst/>
          </a:prstGeom>
        </p:spPr>
      </p:pic>
      <p:sp>
        <p:nvSpPr>
          <p:cNvPr id="40" name="Text 33"/>
          <p:cNvSpPr/>
          <p:nvPr/>
        </p:nvSpPr>
        <p:spPr>
          <a:xfrm>
            <a:off x="8567928" y="2496312"/>
            <a:ext cx="1645920" cy="530352"/>
          </a:xfrm>
          <a:prstGeom prst="rect">
            <a:avLst/>
          </a:prstGeom>
          <a:noFill/>
          <a:ln/>
        </p:spPr>
        <p:txBody>
          <a:bodyPr wrap="square" lIns="0" tIns="0" rIns="0" bIns="0" rtlCol="0" anchor="t"/>
          <a:lstStyle/>
          <a:p>
            <a:pPr indent="0" marL="0">
              <a:buNone/>
            </a:pPr>
            <a:r>
              <a:rPr lang="en-US" sz="1550" b="1" dirty="0">
                <a:solidFill>
                  <a:srgbClr val="FFFFFF"/>
                </a:solidFill>
                <a:latin typeface="Segoe UI" pitchFamily="34" charset="0"/>
                <a:ea typeface="Segoe UI" pitchFamily="34" charset="-122"/>
                <a:cs typeface="Segoe UI" pitchFamily="34" charset="-120"/>
              </a:rPr>
              <a:t>Hậu kiểm</a:t>
            </a:r>
            <a:endParaRPr lang="en-US" sz="1550" dirty="0"/>
          </a:p>
        </p:txBody>
      </p:sp>
      <p:sp>
        <p:nvSpPr>
          <p:cNvPr id="41" name="Text 34"/>
          <p:cNvSpPr/>
          <p:nvPr/>
        </p:nvSpPr>
        <p:spPr>
          <a:xfrm>
            <a:off x="8567928" y="3063240"/>
            <a:ext cx="1645920" cy="1261872"/>
          </a:xfrm>
          <a:prstGeom prst="rect">
            <a:avLst/>
          </a:prstGeom>
          <a:noFill/>
          <a:ln/>
        </p:spPr>
        <p:txBody>
          <a:bodyPr wrap="square" lIns="0" tIns="0" rIns="0" bIns="0" rtlCol="0" anchor="t"/>
          <a:lstStyle/>
          <a:p>
            <a:pPr indent="0" marL="0">
              <a:buNone/>
            </a:pPr>
            <a:r>
              <a:rPr lang="en-US" sz="1130" dirty="0">
                <a:solidFill>
                  <a:srgbClr val="DCE6F8"/>
                </a:solidFill>
                <a:latin typeface="Segoe UI" pitchFamily="34" charset="0"/>
                <a:ea typeface="Segoe UI" pitchFamily="34" charset="-122"/>
                <a:cs typeface="Segoe UI" pitchFamily="34" charset="-120"/>
              </a:rPr>
              <a:t>Đối chiếu số điện thoại, địa chỉ và căn cứ pháp lý với nguồn.</a:t>
            </a:r>
            <a:endParaRPr lang="en-US" sz="1130" dirty="0"/>
          </a:p>
        </p:txBody>
      </p:sp>
      <p:sp>
        <p:nvSpPr>
          <p:cNvPr id="42" name="Shape 35"/>
          <p:cNvSpPr/>
          <p:nvPr/>
        </p:nvSpPr>
        <p:spPr>
          <a:xfrm>
            <a:off x="8503920" y="4617720"/>
            <a:ext cx="1773936" cy="347472"/>
          </a:xfrm>
          <a:prstGeom prst="roundRect">
            <a:avLst>
              <a:gd name="adj" fmla="val 21053"/>
            </a:avLst>
          </a:prstGeom>
          <a:solidFill>
            <a:srgbClr val="0B7A75"/>
          </a:solidFill>
          <a:ln w="10160">
            <a:solidFill>
              <a:srgbClr val="0B7A75"/>
            </a:solidFill>
            <a:prstDash val="solid"/>
          </a:ln>
        </p:spPr>
      </p:sp>
      <p:sp>
        <p:nvSpPr>
          <p:cNvPr id="43" name="Text 36"/>
          <p:cNvSpPr/>
          <p:nvPr/>
        </p:nvSpPr>
        <p:spPr>
          <a:xfrm>
            <a:off x="8577072" y="4617720"/>
            <a:ext cx="1627632" cy="347472"/>
          </a:xfrm>
          <a:prstGeom prst="rect">
            <a:avLst/>
          </a:prstGeom>
          <a:noFill/>
          <a:ln/>
        </p:spPr>
        <p:txBody>
          <a:bodyPr wrap="square" lIns="0" tIns="0" rIns="0" bIns="0" rtlCol="0" anchor="ctr"/>
          <a:lstStyle/>
          <a:p>
            <a:pPr algn="ctr" indent="0" marL="0">
              <a:buNone/>
            </a:pPr>
            <a:r>
              <a:rPr lang="en-US" sz="950" b="1" spc="60" kern="0" dirty="0">
                <a:solidFill>
                  <a:srgbClr val="FFFFFF"/>
                </a:solidFill>
                <a:latin typeface="Segoe UI" pitchFamily="34" charset="0"/>
                <a:ea typeface="Segoe UI" pitchFamily="34" charset="-122"/>
                <a:cs typeface="Segoe UI" pitchFamily="34" charset="-120"/>
              </a:rPr>
              <a:t>ĐANG HOẠT ĐỘNG</a:t>
            </a:r>
            <a:endParaRPr lang="en-US" sz="950" dirty="0"/>
          </a:p>
        </p:txBody>
      </p:sp>
      <p:sp>
        <p:nvSpPr>
          <p:cNvPr id="44" name="Shape 37"/>
          <p:cNvSpPr/>
          <p:nvPr/>
        </p:nvSpPr>
        <p:spPr>
          <a:xfrm>
            <a:off x="10351008" y="3127248"/>
            <a:ext cx="155448" cy="0"/>
          </a:xfrm>
          <a:prstGeom prst="line">
            <a:avLst/>
          </a:prstGeom>
          <a:noFill/>
          <a:ln w="17780">
            <a:solidFill>
              <a:srgbClr val="0B7A75"/>
            </a:solidFill>
            <a:prstDash val="solid"/>
            <a:tailEnd type="triangle"/>
          </a:ln>
        </p:spPr>
      </p:sp>
      <p:sp>
        <p:nvSpPr>
          <p:cNvPr id="45" name="Shape 38"/>
          <p:cNvSpPr/>
          <p:nvPr/>
        </p:nvSpPr>
        <p:spPr>
          <a:xfrm>
            <a:off x="10561320" y="2468880"/>
            <a:ext cx="1024128" cy="1316736"/>
          </a:xfrm>
          <a:prstGeom prst="roundRect">
            <a:avLst>
              <a:gd name="adj" fmla="val 7143"/>
            </a:avLst>
          </a:prstGeom>
          <a:solidFill>
            <a:srgbClr val="EAF6F5"/>
          </a:solidFill>
          <a:ln w="15240">
            <a:solidFill>
              <a:srgbClr val="0B7A75"/>
            </a:solidFill>
            <a:prstDash val="solid"/>
          </a:ln>
        </p:spPr>
      </p:sp>
      <p:pic>
        <p:nvPicPr>
          <p:cNvPr id="46" name="Image 5" descr="preencoded.png">    </p:cNvPr>
          <p:cNvPicPr>
            <a:picLocks noChangeAspect="1"/>
          </p:cNvPicPr>
          <p:nvPr/>
        </p:nvPicPr>
        <p:blipFill>
          <a:blip r:embed="rId6"/>
          <a:stretch>
            <a:fillRect/>
          </a:stretch>
        </p:blipFill>
        <p:spPr>
          <a:xfrm>
            <a:off x="10890504" y="2660904"/>
            <a:ext cx="365760" cy="365760"/>
          </a:xfrm>
          <a:prstGeom prst="rect">
            <a:avLst/>
          </a:prstGeom>
        </p:spPr>
      </p:pic>
      <p:sp>
        <p:nvSpPr>
          <p:cNvPr id="47" name="Text 39"/>
          <p:cNvSpPr/>
          <p:nvPr/>
        </p:nvSpPr>
        <p:spPr>
          <a:xfrm>
            <a:off x="10680192" y="3127248"/>
            <a:ext cx="786384" cy="402336"/>
          </a:xfrm>
          <a:prstGeom prst="rect">
            <a:avLst/>
          </a:prstGeom>
          <a:noFill/>
          <a:ln/>
        </p:spPr>
        <p:txBody>
          <a:bodyPr wrap="square" lIns="0" tIns="0" rIns="0" bIns="0" rtlCol="0" anchor="ctr"/>
          <a:lstStyle/>
          <a:p>
            <a:pPr algn="ctr" indent="0" marL="0">
              <a:buNone/>
            </a:pPr>
            <a:r>
              <a:rPr lang="en-US" sz="1130" b="1" dirty="0">
                <a:solidFill>
                  <a:srgbClr val="0F172A"/>
                </a:solidFill>
                <a:latin typeface="Segoe UI" pitchFamily="34" charset="0"/>
                <a:ea typeface="Segoe UI" pitchFamily="34" charset="-122"/>
                <a:cs typeface="Segoe UI" pitchFamily="34" charset="-120"/>
              </a:rPr>
              <a:t>Câu trả lời</a:t>
            </a:r>
            <a:endParaRPr lang="en-US" sz="1130" dirty="0"/>
          </a:p>
          <a:p>
            <a:pPr algn="ctr" indent="0" marL="0">
              <a:buNone/>
            </a:pPr>
            <a:r>
              <a:rPr lang="en-US" sz="1130" b="1" dirty="0">
                <a:solidFill>
                  <a:srgbClr val="0F172A"/>
                </a:solidFill>
                <a:latin typeface="Segoe UI" pitchFamily="34" charset="0"/>
                <a:ea typeface="Segoe UI" pitchFamily="34" charset="-122"/>
                <a:cs typeface="Segoe UI" pitchFamily="34" charset="-120"/>
              </a:rPr>
              <a:t>kèm nguồn</a:t>
            </a:r>
            <a:endParaRPr lang="en-US" sz="1130" dirty="0"/>
          </a:p>
        </p:txBody>
      </p:sp>
      <p:sp>
        <p:nvSpPr>
          <p:cNvPr id="48" name="Shape 40"/>
          <p:cNvSpPr/>
          <p:nvPr/>
        </p:nvSpPr>
        <p:spPr>
          <a:xfrm>
            <a:off x="603504" y="5257800"/>
            <a:ext cx="10984687" cy="777240"/>
          </a:xfrm>
          <a:prstGeom prst="roundRect">
            <a:avLst>
              <a:gd name="adj" fmla="val 9412"/>
            </a:avLst>
          </a:prstGeom>
          <a:solidFill>
            <a:srgbClr val="16306E"/>
          </a:solidFill>
          <a:ln w="12700">
            <a:solidFill>
              <a:srgbClr val="16306E"/>
            </a:solidFill>
            <a:prstDash val="solid"/>
          </a:ln>
        </p:spPr>
      </p:sp>
      <p:sp>
        <p:nvSpPr>
          <p:cNvPr id="49" name="Text 41"/>
          <p:cNvSpPr/>
          <p:nvPr/>
        </p:nvSpPr>
        <p:spPr>
          <a:xfrm>
            <a:off x="832104" y="5449824"/>
            <a:ext cx="1097280" cy="182880"/>
          </a:xfrm>
          <a:prstGeom prst="rect">
            <a:avLst/>
          </a:prstGeom>
          <a:noFill/>
          <a:ln/>
        </p:spPr>
        <p:txBody>
          <a:bodyPr wrap="square" lIns="0" tIns="0" rIns="0" bIns="0" rtlCol="0" anchor="ctr"/>
          <a:lstStyle/>
          <a:p>
            <a:pPr indent="0" marL="0">
              <a:buNone/>
            </a:pPr>
            <a:r>
              <a:rPr lang="en-US" sz="1100" b="1" spc="150" kern="0" dirty="0">
                <a:solidFill>
                  <a:srgbClr val="AFC2E8"/>
                </a:solidFill>
                <a:latin typeface="Segoe UI" pitchFamily="34" charset="0"/>
                <a:ea typeface="Segoe UI" pitchFamily="34" charset="-122"/>
                <a:cs typeface="Segoe UI" pitchFamily="34" charset="-120"/>
              </a:rPr>
              <a:t>HIỆN TRẠNG</a:t>
            </a:r>
            <a:endParaRPr lang="en-US" sz="1100" dirty="0"/>
          </a:p>
        </p:txBody>
      </p:sp>
      <p:sp>
        <p:nvSpPr>
          <p:cNvPr id="50" name="Text 42"/>
          <p:cNvSpPr/>
          <p:nvPr/>
        </p:nvSpPr>
        <p:spPr>
          <a:xfrm>
            <a:off x="2112264" y="5394960"/>
            <a:ext cx="9372600" cy="320040"/>
          </a:xfrm>
          <a:prstGeom prst="rect">
            <a:avLst/>
          </a:prstGeom>
          <a:noFill/>
          <a:ln/>
        </p:spPr>
        <p:txBody>
          <a:bodyPr wrap="square" lIns="0" tIns="0" rIns="0" bIns="0" rtlCol="0" anchor="ctr"/>
          <a:lstStyle/>
          <a:p>
            <a:pPr indent="0" marL="0">
              <a:buNone/>
            </a:pPr>
            <a:r>
              <a:rPr lang="en-US" sz="1420" b="1" dirty="0">
                <a:solidFill>
                  <a:srgbClr val="FFFFFF"/>
                </a:solidFill>
                <a:latin typeface="Segoe UI" pitchFamily="34" charset="0"/>
                <a:ea typeface="Segoe UI" pitchFamily="34" charset="-122"/>
                <a:cs typeface="Segoe UI" pitchFamily="34" charset="-120"/>
              </a:rPr>
              <a:t>Lớp 2, 4 đang hoạt động; lớp 1, 3 đã kiểm thử trên bản thử nghiệm và chờ phê duyệt áp dụng.</a:t>
            </a:r>
            <a:endParaRPr lang="en-US" sz="1420" dirty="0"/>
          </a:p>
        </p:txBody>
      </p:sp>
      <p:sp>
        <p:nvSpPr>
          <p:cNvPr id="51" name="Shape 43"/>
          <p:cNvSpPr/>
          <p:nvPr/>
        </p:nvSpPr>
        <p:spPr>
          <a:xfrm>
            <a:off x="603504" y="6556248"/>
            <a:ext cx="10984687" cy="0"/>
          </a:xfrm>
          <a:prstGeom prst="line">
            <a:avLst/>
          </a:prstGeom>
          <a:noFill/>
          <a:ln w="8890">
            <a:solidFill>
              <a:srgbClr val="E2E8F0"/>
            </a:solidFill>
            <a:prstDash val="solid"/>
          </a:ln>
        </p:spPr>
      </p:sp>
      <p:sp>
        <p:nvSpPr>
          <p:cNvPr id="52" name="Text 44"/>
          <p:cNvSpPr/>
          <p:nvPr/>
        </p:nvSpPr>
        <p:spPr>
          <a:xfrm>
            <a:off x="603504" y="6601968"/>
            <a:ext cx="4572000" cy="164592"/>
          </a:xfrm>
          <a:prstGeom prst="rect">
            <a:avLst/>
          </a:prstGeom>
          <a:noFill/>
          <a:ln/>
        </p:spPr>
        <p:txBody>
          <a:bodyPr wrap="square" lIns="0" tIns="0" rIns="0" bIns="0" rtlCol="0" anchor="ctr"/>
          <a:lstStyle/>
          <a:p>
            <a:pPr indent="0" marL="0">
              <a:buNone/>
            </a:pPr>
            <a:r>
              <a:rPr lang="en-US" sz="950" b="1" spc="120" kern="0" dirty="0">
                <a:solidFill>
                  <a:srgbClr val="64748B"/>
                </a:solidFill>
                <a:latin typeface="Segoe UI" pitchFamily="34" charset="0"/>
                <a:ea typeface="Segoe UI" pitchFamily="34" charset="-122"/>
                <a:cs typeface="Segoe UI" pitchFamily="34" charset="-120"/>
              </a:rPr>
              <a:t>BẢN ĐỒ CÔNG AN SỐ · TỈNH PHÚ THỌ</a:t>
            </a:r>
            <a:endParaRPr lang="en-US" sz="950" dirty="0"/>
          </a:p>
        </p:txBody>
      </p:sp>
      <p:sp>
        <p:nvSpPr>
          <p:cNvPr id="53" name="Text 45"/>
          <p:cNvSpPr/>
          <p:nvPr/>
        </p:nvSpPr>
        <p:spPr>
          <a:xfrm>
            <a:off x="11222431" y="6583680"/>
            <a:ext cx="365760" cy="182880"/>
          </a:xfrm>
          <a:prstGeom prst="rect">
            <a:avLst/>
          </a:prstGeom>
          <a:noFill/>
          <a:ln/>
        </p:spPr>
        <p:txBody>
          <a:bodyPr wrap="square" lIns="0" tIns="0" rIns="0" bIns="0" rtlCol="0" anchor="ctr"/>
          <a:lstStyle/>
          <a:p>
            <a:pPr algn="r" indent="0" marL="0">
              <a:buNone/>
            </a:pPr>
            <a:r>
              <a:rPr lang="en-US" sz="1000" b="1" dirty="0">
                <a:solidFill>
                  <a:srgbClr val="64748B"/>
                </a:solidFill>
                <a:latin typeface="Segoe UI" pitchFamily="34" charset="0"/>
                <a:ea typeface="Segoe UI" pitchFamily="34" charset="-122"/>
                <a:cs typeface="Segoe UI" pitchFamily="34" charset="-120"/>
              </a:rPr>
              <a:t>06</a:t>
            </a:r>
            <a:endParaRPr lang="en-US" sz="1000" dirty="0"/>
          </a:p>
        </p:txBody>
      </p:sp>
    </p:spTree>
  </p:cSld>
  <p:clrMapOvr>
    <a:masterClrMapping/>
  </p:clrMapOvr>
  <mc:AlternateContent xmlns:mc="http://schemas.openxmlformats.org/markup-compatibility/2006">
    <mc:Choice xmlns:p159="http://schemas.microsoft.com/office/powerpoint/2015/9/main" Requires="p159">
      <p:transition xmlns:p14="http://schemas.microsoft.com/office/powerpoint/2010/main" spd="med" p14:dur="800">
        <p159:morph option="byObject"/>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603504" y="347472"/>
            <a:ext cx="6858000" cy="246888"/>
          </a:xfrm>
          <a:prstGeom prst="rect">
            <a:avLst/>
          </a:prstGeom>
          <a:noFill/>
          <a:ln/>
        </p:spPr>
        <p:txBody>
          <a:bodyPr wrap="square" lIns="0" tIns="0" rIns="0" bIns="0" rtlCol="0" anchor="ctr"/>
          <a:lstStyle/>
          <a:p>
            <a:pPr indent="0" marL="0">
              <a:buNone/>
            </a:pPr>
            <a:r>
              <a:rPr lang="en-US" sz="1250" b="1" spc="220" kern="0" dirty="0">
                <a:solidFill>
                  <a:srgbClr val="1D4ED8"/>
                </a:solidFill>
                <a:latin typeface="Segoe UI" pitchFamily="34" charset="0"/>
                <a:ea typeface="Segoe UI" pitchFamily="34" charset="-122"/>
                <a:cs typeface="Segoe UI" pitchFamily="34" charset="-120"/>
              </a:rPr>
              <a:t>MINH HOẠ</a:t>
            </a:r>
            <a:endParaRPr lang="en-US" sz="1250" dirty="0"/>
          </a:p>
        </p:txBody>
      </p:sp>
      <p:sp>
        <p:nvSpPr>
          <p:cNvPr id="3" name="Text 1"/>
          <p:cNvSpPr/>
          <p:nvPr/>
        </p:nvSpPr>
        <p:spPr>
          <a:xfrm>
            <a:off x="603504" y="649224"/>
            <a:ext cx="10972800" cy="530352"/>
          </a:xfrm>
          <a:prstGeom prst="rect">
            <a:avLst/>
          </a:prstGeom>
          <a:noFill/>
          <a:ln/>
        </p:spPr>
        <p:txBody>
          <a:bodyPr wrap="square" lIns="0" tIns="0" rIns="0" bIns="0" rtlCol="0" anchor="ctr"/>
          <a:lstStyle/>
          <a:p>
            <a:pPr indent="0" marL="0">
              <a:buNone/>
            </a:pPr>
            <a:r>
              <a:rPr lang="en-US" sz="3000" b="1" dirty="0">
                <a:solidFill>
                  <a:srgbClr val="0F172A"/>
                </a:solidFill>
                <a:latin typeface="Segoe UI" pitchFamily="34" charset="0"/>
                <a:ea typeface="Segoe UI" pitchFamily="34" charset="-122"/>
                <a:cs typeface="Segoe UI" pitchFamily="34" charset="-120"/>
              </a:rPr>
              <a:t>Một câu hỏi được xử lý qua ba chặng rõ ràng</a:t>
            </a:r>
            <a:endParaRPr lang="en-US" sz="3000" dirty="0"/>
          </a:p>
        </p:txBody>
      </p:sp>
      <p:sp>
        <p:nvSpPr>
          <p:cNvPr id="4" name="Shape 2"/>
          <p:cNvSpPr/>
          <p:nvPr/>
        </p:nvSpPr>
        <p:spPr>
          <a:xfrm>
            <a:off x="603504" y="1243584"/>
            <a:ext cx="960120" cy="0"/>
          </a:xfrm>
          <a:prstGeom prst="line">
            <a:avLst/>
          </a:prstGeom>
          <a:noFill/>
          <a:ln w="31750">
            <a:solidFill>
              <a:srgbClr val="1D4ED8"/>
            </a:solidFill>
            <a:prstDash val="solid"/>
          </a:ln>
        </p:spPr>
      </p:sp>
      <p:sp>
        <p:nvSpPr>
          <p:cNvPr id="5" name="Shape 3"/>
          <p:cNvSpPr/>
          <p:nvPr/>
        </p:nvSpPr>
        <p:spPr>
          <a:xfrm>
            <a:off x="603504" y="1481328"/>
            <a:ext cx="8001000" cy="4498848"/>
          </a:xfrm>
          <a:prstGeom prst="roundRect">
            <a:avLst>
              <a:gd name="adj" fmla="val 1626"/>
            </a:avLst>
          </a:prstGeom>
          <a:solidFill>
            <a:srgbClr val="0F172A"/>
          </a:solidFill>
          <a:ln w="12700">
            <a:solidFill>
              <a:srgbClr val="0F172A"/>
            </a:solidFill>
            <a:prstDash val="solid"/>
          </a:ln>
          <a:effectLst>
            <a:outerShdw sx="100000" sy="100000" kx="0" ky="0" algn="bl" rotWithShape="0" blurRad="101600" dist="25400" dir="2700000">
              <a:srgbClr val="64748B">
                <a:alpha val="18000"/>
              </a:srgbClr>
            </a:outerShdw>
          </a:effectLst>
        </p:spPr>
      </p:sp>
      <p:sp>
        <p:nvSpPr>
          <p:cNvPr id="6" name="Shape 4"/>
          <p:cNvSpPr/>
          <p:nvPr/>
        </p:nvSpPr>
        <p:spPr>
          <a:xfrm>
            <a:off x="603504" y="1481328"/>
            <a:ext cx="8001000" cy="365760"/>
          </a:xfrm>
          <a:prstGeom prst="rect">
            <a:avLst/>
          </a:prstGeom>
          <a:solidFill>
            <a:srgbClr val="16306E"/>
          </a:solidFill>
          <a:ln w="12700">
            <a:solidFill>
              <a:srgbClr val="16306E"/>
            </a:solidFill>
            <a:prstDash val="solid"/>
          </a:ln>
        </p:spPr>
      </p:sp>
      <p:sp>
        <p:nvSpPr>
          <p:cNvPr id="7" name="Text 5"/>
          <p:cNvSpPr/>
          <p:nvPr/>
        </p:nvSpPr>
        <p:spPr>
          <a:xfrm>
            <a:off x="859536" y="1591056"/>
            <a:ext cx="2834640" cy="137160"/>
          </a:xfrm>
          <a:prstGeom prst="rect">
            <a:avLst/>
          </a:prstGeom>
          <a:noFill/>
          <a:ln/>
        </p:spPr>
        <p:txBody>
          <a:bodyPr wrap="square" lIns="0" tIns="0" rIns="0" bIns="0" rtlCol="0" anchor="ctr"/>
          <a:lstStyle/>
          <a:p>
            <a:pPr indent="0" marL="0">
              <a:buNone/>
            </a:pPr>
            <a:r>
              <a:rPr lang="en-US" sz="950" b="1" spc="120" kern="0" dirty="0">
                <a:solidFill>
                  <a:srgbClr val="C9D8F5"/>
                </a:solidFill>
                <a:latin typeface="Segoe UI" pitchFamily="34" charset="0"/>
                <a:ea typeface="Segoe UI" pitchFamily="34" charset="-122"/>
                <a:cs typeface="Segoe UI" pitchFamily="34" charset="-120"/>
              </a:rPr>
              <a:t>SYSTEM CONSOLE · RAG PIPELINE</a:t>
            </a:r>
            <a:endParaRPr lang="en-US" sz="950" dirty="0"/>
          </a:p>
        </p:txBody>
      </p:sp>
      <p:sp>
        <p:nvSpPr>
          <p:cNvPr id="8" name="Shape 6"/>
          <p:cNvSpPr/>
          <p:nvPr/>
        </p:nvSpPr>
        <p:spPr>
          <a:xfrm>
            <a:off x="7278624" y="1508760"/>
            <a:ext cx="1078992" cy="347472"/>
          </a:xfrm>
          <a:prstGeom prst="roundRect">
            <a:avLst>
              <a:gd name="adj" fmla="val 21053"/>
            </a:avLst>
          </a:prstGeom>
          <a:solidFill>
            <a:srgbClr val="0B7A75"/>
          </a:solidFill>
          <a:ln w="10160">
            <a:solidFill>
              <a:srgbClr val="0B7A75"/>
            </a:solidFill>
            <a:prstDash val="solid"/>
          </a:ln>
        </p:spPr>
      </p:sp>
      <p:sp>
        <p:nvSpPr>
          <p:cNvPr id="9" name="Text 7"/>
          <p:cNvSpPr/>
          <p:nvPr/>
        </p:nvSpPr>
        <p:spPr>
          <a:xfrm>
            <a:off x="7351776" y="1508760"/>
            <a:ext cx="932688" cy="347472"/>
          </a:xfrm>
          <a:prstGeom prst="rect">
            <a:avLst/>
          </a:prstGeom>
          <a:noFill/>
          <a:ln/>
        </p:spPr>
        <p:txBody>
          <a:bodyPr wrap="square" lIns="0" tIns="0" rIns="0" bIns="0" rtlCol="0" anchor="ctr"/>
          <a:lstStyle/>
          <a:p>
            <a:pPr algn="ctr" indent="0" marL="0">
              <a:buNone/>
            </a:pPr>
            <a:r>
              <a:rPr lang="en-US" sz="950" b="1" spc="60" kern="0" dirty="0">
                <a:solidFill>
                  <a:srgbClr val="FFFFFF"/>
                </a:solidFill>
                <a:latin typeface="Segoe UI" pitchFamily="34" charset="0"/>
                <a:ea typeface="Segoe UI" pitchFamily="34" charset="-122"/>
                <a:cs typeface="Segoe UI" pitchFamily="34" charset="-120"/>
              </a:rPr>
              <a:t>MINH HOẠ</a:t>
            </a:r>
            <a:endParaRPr lang="en-US" sz="95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694944" y="1938528"/>
            <a:ext cx="7818120" cy="3950208"/>
          </a:xfrm>
          <a:prstGeom prst="rect">
            <a:avLst/>
          </a:prstGeom>
        </p:spPr>
      </p:pic>
      <p:sp>
        <p:nvSpPr>
          <p:cNvPr id="11" name="Text 8"/>
          <p:cNvSpPr/>
          <p:nvPr/>
        </p:nvSpPr>
        <p:spPr>
          <a:xfrm>
            <a:off x="8979408" y="1664208"/>
            <a:ext cx="384048" cy="228600"/>
          </a:xfrm>
          <a:prstGeom prst="rect">
            <a:avLst/>
          </a:prstGeom>
          <a:noFill/>
          <a:ln/>
        </p:spPr>
        <p:txBody>
          <a:bodyPr wrap="square" lIns="0" tIns="0" rIns="0" bIns="0" rtlCol="0" anchor="ctr"/>
          <a:lstStyle/>
          <a:p>
            <a:pPr indent="0" marL="0">
              <a:buNone/>
            </a:pPr>
            <a:r>
              <a:rPr lang="en-US" sz="1100" b="1" dirty="0">
                <a:solidFill>
                  <a:srgbClr val="0B7A75"/>
                </a:solidFill>
                <a:latin typeface="Segoe UI" pitchFamily="34" charset="0"/>
                <a:ea typeface="Segoe UI" pitchFamily="34" charset="-122"/>
                <a:cs typeface="Segoe UI" pitchFamily="34" charset="-120"/>
              </a:rPr>
              <a:t>01</a:t>
            </a:r>
            <a:endParaRPr lang="en-US" sz="1100" dirty="0"/>
          </a:p>
        </p:txBody>
      </p:sp>
      <p:sp>
        <p:nvSpPr>
          <p:cNvPr id="12" name="Text 9"/>
          <p:cNvSpPr/>
          <p:nvPr/>
        </p:nvSpPr>
        <p:spPr>
          <a:xfrm>
            <a:off x="9464040" y="1645920"/>
            <a:ext cx="2057400" cy="256032"/>
          </a:xfrm>
          <a:prstGeom prst="rect">
            <a:avLst/>
          </a:prstGeom>
          <a:noFill/>
          <a:ln/>
        </p:spPr>
        <p:txBody>
          <a:bodyPr wrap="square" lIns="0" tIns="0" rIns="0" bIns="0" rtlCol="0" anchor="ctr"/>
          <a:lstStyle/>
          <a:p>
            <a:pPr indent="0" marL="0">
              <a:buNone/>
            </a:pPr>
            <a:r>
              <a:rPr lang="en-US" sz="1620" b="1" dirty="0">
                <a:solidFill>
                  <a:srgbClr val="0F172A"/>
                </a:solidFill>
                <a:latin typeface="Segoe UI" pitchFamily="34" charset="0"/>
                <a:ea typeface="Segoe UI" pitchFamily="34" charset="-122"/>
                <a:cs typeface="Segoe UI" pitchFamily="34" charset="-120"/>
              </a:rPr>
              <a:t>Tiếp nhận câu hỏi</a:t>
            </a:r>
            <a:endParaRPr lang="en-US" sz="1620" dirty="0"/>
          </a:p>
        </p:txBody>
      </p:sp>
      <p:sp>
        <p:nvSpPr>
          <p:cNvPr id="13" name="Text 10"/>
          <p:cNvSpPr/>
          <p:nvPr/>
        </p:nvSpPr>
        <p:spPr>
          <a:xfrm>
            <a:off x="9464040" y="2011680"/>
            <a:ext cx="1993392" cy="475488"/>
          </a:xfrm>
          <a:prstGeom prst="rect">
            <a:avLst/>
          </a:prstGeom>
          <a:noFill/>
          <a:ln/>
        </p:spPr>
        <p:txBody>
          <a:bodyPr wrap="square" lIns="0" tIns="0" rIns="0" bIns="0" rtlCol="0" anchor="ctr"/>
          <a:lstStyle/>
          <a:p>
            <a:pPr indent="0" marL="0">
              <a:buNone/>
            </a:pPr>
            <a:r>
              <a:rPr lang="en-US" sz="1230" dirty="0">
                <a:solidFill>
                  <a:srgbClr val="334155"/>
                </a:solidFill>
                <a:latin typeface="Segoe UI" pitchFamily="34" charset="0"/>
                <a:ea typeface="Segoe UI" pitchFamily="34" charset="-122"/>
                <a:cs typeface="Segoe UI" pitchFamily="34" charset="-120"/>
              </a:rPr>
              <a:t>Ghi nhận đúng nhu cầu người dân.</a:t>
            </a:r>
            <a:endParaRPr lang="en-US" sz="1230" dirty="0"/>
          </a:p>
        </p:txBody>
      </p:sp>
      <p:sp>
        <p:nvSpPr>
          <p:cNvPr id="14" name="Shape 11"/>
          <p:cNvSpPr/>
          <p:nvPr/>
        </p:nvSpPr>
        <p:spPr>
          <a:xfrm>
            <a:off x="9171432" y="2075688"/>
            <a:ext cx="0" cy="777240"/>
          </a:xfrm>
          <a:prstGeom prst="line">
            <a:avLst/>
          </a:prstGeom>
          <a:noFill/>
          <a:ln w="12700">
            <a:solidFill>
              <a:srgbClr val="E2E8F0"/>
            </a:solidFill>
            <a:prstDash val="solid"/>
          </a:ln>
        </p:spPr>
      </p:sp>
      <p:sp>
        <p:nvSpPr>
          <p:cNvPr id="15" name="Text 12"/>
          <p:cNvSpPr/>
          <p:nvPr/>
        </p:nvSpPr>
        <p:spPr>
          <a:xfrm>
            <a:off x="8979408" y="2926080"/>
            <a:ext cx="384048" cy="228600"/>
          </a:xfrm>
          <a:prstGeom prst="rect">
            <a:avLst/>
          </a:prstGeom>
          <a:noFill/>
          <a:ln/>
        </p:spPr>
        <p:txBody>
          <a:bodyPr wrap="square" lIns="0" tIns="0" rIns="0" bIns="0" rtlCol="0" anchor="ctr"/>
          <a:lstStyle/>
          <a:p>
            <a:pPr indent="0" marL="0">
              <a:buNone/>
            </a:pPr>
            <a:r>
              <a:rPr lang="en-US" sz="1100" b="1" dirty="0">
                <a:solidFill>
                  <a:srgbClr val="0B7A75"/>
                </a:solidFill>
                <a:latin typeface="Segoe UI" pitchFamily="34" charset="0"/>
                <a:ea typeface="Segoe UI" pitchFamily="34" charset="-122"/>
                <a:cs typeface="Segoe UI" pitchFamily="34" charset="-120"/>
              </a:rPr>
              <a:t>02</a:t>
            </a:r>
            <a:endParaRPr lang="en-US" sz="1100" dirty="0"/>
          </a:p>
        </p:txBody>
      </p:sp>
      <p:sp>
        <p:nvSpPr>
          <p:cNvPr id="16" name="Text 13"/>
          <p:cNvSpPr/>
          <p:nvPr/>
        </p:nvSpPr>
        <p:spPr>
          <a:xfrm>
            <a:off x="9464040" y="2907792"/>
            <a:ext cx="2057400" cy="256032"/>
          </a:xfrm>
          <a:prstGeom prst="rect">
            <a:avLst/>
          </a:prstGeom>
          <a:noFill/>
          <a:ln/>
        </p:spPr>
        <p:txBody>
          <a:bodyPr wrap="square" lIns="0" tIns="0" rIns="0" bIns="0" rtlCol="0" anchor="ctr"/>
          <a:lstStyle/>
          <a:p>
            <a:pPr indent="0" marL="0">
              <a:buNone/>
            </a:pPr>
            <a:r>
              <a:rPr lang="en-US" sz="1620" b="1" dirty="0">
                <a:solidFill>
                  <a:srgbClr val="0F172A"/>
                </a:solidFill>
                <a:latin typeface="Segoe UI" pitchFamily="34" charset="0"/>
                <a:ea typeface="Segoe UI" pitchFamily="34" charset="-122"/>
                <a:cs typeface="Segoe UI" pitchFamily="34" charset="-120"/>
              </a:rPr>
              <a:t>Truy hồi và chọn lọc</a:t>
            </a:r>
            <a:endParaRPr lang="en-US" sz="1620" dirty="0"/>
          </a:p>
        </p:txBody>
      </p:sp>
      <p:sp>
        <p:nvSpPr>
          <p:cNvPr id="17" name="Text 14"/>
          <p:cNvSpPr/>
          <p:nvPr/>
        </p:nvSpPr>
        <p:spPr>
          <a:xfrm>
            <a:off x="9464040" y="3273552"/>
            <a:ext cx="1993392" cy="475488"/>
          </a:xfrm>
          <a:prstGeom prst="rect">
            <a:avLst/>
          </a:prstGeom>
          <a:noFill/>
          <a:ln/>
        </p:spPr>
        <p:txBody>
          <a:bodyPr wrap="square" lIns="0" tIns="0" rIns="0" bIns="0" rtlCol="0" anchor="ctr"/>
          <a:lstStyle/>
          <a:p>
            <a:pPr indent="0" marL="0">
              <a:buNone/>
            </a:pPr>
            <a:r>
              <a:rPr lang="en-US" sz="1230" dirty="0">
                <a:solidFill>
                  <a:srgbClr val="334155"/>
                </a:solidFill>
                <a:latin typeface="Segoe UI" pitchFamily="34" charset="0"/>
                <a:ea typeface="Segoe UI" pitchFamily="34" charset="-122"/>
                <a:cs typeface="Segoe UI" pitchFamily="34" charset="-120"/>
              </a:rPr>
              <a:t>Tìm tài liệu phù hợp, loại nhiễu.</a:t>
            </a:r>
            <a:endParaRPr lang="en-US" sz="1230" dirty="0"/>
          </a:p>
        </p:txBody>
      </p:sp>
      <p:sp>
        <p:nvSpPr>
          <p:cNvPr id="18" name="Shape 15"/>
          <p:cNvSpPr/>
          <p:nvPr/>
        </p:nvSpPr>
        <p:spPr>
          <a:xfrm>
            <a:off x="9171432" y="3337560"/>
            <a:ext cx="0" cy="777240"/>
          </a:xfrm>
          <a:prstGeom prst="line">
            <a:avLst/>
          </a:prstGeom>
          <a:noFill/>
          <a:ln w="12700">
            <a:solidFill>
              <a:srgbClr val="E2E8F0"/>
            </a:solidFill>
            <a:prstDash val="solid"/>
          </a:ln>
        </p:spPr>
      </p:sp>
      <p:sp>
        <p:nvSpPr>
          <p:cNvPr id="19" name="Text 16"/>
          <p:cNvSpPr/>
          <p:nvPr/>
        </p:nvSpPr>
        <p:spPr>
          <a:xfrm>
            <a:off x="8979408" y="4187952"/>
            <a:ext cx="384048" cy="228600"/>
          </a:xfrm>
          <a:prstGeom prst="rect">
            <a:avLst/>
          </a:prstGeom>
          <a:noFill/>
          <a:ln/>
        </p:spPr>
        <p:txBody>
          <a:bodyPr wrap="square" lIns="0" tIns="0" rIns="0" bIns="0" rtlCol="0" anchor="ctr"/>
          <a:lstStyle/>
          <a:p>
            <a:pPr indent="0" marL="0">
              <a:buNone/>
            </a:pPr>
            <a:r>
              <a:rPr lang="en-US" sz="1100" b="1" dirty="0">
                <a:solidFill>
                  <a:srgbClr val="0B7A75"/>
                </a:solidFill>
                <a:latin typeface="Segoe UI" pitchFamily="34" charset="0"/>
                <a:ea typeface="Segoe UI" pitchFamily="34" charset="-122"/>
                <a:cs typeface="Segoe UI" pitchFamily="34" charset="-120"/>
              </a:rPr>
              <a:t>03</a:t>
            </a:r>
            <a:endParaRPr lang="en-US" sz="1100" dirty="0"/>
          </a:p>
        </p:txBody>
      </p:sp>
      <p:sp>
        <p:nvSpPr>
          <p:cNvPr id="20" name="Text 17"/>
          <p:cNvSpPr/>
          <p:nvPr/>
        </p:nvSpPr>
        <p:spPr>
          <a:xfrm>
            <a:off x="9464040" y="4169664"/>
            <a:ext cx="2057400" cy="256032"/>
          </a:xfrm>
          <a:prstGeom prst="rect">
            <a:avLst/>
          </a:prstGeom>
          <a:noFill/>
          <a:ln/>
        </p:spPr>
        <p:txBody>
          <a:bodyPr wrap="square" lIns="0" tIns="0" rIns="0" bIns="0" rtlCol="0" anchor="ctr"/>
          <a:lstStyle/>
          <a:p>
            <a:pPr indent="0" marL="0">
              <a:buNone/>
            </a:pPr>
            <a:r>
              <a:rPr lang="en-US" sz="1620" b="1" dirty="0">
                <a:solidFill>
                  <a:srgbClr val="0F172A"/>
                </a:solidFill>
                <a:latin typeface="Segoe UI" pitchFamily="34" charset="0"/>
                <a:ea typeface="Segoe UI" pitchFamily="34" charset="-122"/>
                <a:cs typeface="Segoe UI" pitchFamily="34" charset="-120"/>
              </a:rPr>
              <a:t>Trả lời kèm nguồn</a:t>
            </a:r>
            <a:endParaRPr lang="en-US" sz="1620" dirty="0"/>
          </a:p>
        </p:txBody>
      </p:sp>
      <p:sp>
        <p:nvSpPr>
          <p:cNvPr id="21" name="Text 18"/>
          <p:cNvSpPr/>
          <p:nvPr/>
        </p:nvSpPr>
        <p:spPr>
          <a:xfrm>
            <a:off x="9464040" y="4535424"/>
            <a:ext cx="1993392" cy="475488"/>
          </a:xfrm>
          <a:prstGeom prst="rect">
            <a:avLst/>
          </a:prstGeom>
          <a:noFill/>
          <a:ln/>
        </p:spPr>
        <p:txBody>
          <a:bodyPr wrap="square" lIns="0" tIns="0" rIns="0" bIns="0" rtlCol="0" anchor="ctr"/>
          <a:lstStyle/>
          <a:p>
            <a:pPr indent="0" marL="0">
              <a:buNone/>
            </a:pPr>
            <a:r>
              <a:rPr lang="en-US" sz="1230" dirty="0">
                <a:solidFill>
                  <a:srgbClr val="334155"/>
                </a:solidFill>
                <a:latin typeface="Segoe UI" pitchFamily="34" charset="0"/>
                <a:ea typeface="Segoe UI" pitchFamily="34" charset="-122"/>
                <a:cs typeface="Segoe UI" pitchFamily="34" charset="-120"/>
              </a:rPr>
              <a:t>Sinh câu trả lời có căn cứ đối chiếu.</a:t>
            </a:r>
            <a:endParaRPr lang="en-US" sz="1230" dirty="0"/>
          </a:p>
        </p:txBody>
      </p:sp>
      <p:sp>
        <p:nvSpPr>
          <p:cNvPr id="22" name="Text 19"/>
          <p:cNvSpPr/>
          <p:nvPr/>
        </p:nvSpPr>
        <p:spPr>
          <a:xfrm>
            <a:off x="8942832" y="5559552"/>
            <a:ext cx="2578608" cy="512064"/>
          </a:xfrm>
          <a:prstGeom prst="rect">
            <a:avLst/>
          </a:prstGeom>
          <a:noFill/>
          <a:ln/>
        </p:spPr>
        <p:txBody>
          <a:bodyPr wrap="square" lIns="0" tIns="0" rIns="0" bIns="0" rtlCol="0" anchor="ctr"/>
          <a:lstStyle/>
          <a:p>
            <a:pPr algn="l" indent="0" marL="0">
              <a:buNone/>
            </a:pPr>
            <a:r>
              <a:rPr lang="en-US" sz="1130" i="1" dirty="0">
                <a:solidFill>
                  <a:srgbClr val="64748B"/>
                </a:solidFill>
                <a:latin typeface="Segoe UI" pitchFamily="34" charset="0"/>
                <a:ea typeface="Segoe UI" pitchFamily="34" charset="-122"/>
                <a:cs typeface="Segoe UI" pitchFamily="34" charset="-120"/>
              </a:rPr>
              <a:t>Video minh hoạ — nội dung câu hỏi và câu trả lời là ví dụ, không phải tư vấn chính thức.</a:t>
            </a:r>
            <a:endParaRPr lang="en-US" sz="1130" dirty="0"/>
          </a:p>
        </p:txBody>
      </p:sp>
      <p:sp>
        <p:nvSpPr>
          <p:cNvPr id="23" name="Shape 20"/>
          <p:cNvSpPr/>
          <p:nvPr/>
        </p:nvSpPr>
        <p:spPr>
          <a:xfrm>
            <a:off x="603504" y="6556248"/>
            <a:ext cx="10984687" cy="0"/>
          </a:xfrm>
          <a:prstGeom prst="line">
            <a:avLst/>
          </a:prstGeom>
          <a:noFill/>
          <a:ln w="8890">
            <a:solidFill>
              <a:srgbClr val="E2E8F0"/>
            </a:solidFill>
            <a:prstDash val="solid"/>
          </a:ln>
        </p:spPr>
      </p:sp>
      <p:sp>
        <p:nvSpPr>
          <p:cNvPr id="24" name="Text 21"/>
          <p:cNvSpPr/>
          <p:nvPr/>
        </p:nvSpPr>
        <p:spPr>
          <a:xfrm>
            <a:off x="603504" y="6601968"/>
            <a:ext cx="4572000" cy="164592"/>
          </a:xfrm>
          <a:prstGeom prst="rect">
            <a:avLst/>
          </a:prstGeom>
          <a:noFill/>
          <a:ln/>
        </p:spPr>
        <p:txBody>
          <a:bodyPr wrap="square" lIns="0" tIns="0" rIns="0" bIns="0" rtlCol="0" anchor="ctr"/>
          <a:lstStyle/>
          <a:p>
            <a:pPr indent="0" marL="0">
              <a:buNone/>
            </a:pPr>
            <a:r>
              <a:rPr lang="en-US" sz="950" b="1" spc="120" kern="0" dirty="0">
                <a:solidFill>
                  <a:srgbClr val="64748B"/>
                </a:solidFill>
                <a:latin typeface="Segoe UI" pitchFamily="34" charset="0"/>
                <a:ea typeface="Segoe UI" pitchFamily="34" charset="-122"/>
                <a:cs typeface="Segoe UI" pitchFamily="34" charset="-120"/>
              </a:rPr>
              <a:t>BẢN ĐỒ CÔNG AN SỐ · TỈNH PHÚ THỌ</a:t>
            </a:r>
            <a:endParaRPr lang="en-US" sz="950" dirty="0"/>
          </a:p>
        </p:txBody>
      </p:sp>
      <p:sp>
        <p:nvSpPr>
          <p:cNvPr id="25" name="Text 22"/>
          <p:cNvSpPr/>
          <p:nvPr/>
        </p:nvSpPr>
        <p:spPr>
          <a:xfrm>
            <a:off x="11222431" y="6583680"/>
            <a:ext cx="365760" cy="182880"/>
          </a:xfrm>
          <a:prstGeom prst="rect">
            <a:avLst/>
          </a:prstGeom>
          <a:noFill/>
          <a:ln/>
        </p:spPr>
        <p:txBody>
          <a:bodyPr wrap="square" lIns="0" tIns="0" rIns="0" bIns="0" rtlCol="0" anchor="ctr"/>
          <a:lstStyle/>
          <a:p>
            <a:pPr algn="r" indent="0" marL="0">
              <a:buNone/>
            </a:pPr>
            <a:r>
              <a:rPr lang="en-US" sz="1000" b="1" dirty="0">
                <a:solidFill>
                  <a:srgbClr val="64748B"/>
                </a:solidFill>
                <a:latin typeface="Segoe UI" pitchFamily="34" charset="0"/>
                <a:ea typeface="Segoe UI" pitchFamily="34" charset="-122"/>
                <a:cs typeface="Segoe UI" pitchFamily="34" charset="-120"/>
              </a:rPr>
              <a:t>07</a:t>
            </a:r>
            <a:endParaRPr lang="en-US" sz="1000" dirty="0"/>
          </a:p>
        </p:txBody>
      </p:sp>
    </p:spTree>
  </p:cSld>
  <p:clrMapOvr>
    <a:masterClrMapping/>
  </p:clrMapOvr>
  <p:transition xmlns:p14="http://schemas.microsoft.com/office/powerpoint/2010/main" spd="med" p14:dur="450">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603504" y="347472"/>
            <a:ext cx="6858000" cy="246888"/>
          </a:xfrm>
          <a:prstGeom prst="rect">
            <a:avLst/>
          </a:prstGeom>
          <a:noFill/>
          <a:ln/>
        </p:spPr>
        <p:txBody>
          <a:bodyPr wrap="square" lIns="0" tIns="0" rIns="0" bIns="0" rtlCol="0" anchor="ctr"/>
          <a:lstStyle/>
          <a:p>
            <a:pPr indent="0" marL="0">
              <a:buNone/>
            </a:pPr>
            <a:r>
              <a:rPr lang="en-US" sz="1250" b="1" spc="220" kern="0" dirty="0">
                <a:solidFill>
                  <a:srgbClr val="1D4ED8"/>
                </a:solidFill>
                <a:latin typeface="Segoe UI" pitchFamily="34" charset="0"/>
                <a:ea typeface="Segoe UI" pitchFamily="34" charset="-122"/>
                <a:cs typeface="Segoe UI" pitchFamily="34" charset="-120"/>
              </a:rPr>
              <a:t>TÍNH NĂNG VƯỢT TRỘI</a:t>
            </a:r>
            <a:endParaRPr lang="en-US" sz="1250" dirty="0"/>
          </a:p>
        </p:txBody>
      </p:sp>
      <p:sp>
        <p:nvSpPr>
          <p:cNvPr id="3" name="Text 1"/>
          <p:cNvSpPr/>
          <p:nvPr/>
        </p:nvSpPr>
        <p:spPr>
          <a:xfrm>
            <a:off x="603504" y="649224"/>
            <a:ext cx="10972800" cy="530352"/>
          </a:xfrm>
          <a:prstGeom prst="rect">
            <a:avLst/>
          </a:prstGeom>
          <a:noFill/>
          <a:ln/>
        </p:spPr>
        <p:txBody>
          <a:bodyPr wrap="square" lIns="0" tIns="0" rIns="0" bIns="0" rtlCol="0" anchor="ctr"/>
          <a:lstStyle/>
          <a:p>
            <a:pPr indent="0" marL="0">
              <a:buNone/>
            </a:pPr>
            <a:r>
              <a:rPr lang="en-US" sz="2800" b="1" dirty="0">
                <a:solidFill>
                  <a:srgbClr val="0F172A"/>
                </a:solidFill>
                <a:latin typeface="Segoe UI" pitchFamily="34" charset="0"/>
                <a:ea typeface="Segoe UI" pitchFamily="34" charset="-122"/>
                <a:cs typeface="Segoe UI" pitchFamily="34" charset="-120"/>
              </a:rPr>
              <a:t>Trải nghiệm được thiết kế cho điện thoại và vận hành thực tế</a:t>
            </a:r>
            <a:endParaRPr lang="en-US" sz="2800" dirty="0"/>
          </a:p>
        </p:txBody>
      </p:sp>
      <p:sp>
        <p:nvSpPr>
          <p:cNvPr id="4" name="Shape 2"/>
          <p:cNvSpPr/>
          <p:nvPr/>
        </p:nvSpPr>
        <p:spPr>
          <a:xfrm>
            <a:off x="603504" y="1243584"/>
            <a:ext cx="960120" cy="0"/>
          </a:xfrm>
          <a:prstGeom prst="line">
            <a:avLst/>
          </a:prstGeom>
          <a:noFill/>
          <a:ln w="31750">
            <a:solidFill>
              <a:srgbClr val="1D4ED8"/>
            </a:solidFill>
            <a:prstDash val="solid"/>
          </a:ln>
        </p:spPr>
      </p:sp>
      <p:sp>
        <p:nvSpPr>
          <p:cNvPr id="5" name="Shape 3"/>
          <p:cNvSpPr/>
          <p:nvPr/>
        </p:nvSpPr>
        <p:spPr>
          <a:xfrm>
            <a:off x="3401568" y="2304288"/>
            <a:ext cx="484632" cy="118872"/>
          </a:xfrm>
          <a:prstGeom prst="line">
            <a:avLst/>
          </a:prstGeom>
          <a:noFill/>
          <a:ln w="12700">
            <a:solidFill>
              <a:srgbClr val="1D4ED8"/>
            </a:solidFill>
            <a:prstDash val="solid"/>
            <a:tailEnd type="none"/>
          </a:ln>
        </p:spPr>
      </p:sp>
      <p:sp>
        <p:nvSpPr>
          <p:cNvPr id="6" name="Shape 4"/>
          <p:cNvSpPr/>
          <p:nvPr/>
        </p:nvSpPr>
        <p:spPr>
          <a:xfrm flipV="1">
            <a:off x="3401568" y="4617720"/>
            <a:ext cx="484632" cy="246888"/>
          </a:xfrm>
          <a:prstGeom prst="line">
            <a:avLst/>
          </a:prstGeom>
          <a:noFill/>
          <a:ln w="12700">
            <a:solidFill>
              <a:srgbClr val="1D4ED8"/>
            </a:solidFill>
            <a:prstDash val="solid"/>
            <a:tailEnd type="none"/>
          </a:ln>
        </p:spPr>
      </p:sp>
      <p:sp>
        <p:nvSpPr>
          <p:cNvPr id="7" name="Shape 5"/>
          <p:cNvSpPr/>
          <p:nvPr/>
        </p:nvSpPr>
        <p:spPr>
          <a:xfrm flipH="1">
            <a:off x="7973568" y="2304288"/>
            <a:ext cx="1536192" cy="118872"/>
          </a:xfrm>
          <a:prstGeom prst="line">
            <a:avLst/>
          </a:prstGeom>
          <a:noFill/>
          <a:ln w="12700">
            <a:solidFill>
              <a:srgbClr val="0B7A75"/>
            </a:solidFill>
            <a:prstDash val="solid"/>
            <a:tailEnd type="none"/>
          </a:ln>
        </p:spPr>
      </p:sp>
      <p:sp>
        <p:nvSpPr>
          <p:cNvPr id="8" name="Shape 6"/>
          <p:cNvSpPr/>
          <p:nvPr/>
        </p:nvSpPr>
        <p:spPr>
          <a:xfrm flipH="1" flipV="1">
            <a:off x="7973568" y="4617720"/>
            <a:ext cx="1536192" cy="246888"/>
          </a:xfrm>
          <a:prstGeom prst="line">
            <a:avLst/>
          </a:prstGeom>
          <a:noFill/>
          <a:ln w="12700">
            <a:solidFill>
              <a:srgbClr val="0B7A75"/>
            </a:solidFill>
            <a:prstDash val="solid"/>
            <a:tailEnd type="none"/>
          </a:ln>
        </p:spPr>
      </p:sp>
      <p:sp>
        <p:nvSpPr>
          <p:cNvPr id="9" name="Shape 7"/>
          <p:cNvSpPr/>
          <p:nvPr/>
        </p:nvSpPr>
        <p:spPr>
          <a:xfrm>
            <a:off x="3822192" y="1508760"/>
            <a:ext cx="1828800" cy="4187952"/>
          </a:xfrm>
          <a:prstGeom prst="roundRect">
            <a:avLst>
              <a:gd name="adj" fmla="val 8000"/>
            </a:avLst>
          </a:prstGeom>
          <a:solidFill>
            <a:srgbClr val="0F172A"/>
          </a:solidFill>
          <a:ln w="15240">
            <a:solidFill>
              <a:srgbClr val="0F172A"/>
            </a:solidFill>
            <a:prstDash val="solid"/>
          </a:ln>
          <a:effectLst>
            <a:outerShdw sx="100000" sy="100000" kx="0" ky="0" algn="bl" rotWithShape="0" blurRad="88900" dist="25400" dir="2700000">
              <a:srgbClr val="64748B">
                <a:alpha val="20000"/>
              </a:srgbClr>
            </a:outerShdw>
          </a:effectLst>
        </p:spPr>
      </p:sp>
      <p:sp>
        <p:nvSpPr>
          <p:cNvPr id="10" name="Shape 8"/>
          <p:cNvSpPr/>
          <p:nvPr/>
        </p:nvSpPr>
        <p:spPr>
          <a:xfrm>
            <a:off x="3895344" y="1618488"/>
            <a:ext cx="1682496" cy="3968496"/>
          </a:xfrm>
          <a:prstGeom prst="roundRect">
            <a:avLst>
              <a:gd name="adj" fmla="val 7065"/>
            </a:avLst>
          </a:prstGeom>
          <a:solidFill>
            <a:srgbClr val="FFFFFF"/>
          </a:solidFill>
          <a:ln w="12700">
            <a:solidFill>
              <a:srgbClr val="FFFFFF"/>
            </a:solidFill>
            <a:prstDash val="solid"/>
          </a:ln>
        </p:spPr>
      </p:sp>
      <p:sp>
        <p:nvSpPr>
          <p:cNvPr id="11" name="Shape 9"/>
          <p:cNvSpPr/>
          <p:nvPr/>
        </p:nvSpPr>
        <p:spPr>
          <a:xfrm>
            <a:off x="4498848" y="1563624"/>
            <a:ext cx="475488" cy="82296"/>
          </a:xfrm>
          <a:prstGeom prst="roundRect">
            <a:avLst>
              <a:gd name="adj" fmla="val 44444"/>
            </a:avLst>
          </a:prstGeom>
          <a:solidFill>
            <a:srgbClr val="0F172A"/>
          </a:solidFill>
          <a:ln w="12700">
            <a:solidFill>
              <a:srgbClr val="0F172A"/>
            </a:solidFill>
            <a:prstDash val="solid"/>
          </a:ln>
        </p:spPr>
      </p:sp>
      <p:pic>
        <p:nvPicPr>
          <p:cNvPr id="12" name="Image 0" descr="D:\04. Github\bandocapt\presentation\asset\chat bot tra loi.png">    </p:cNvPr>
          <p:cNvPicPr>
            <a:picLocks noChangeAspect="1"/>
          </p:cNvPicPr>
          <p:nvPr/>
        </p:nvPicPr>
        <p:blipFill>
          <a:blip r:embed="rId1"/>
          <a:srcRect l="0" r="0" t="0" b="0"/>
          <a:stretch/>
        </p:blipFill>
        <p:spPr>
          <a:xfrm>
            <a:off x="3922776" y="1673352"/>
            <a:ext cx="1627632" cy="3858768"/>
          </a:xfrm>
          <a:prstGeom prst="rect">
            <a:avLst/>
          </a:prstGeom>
        </p:spPr>
      </p:pic>
      <p:sp>
        <p:nvSpPr>
          <p:cNvPr id="13" name="Text 10"/>
          <p:cNvSpPr/>
          <p:nvPr/>
        </p:nvSpPr>
        <p:spPr>
          <a:xfrm>
            <a:off x="3730752" y="5806440"/>
            <a:ext cx="2011680" cy="219456"/>
          </a:xfrm>
          <a:prstGeom prst="rect">
            <a:avLst/>
          </a:prstGeom>
          <a:noFill/>
          <a:ln/>
        </p:spPr>
        <p:txBody>
          <a:bodyPr wrap="square" lIns="0" tIns="0" rIns="0" bIns="0" rtlCol="0" anchor="ctr"/>
          <a:lstStyle/>
          <a:p>
            <a:pPr algn="ctr" indent="0" marL="0">
              <a:buNone/>
            </a:pPr>
            <a:r>
              <a:rPr lang="en-US" sz="1100" b="1" dirty="0">
                <a:solidFill>
                  <a:srgbClr val="64748B"/>
                </a:solidFill>
                <a:latin typeface="Segoe UI" pitchFamily="34" charset="0"/>
                <a:ea typeface="Segoe UI" pitchFamily="34" charset="-122"/>
                <a:cs typeface="Segoe UI" pitchFamily="34" charset="-120"/>
              </a:rPr>
              <a:t>Hỏi đáp AI</a:t>
            </a:r>
            <a:endParaRPr lang="en-US" sz="1100" dirty="0"/>
          </a:p>
        </p:txBody>
      </p:sp>
      <p:sp>
        <p:nvSpPr>
          <p:cNvPr id="14" name="Shape 11"/>
          <p:cNvSpPr/>
          <p:nvPr/>
        </p:nvSpPr>
        <p:spPr>
          <a:xfrm>
            <a:off x="6126480" y="1783080"/>
            <a:ext cx="1828800" cy="4187952"/>
          </a:xfrm>
          <a:prstGeom prst="roundRect">
            <a:avLst>
              <a:gd name="adj" fmla="val 8000"/>
            </a:avLst>
          </a:prstGeom>
          <a:solidFill>
            <a:srgbClr val="0F172A"/>
          </a:solidFill>
          <a:ln w="15240">
            <a:solidFill>
              <a:srgbClr val="0F172A"/>
            </a:solidFill>
            <a:prstDash val="solid"/>
          </a:ln>
          <a:effectLst>
            <a:outerShdw sx="100000" sy="100000" kx="0" ky="0" algn="bl" rotWithShape="0" blurRad="88900" dist="25400" dir="2700000">
              <a:srgbClr val="64748B">
                <a:alpha val="20000"/>
              </a:srgbClr>
            </a:outerShdw>
          </a:effectLst>
        </p:spPr>
      </p:sp>
      <p:sp>
        <p:nvSpPr>
          <p:cNvPr id="15" name="Shape 12"/>
          <p:cNvSpPr/>
          <p:nvPr/>
        </p:nvSpPr>
        <p:spPr>
          <a:xfrm>
            <a:off x="6199632" y="1892808"/>
            <a:ext cx="1682496" cy="3968496"/>
          </a:xfrm>
          <a:prstGeom prst="roundRect">
            <a:avLst>
              <a:gd name="adj" fmla="val 7065"/>
            </a:avLst>
          </a:prstGeom>
          <a:solidFill>
            <a:srgbClr val="FFFFFF"/>
          </a:solidFill>
          <a:ln w="12700">
            <a:solidFill>
              <a:srgbClr val="FFFFFF"/>
            </a:solidFill>
            <a:prstDash val="solid"/>
          </a:ln>
        </p:spPr>
      </p:sp>
      <p:sp>
        <p:nvSpPr>
          <p:cNvPr id="16" name="Shape 13"/>
          <p:cNvSpPr/>
          <p:nvPr/>
        </p:nvSpPr>
        <p:spPr>
          <a:xfrm>
            <a:off x="6803136" y="1837944"/>
            <a:ext cx="475488" cy="82296"/>
          </a:xfrm>
          <a:prstGeom prst="roundRect">
            <a:avLst>
              <a:gd name="adj" fmla="val 44444"/>
            </a:avLst>
          </a:prstGeom>
          <a:solidFill>
            <a:srgbClr val="0F172A"/>
          </a:solidFill>
          <a:ln w="12700">
            <a:solidFill>
              <a:srgbClr val="0F172A"/>
            </a:solidFill>
            <a:prstDash val="solid"/>
          </a:ln>
        </p:spPr>
      </p:sp>
      <p:pic>
        <p:nvPicPr>
          <p:cNvPr id="17" name="Image 1" descr="D:\04. Github\bandocapt\presentation\asset\tra cuu thu tục tren dien thoai.png">    </p:cNvPr>
          <p:cNvPicPr>
            <a:picLocks noChangeAspect="1"/>
          </p:cNvPicPr>
          <p:nvPr/>
        </p:nvPicPr>
        <p:blipFill>
          <a:blip r:embed="rId2"/>
          <a:srcRect l="0" r="0" t="0" b="0"/>
          <a:stretch/>
        </p:blipFill>
        <p:spPr>
          <a:xfrm>
            <a:off x="6227064" y="1947672"/>
            <a:ext cx="1627632" cy="3858768"/>
          </a:xfrm>
          <a:prstGeom prst="rect">
            <a:avLst/>
          </a:prstGeom>
        </p:spPr>
      </p:pic>
      <p:sp>
        <p:nvSpPr>
          <p:cNvPr id="18" name="Text 14"/>
          <p:cNvSpPr/>
          <p:nvPr/>
        </p:nvSpPr>
        <p:spPr>
          <a:xfrm>
            <a:off x="6035040" y="6080760"/>
            <a:ext cx="2011680" cy="219456"/>
          </a:xfrm>
          <a:prstGeom prst="rect">
            <a:avLst/>
          </a:prstGeom>
          <a:noFill/>
          <a:ln/>
        </p:spPr>
        <p:txBody>
          <a:bodyPr wrap="square" lIns="0" tIns="0" rIns="0" bIns="0" rtlCol="0" anchor="ctr"/>
          <a:lstStyle/>
          <a:p>
            <a:pPr algn="ctr" indent="0" marL="0">
              <a:buNone/>
            </a:pPr>
            <a:r>
              <a:rPr lang="en-US" sz="1100" b="1" dirty="0">
                <a:solidFill>
                  <a:srgbClr val="64748B"/>
                </a:solidFill>
                <a:latin typeface="Segoe UI" pitchFamily="34" charset="0"/>
                <a:ea typeface="Segoe UI" pitchFamily="34" charset="-122"/>
                <a:cs typeface="Segoe UI" pitchFamily="34" charset="-120"/>
              </a:rPr>
              <a:t>Tra cứu thủ tục</a:t>
            </a:r>
            <a:endParaRPr lang="en-US" sz="1100" dirty="0"/>
          </a:p>
        </p:txBody>
      </p:sp>
      <p:sp>
        <p:nvSpPr>
          <p:cNvPr id="19" name="Shape 15"/>
          <p:cNvSpPr/>
          <p:nvPr/>
        </p:nvSpPr>
        <p:spPr>
          <a:xfrm>
            <a:off x="658368" y="1792224"/>
            <a:ext cx="530352" cy="530352"/>
          </a:xfrm>
          <a:prstGeom prst="ellipse">
            <a:avLst/>
          </a:prstGeom>
          <a:solidFill>
            <a:srgbClr val="EFF6FF"/>
          </a:solidFill>
          <a:ln w="12700">
            <a:solidFill>
              <a:srgbClr val="EFF6FF"/>
            </a:solidFill>
            <a:prstDash val="solid"/>
          </a:ln>
        </p:spPr>
      </p:sp>
      <p:pic>
        <p:nvPicPr>
          <p:cNvPr id="20" name="Image 2" descr="preencoded.png">    </p:cNvPr>
          <p:cNvPicPr>
            <a:picLocks noChangeAspect="1"/>
          </p:cNvPicPr>
          <p:nvPr/>
        </p:nvPicPr>
        <p:blipFill>
          <a:blip r:embed="rId3"/>
          <a:stretch>
            <a:fillRect/>
          </a:stretch>
        </p:blipFill>
        <p:spPr>
          <a:xfrm>
            <a:off x="806867" y="1940723"/>
            <a:ext cx="233355" cy="233355"/>
          </a:xfrm>
          <a:prstGeom prst="rect">
            <a:avLst/>
          </a:prstGeom>
        </p:spPr>
      </p:pic>
      <p:sp>
        <p:nvSpPr>
          <p:cNvPr id="21" name="Text 16"/>
          <p:cNvSpPr/>
          <p:nvPr/>
        </p:nvSpPr>
        <p:spPr>
          <a:xfrm>
            <a:off x="1371600" y="1783080"/>
            <a:ext cx="1828800" cy="256032"/>
          </a:xfrm>
          <a:prstGeom prst="rect">
            <a:avLst/>
          </a:prstGeom>
          <a:noFill/>
          <a:ln/>
        </p:spPr>
        <p:txBody>
          <a:bodyPr wrap="square" lIns="0" tIns="0" rIns="0" bIns="0" rtlCol="0" anchor="ctr"/>
          <a:lstStyle/>
          <a:p>
            <a:pPr indent="0" marL="0">
              <a:buNone/>
            </a:pPr>
            <a:r>
              <a:rPr lang="en-US" sz="1600" b="1" dirty="0">
                <a:solidFill>
                  <a:srgbClr val="0F172A"/>
                </a:solidFill>
                <a:latin typeface="Segoe UI" pitchFamily="34" charset="0"/>
                <a:ea typeface="Segoe UI" pitchFamily="34" charset="-122"/>
                <a:cs typeface="Segoe UI" pitchFamily="34" charset="-120"/>
              </a:rPr>
              <a:t>Thân thiện dễ dùng</a:t>
            </a:r>
            <a:endParaRPr lang="en-US" sz="1600" dirty="0"/>
          </a:p>
        </p:txBody>
      </p:sp>
      <p:sp>
        <p:nvSpPr>
          <p:cNvPr id="22" name="Text 17"/>
          <p:cNvSpPr/>
          <p:nvPr/>
        </p:nvSpPr>
        <p:spPr>
          <a:xfrm>
            <a:off x="1371600" y="2121408"/>
            <a:ext cx="1874520" cy="530352"/>
          </a:xfrm>
          <a:prstGeom prst="rect">
            <a:avLst/>
          </a:prstGeom>
          <a:noFill/>
          <a:ln/>
        </p:spPr>
        <p:txBody>
          <a:bodyPr wrap="square" lIns="0" tIns="0" rIns="0" bIns="0" rtlCol="0" anchor="ctr"/>
          <a:lstStyle/>
          <a:p>
            <a:pPr indent="0" marL="0">
              <a:buNone/>
            </a:pPr>
            <a:r>
              <a:rPr lang="en-US" sz="1230" dirty="0">
                <a:solidFill>
                  <a:srgbClr val="334155"/>
                </a:solidFill>
                <a:latin typeface="Segoe UI" pitchFamily="34" charset="0"/>
                <a:ea typeface="Segoe UI" pitchFamily="34" charset="-122"/>
                <a:cs typeface="Segoe UI" pitchFamily="34" charset="-120"/>
              </a:rPr>
              <a:t>Giao diện tối giản, tối ưu cho điện thoại.</a:t>
            </a:r>
            <a:endParaRPr lang="en-US" sz="1230" dirty="0"/>
          </a:p>
        </p:txBody>
      </p:sp>
      <p:sp>
        <p:nvSpPr>
          <p:cNvPr id="23" name="Shape 18"/>
          <p:cNvSpPr/>
          <p:nvPr/>
        </p:nvSpPr>
        <p:spPr>
          <a:xfrm>
            <a:off x="658368" y="4334256"/>
            <a:ext cx="530352" cy="530352"/>
          </a:xfrm>
          <a:prstGeom prst="ellipse">
            <a:avLst/>
          </a:prstGeom>
          <a:solidFill>
            <a:srgbClr val="EFF6FF"/>
          </a:solidFill>
          <a:ln w="12700">
            <a:solidFill>
              <a:srgbClr val="EFF6FF"/>
            </a:solidFill>
            <a:prstDash val="solid"/>
          </a:ln>
        </p:spPr>
      </p:sp>
      <p:pic>
        <p:nvPicPr>
          <p:cNvPr id="24" name="Image 3" descr="preencoded.png">    </p:cNvPr>
          <p:cNvPicPr>
            <a:picLocks noChangeAspect="1"/>
          </p:cNvPicPr>
          <p:nvPr/>
        </p:nvPicPr>
        <p:blipFill>
          <a:blip r:embed="rId4"/>
          <a:stretch>
            <a:fillRect/>
          </a:stretch>
        </p:blipFill>
        <p:spPr>
          <a:xfrm>
            <a:off x="806867" y="4482755"/>
            <a:ext cx="233355" cy="233355"/>
          </a:xfrm>
          <a:prstGeom prst="rect">
            <a:avLst/>
          </a:prstGeom>
        </p:spPr>
      </p:pic>
      <p:sp>
        <p:nvSpPr>
          <p:cNvPr id="25" name="Text 19"/>
          <p:cNvSpPr/>
          <p:nvPr/>
        </p:nvSpPr>
        <p:spPr>
          <a:xfrm>
            <a:off x="1371600" y="4325112"/>
            <a:ext cx="1828800" cy="256032"/>
          </a:xfrm>
          <a:prstGeom prst="rect">
            <a:avLst/>
          </a:prstGeom>
          <a:noFill/>
          <a:ln/>
        </p:spPr>
        <p:txBody>
          <a:bodyPr wrap="square" lIns="0" tIns="0" rIns="0" bIns="0" rtlCol="0" anchor="ctr"/>
          <a:lstStyle/>
          <a:p>
            <a:pPr indent="0" marL="0">
              <a:buNone/>
            </a:pPr>
            <a:r>
              <a:rPr lang="en-US" sz="1600" b="1" dirty="0">
                <a:solidFill>
                  <a:srgbClr val="0F172A"/>
                </a:solidFill>
                <a:latin typeface="Segoe UI" pitchFamily="34" charset="0"/>
                <a:ea typeface="Segoe UI" pitchFamily="34" charset="-122"/>
                <a:cs typeface="Segoe UI" pitchFamily="34" charset="-120"/>
              </a:rPr>
              <a:t>Hỗ trợ ngoại ngữ</a:t>
            </a:r>
            <a:endParaRPr lang="en-US" sz="1600" dirty="0"/>
          </a:p>
        </p:txBody>
      </p:sp>
      <p:sp>
        <p:nvSpPr>
          <p:cNvPr id="26" name="Text 20"/>
          <p:cNvSpPr/>
          <p:nvPr/>
        </p:nvSpPr>
        <p:spPr>
          <a:xfrm>
            <a:off x="1371600" y="4663440"/>
            <a:ext cx="1874520" cy="530352"/>
          </a:xfrm>
          <a:prstGeom prst="rect">
            <a:avLst/>
          </a:prstGeom>
          <a:noFill/>
          <a:ln/>
        </p:spPr>
        <p:txBody>
          <a:bodyPr wrap="square" lIns="0" tIns="0" rIns="0" bIns="0" rtlCol="0" anchor="ctr"/>
          <a:lstStyle/>
          <a:p>
            <a:pPr indent="0" marL="0">
              <a:buNone/>
            </a:pPr>
            <a:r>
              <a:rPr lang="en-US" sz="1230" dirty="0">
                <a:solidFill>
                  <a:srgbClr val="334155"/>
                </a:solidFill>
                <a:latin typeface="Segoe UI" pitchFamily="34" charset="0"/>
                <a:ea typeface="Segoe UI" pitchFamily="34" charset="-122"/>
                <a:cs typeface="Segoe UI" pitchFamily="34" charset="-120"/>
              </a:rPr>
              <a:t>Tiếng Anh, Trung, Hàn cho người nước ngoài.</a:t>
            </a:r>
            <a:endParaRPr lang="en-US" sz="1230" dirty="0"/>
          </a:p>
        </p:txBody>
      </p:sp>
      <p:sp>
        <p:nvSpPr>
          <p:cNvPr id="27" name="Shape 21"/>
          <p:cNvSpPr/>
          <p:nvPr/>
        </p:nvSpPr>
        <p:spPr>
          <a:xfrm>
            <a:off x="9491472" y="1792224"/>
            <a:ext cx="530352" cy="530352"/>
          </a:xfrm>
          <a:prstGeom prst="ellipse">
            <a:avLst/>
          </a:prstGeom>
          <a:solidFill>
            <a:srgbClr val="EAF6F5"/>
          </a:solidFill>
          <a:ln w="12700">
            <a:solidFill>
              <a:srgbClr val="EAF6F5"/>
            </a:solidFill>
            <a:prstDash val="solid"/>
          </a:ln>
        </p:spPr>
      </p:sp>
      <p:pic>
        <p:nvPicPr>
          <p:cNvPr id="28" name="Image 4" descr="preencoded.png">    </p:cNvPr>
          <p:cNvPicPr>
            <a:picLocks noChangeAspect="1"/>
          </p:cNvPicPr>
          <p:nvPr/>
        </p:nvPicPr>
        <p:blipFill>
          <a:blip r:embed="rId5"/>
          <a:stretch>
            <a:fillRect/>
          </a:stretch>
        </p:blipFill>
        <p:spPr>
          <a:xfrm>
            <a:off x="9639971" y="1940723"/>
            <a:ext cx="233355" cy="233355"/>
          </a:xfrm>
          <a:prstGeom prst="rect">
            <a:avLst/>
          </a:prstGeom>
        </p:spPr>
      </p:pic>
      <p:sp>
        <p:nvSpPr>
          <p:cNvPr id="29" name="Text 22"/>
          <p:cNvSpPr/>
          <p:nvPr/>
        </p:nvSpPr>
        <p:spPr>
          <a:xfrm>
            <a:off x="10204704" y="1783080"/>
            <a:ext cx="1828800" cy="256032"/>
          </a:xfrm>
          <a:prstGeom prst="rect">
            <a:avLst/>
          </a:prstGeom>
          <a:noFill/>
          <a:ln/>
        </p:spPr>
        <p:txBody>
          <a:bodyPr wrap="square" lIns="0" tIns="0" rIns="0" bIns="0" rtlCol="0" anchor="ctr"/>
          <a:lstStyle/>
          <a:p>
            <a:pPr indent="0" marL="0">
              <a:buNone/>
            </a:pPr>
            <a:r>
              <a:rPr lang="en-US" sz="1600" b="1" dirty="0">
                <a:solidFill>
                  <a:srgbClr val="0F172A"/>
                </a:solidFill>
                <a:latin typeface="Segoe UI" pitchFamily="34" charset="0"/>
                <a:ea typeface="Segoe UI" pitchFamily="34" charset="-122"/>
                <a:cs typeface="Segoe UI" pitchFamily="34" charset="-120"/>
              </a:rPr>
              <a:t>Quản trị linh hoạt</a:t>
            </a:r>
            <a:endParaRPr lang="en-US" sz="1600" dirty="0"/>
          </a:p>
        </p:txBody>
      </p:sp>
      <p:sp>
        <p:nvSpPr>
          <p:cNvPr id="30" name="Text 23"/>
          <p:cNvSpPr/>
          <p:nvPr/>
        </p:nvSpPr>
        <p:spPr>
          <a:xfrm>
            <a:off x="10204704" y="2121408"/>
            <a:ext cx="1874520" cy="530352"/>
          </a:xfrm>
          <a:prstGeom prst="rect">
            <a:avLst/>
          </a:prstGeom>
          <a:noFill/>
          <a:ln/>
        </p:spPr>
        <p:txBody>
          <a:bodyPr wrap="square" lIns="0" tIns="0" rIns="0" bIns="0" rtlCol="0" anchor="ctr"/>
          <a:lstStyle/>
          <a:p>
            <a:pPr indent="0" marL="0">
              <a:buNone/>
            </a:pPr>
            <a:r>
              <a:rPr lang="en-US" sz="1230" dirty="0">
                <a:solidFill>
                  <a:srgbClr val="334155"/>
                </a:solidFill>
                <a:latin typeface="Segoe UI" pitchFamily="34" charset="0"/>
                <a:ea typeface="Segoe UI" pitchFamily="34" charset="-122"/>
                <a:cs typeface="Segoe UI" pitchFamily="34" charset="-120"/>
              </a:rPr>
              <a:t>Cán bộ cập nhật dữ liệu qua Google Sheets.</a:t>
            </a:r>
            <a:endParaRPr lang="en-US" sz="1230" dirty="0"/>
          </a:p>
        </p:txBody>
      </p:sp>
      <p:sp>
        <p:nvSpPr>
          <p:cNvPr id="31" name="Shape 24"/>
          <p:cNvSpPr/>
          <p:nvPr/>
        </p:nvSpPr>
        <p:spPr>
          <a:xfrm>
            <a:off x="9491472" y="4334256"/>
            <a:ext cx="530352" cy="530352"/>
          </a:xfrm>
          <a:prstGeom prst="ellipse">
            <a:avLst/>
          </a:prstGeom>
          <a:solidFill>
            <a:srgbClr val="EAF6F5"/>
          </a:solidFill>
          <a:ln w="12700">
            <a:solidFill>
              <a:srgbClr val="EAF6F5"/>
            </a:solidFill>
            <a:prstDash val="solid"/>
          </a:ln>
        </p:spPr>
      </p:sp>
      <p:pic>
        <p:nvPicPr>
          <p:cNvPr id="32" name="Image 5" descr="preencoded.png">    </p:cNvPr>
          <p:cNvPicPr>
            <a:picLocks noChangeAspect="1"/>
          </p:cNvPicPr>
          <p:nvPr/>
        </p:nvPicPr>
        <p:blipFill>
          <a:blip r:embed="rId6"/>
          <a:stretch>
            <a:fillRect/>
          </a:stretch>
        </p:blipFill>
        <p:spPr>
          <a:xfrm>
            <a:off x="9639971" y="4482755"/>
            <a:ext cx="233355" cy="233355"/>
          </a:xfrm>
          <a:prstGeom prst="rect">
            <a:avLst/>
          </a:prstGeom>
        </p:spPr>
      </p:pic>
      <p:sp>
        <p:nvSpPr>
          <p:cNvPr id="33" name="Text 25"/>
          <p:cNvSpPr/>
          <p:nvPr/>
        </p:nvSpPr>
        <p:spPr>
          <a:xfrm>
            <a:off x="10204704" y="4325112"/>
            <a:ext cx="1828800" cy="256032"/>
          </a:xfrm>
          <a:prstGeom prst="rect">
            <a:avLst/>
          </a:prstGeom>
          <a:noFill/>
          <a:ln/>
        </p:spPr>
        <p:txBody>
          <a:bodyPr wrap="square" lIns="0" tIns="0" rIns="0" bIns="0" rtlCol="0" anchor="ctr"/>
          <a:lstStyle/>
          <a:p>
            <a:pPr indent="0" marL="0">
              <a:buNone/>
            </a:pPr>
            <a:r>
              <a:rPr lang="en-US" sz="1600" b="1" dirty="0">
                <a:solidFill>
                  <a:srgbClr val="0F172A"/>
                </a:solidFill>
                <a:latin typeface="Segoe UI" pitchFamily="34" charset="0"/>
                <a:ea typeface="Segoe UI" pitchFamily="34" charset="-122"/>
                <a:cs typeface="Segoe UI" pitchFamily="34" charset="-120"/>
              </a:rPr>
              <a:t>Bảo mật</a:t>
            </a:r>
            <a:endParaRPr lang="en-US" sz="1600" dirty="0"/>
          </a:p>
        </p:txBody>
      </p:sp>
      <p:sp>
        <p:nvSpPr>
          <p:cNvPr id="34" name="Text 26"/>
          <p:cNvSpPr/>
          <p:nvPr/>
        </p:nvSpPr>
        <p:spPr>
          <a:xfrm>
            <a:off x="10204704" y="4663440"/>
            <a:ext cx="1874520" cy="530352"/>
          </a:xfrm>
          <a:prstGeom prst="rect">
            <a:avLst/>
          </a:prstGeom>
          <a:noFill/>
          <a:ln/>
        </p:spPr>
        <p:txBody>
          <a:bodyPr wrap="square" lIns="0" tIns="0" rIns="0" bIns="0" rtlCol="0" anchor="ctr"/>
          <a:lstStyle/>
          <a:p>
            <a:pPr indent="0" marL="0">
              <a:buNone/>
            </a:pPr>
            <a:r>
              <a:rPr lang="en-US" sz="1230" dirty="0">
                <a:solidFill>
                  <a:srgbClr val="334155"/>
                </a:solidFill>
                <a:latin typeface="Segoe UI" pitchFamily="34" charset="0"/>
                <a:ea typeface="Segoe UI" pitchFamily="34" charset="-122"/>
                <a:cs typeface="Segoe UI" pitchFamily="34" charset="-120"/>
              </a:rPr>
              <a:t>Cloudflare Turnstile ngăn tấn công tự động.</a:t>
            </a:r>
            <a:endParaRPr lang="en-US" sz="1230" dirty="0"/>
          </a:p>
        </p:txBody>
      </p:sp>
      <p:sp>
        <p:nvSpPr>
          <p:cNvPr id="35" name="Shape 27"/>
          <p:cNvSpPr/>
          <p:nvPr/>
        </p:nvSpPr>
        <p:spPr>
          <a:xfrm>
            <a:off x="603504" y="6556248"/>
            <a:ext cx="10984687" cy="0"/>
          </a:xfrm>
          <a:prstGeom prst="line">
            <a:avLst/>
          </a:prstGeom>
          <a:noFill/>
          <a:ln w="8890">
            <a:solidFill>
              <a:srgbClr val="E2E8F0"/>
            </a:solidFill>
            <a:prstDash val="solid"/>
          </a:ln>
        </p:spPr>
      </p:sp>
      <p:sp>
        <p:nvSpPr>
          <p:cNvPr id="36" name="Text 28"/>
          <p:cNvSpPr/>
          <p:nvPr/>
        </p:nvSpPr>
        <p:spPr>
          <a:xfrm>
            <a:off x="603504" y="6601968"/>
            <a:ext cx="4572000" cy="164592"/>
          </a:xfrm>
          <a:prstGeom prst="rect">
            <a:avLst/>
          </a:prstGeom>
          <a:noFill/>
          <a:ln/>
        </p:spPr>
        <p:txBody>
          <a:bodyPr wrap="square" lIns="0" tIns="0" rIns="0" bIns="0" rtlCol="0" anchor="ctr"/>
          <a:lstStyle/>
          <a:p>
            <a:pPr indent="0" marL="0">
              <a:buNone/>
            </a:pPr>
            <a:r>
              <a:rPr lang="en-US" sz="950" b="1" spc="120" kern="0" dirty="0">
                <a:solidFill>
                  <a:srgbClr val="64748B"/>
                </a:solidFill>
                <a:latin typeface="Segoe UI" pitchFamily="34" charset="0"/>
                <a:ea typeface="Segoe UI" pitchFamily="34" charset="-122"/>
                <a:cs typeface="Segoe UI" pitchFamily="34" charset="-120"/>
              </a:rPr>
              <a:t>BẢN ĐỒ CÔNG AN SỐ · TỈNH PHÚ THỌ</a:t>
            </a:r>
            <a:endParaRPr lang="en-US" sz="950" dirty="0"/>
          </a:p>
        </p:txBody>
      </p:sp>
      <p:sp>
        <p:nvSpPr>
          <p:cNvPr id="37" name="Text 29"/>
          <p:cNvSpPr/>
          <p:nvPr/>
        </p:nvSpPr>
        <p:spPr>
          <a:xfrm>
            <a:off x="11222431" y="6583680"/>
            <a:ext cx="365760" cy="182880"/>
          </a:xfrm>
          <a:prstGeom prst="rect">
            <a:avLst/>
          </a:prstGeom>
          <a:noFill/>
          <a:ln/>
        </p:spPr>
        <p:txBody>
          <a:bodyPr wrap="square" lIns="0" tIns="0" rIns="0" bIns="0" rtlCol="0" anchor="ctr"/>
          <a:lstStyle/>
          <a:p>
            <a:pPr algn="r" indent="0" marL="0">
              <a:buNone/>
            </a:pPr>
            <a:r>
              <a:rPr lang="en-US" sz="1000" b="1" dirty="0">
                <a:solidFill>
                  <a:srgbClr val="64748B"/>
                </a:solidFill>
                <a:latin typeface="Segoe UI" pitchFamily="34" charset="0"/>
                <a:ea typeface="Segoe UI" pitchFamily="34" charset="-122"/>
                <a:cs typeface="Segoe UI" pitchFamily="34" charset="-120"/>
              </a:rPr>
              <a:t>08</a:t>
            </a:r>
            <a:endParaRPr lang="en-US" sz="1000" dirty="0"/>
          </a:p>
        </p:txBody>
      </p:sp>
    </p:spTree>
  </p:cSld>
  <p:clrMapOvr>
    <a:masterClrMapping/>
  </p:clrMapOvr>
  <p:transition xmlns:p14="http://schemas.microsoft.com/office/powerpoint/2010/main" spd="med" p14:dur="450">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3A8A"/>
        </a:solidFill>
      </p:bgPr>
    </p:bg>
    <p:spTree>
      <p:nvGrpSpPr>
        <p:cNvPr id="1" name=""/>
        <p:cNvGrpSpPr/>
        <p:nvPr/>
      </p:nvGrpSpPr>
      <p:grpSpPr>
        <a:xfrm>
          <a:off x="0" y="0"/>
          <a:ext cx="0" cy="0"/>
          <a:chOff x="0" y="0"/>
          <a:chExt cx="0" cy="0"/>
        </a:xfrm>
      </p:grpSpPr>
      <p:sp>
        <p:nvSpPr>
          <p:cNvPr id="2" name="Text 0"/>
          <p:cNvSpPr/>
          <p:nvPr/>
        </p:nvSpPr>
        <p:spPr>
          <a:xfrm>
            <a:off x="603504" y="347472"/>
            <a:ext cx="6858000" cy="246888"/>
          </a:xfrm>
          <a:prstGeom prst="rect">
            <a:avLst/>
          </a:prstGeom>
          <a:noFill/>
          <a:ln/>
        </p:spPr>
        <p:txBody>
          <a:bodyPr wrap="square" lIns="0" tIns="0" rIns="0" bIns="0" rtlCol="0" anchor="ctr"/>
          <a:lstStyle/>
          <a:p>
            <a:pPr indent="0" marL="0">
              <a:buNone/>
            </a:pPr>
            <a:r>
              <a:rPr lang="en-US" sz="1250" b="1" spc="220" kern="0" dirty="0">
                <a:solidFill>
                  <a:srgbClr val="C9D8F5"/>
                </a:solidFill>
                <a:latin typeface="Segoe UI" pitchFamily="34" charset="0"/>
                <a:ea typeface="Segoe UI" pitchFamily="34" charset="-122"/>
                <a:cs typeface="Segoe UI" pitchFamily="34" charset="-120"/>
              </a:rPr>
              <a:t>GIÁ TRỊ CÓ THỂ ĐO KIỂM</a:t>
            </a:r>
            <a:endParaRPr lang="en-US" sz="1250" dirty="0"/>
          </a:p>
        </p:txBody>
      </p:sp>
      <p:sp>
        <p:nvSpPr>
          <p:cNvPr id="3" name="Text 1"/>
          <p:cNvSpPr/>
          <p:nvPr/>
        </p:nvSpPr>
        <p:spPr>
          <a:xfrm>
            <a:off x="603504" y="649224"/>
            <a:ext cx="10972800" cy="530352"/>
          </a:xfrm>
          <a:prstGeom prst="rect">
            <a:avLst/>
          </a:prstGeom>
          <a:noFill/>
          <a:ln/>
        </p:spPr>
        <p:txBody>
          <a:bodyPr wrap="square" lIns="0" tIns="0" rIns="0" bIns="0" rtlCol="0" anchor="ctr"/>
          <a:lstStyle/>
          <a:p>
            <a:pPr indent="0" marL="0">
              <a:buNone/>
            </a:pPr>
            <a:r>
              <a:rPr lang="en-US" sz="3000" b="1" dirty="0">
                <a:solidFill>
                  <a:srgbClr val="FFFFFF"/>
                </a:solidFill>
                <a:latin typeface="Segoe UI" pitchFamily="34" charset="0"/>
                <a:ea typeface="Segoe UI" pitchFamily="34" charset="-122"/>
                <a:cs typeface="Segoe UI" pitchFamily="34" charset="-120"/>
              </a:rPr>
              <a:t>Hai giá trị đã có thể trình bày trung thực</a:t>
            </a:r>
            <a:endParaRPr lang="en-US" sz="3000" dirty="0"/>
          </a:p>
        </p:txBody>
      </p:sp>
      <p:sp>
        <p:nvSpPr>
          <p:cNvPr id="4" name="Shape 2"/>
          <p:cNvSpPr/>
          <p:nvPr/>
        </p:nvSpPr>
        <p:spPr>
          <a:xfrm>
            <a:off x="603504" y="1243584"/>
            <a:ext cx="960120" cy="0"/>
          </a:xfrm>
          <a:prstGeom prst="line">
            <a:avLst/>
          </a:prstGeom>
          <a:noFill/>
          <a:ln w="31750">
            <a:solidFill>
              <a:srgbClr val="0B7A75"/>
            </a:solidFill>
            <a:prstDash val="solid"/>
          </a:ln>
        </p:spPr>
      </p:sp>
      <p:sp>
        <p:nvSpPr>
          <p:cNvPr id="5" name="Shape 3"/>
          <p:cNvSpPr/>
          <p:nvPr/>
        </p:nvSpPr>
        <p:spPr>
          <a:xfrm>
            <a:off x="658368" y="1572768"/>
            <a:ext cx="5321808" cy="4133088"/>
          </a:xfrm>
          <a:prstGeom prst="roundRect">
            <a:avLst>
              <a:gd name="adj" fmla="val 2212"/>
            </a:avLst>
          </a:prstGeom>
          <a:solidFill>
            <a:srgbClr val="16306E"/>
          </a:solidFill>
          <a:ln w="12700">
            <a:solidFill>
              <a:srgbClr val="36559B"/>
            </a:solidFill>
            <a:prstDash val="solid"/>
          </a:ln>
        </p:spPr>
      </p:sp>
      <p:sp>
        <p:nvSpPr>
          <p:cNvPr id="6" name="Text 4"/>
          <p:cNvSpPr/>
          <p:nvPr/>
        </p:nvSpPr>
        <p:spPr>
          <a:xfrm>
            <a:off x="978408" y="1892808"/>
            <a:ext cx="4681728" cy="822960"/>
          </a:xfrm>
          <a:prstGeom prst="rect">
            <a:avLst/>
          </a:prstGeom>
          <a:noFill/>
          <a:ln/>
        </p:spPr>
        <p:txBody>
          <a:bodyPr wrap="square" lIns="0" tIns="0" rIns="0" bIns="0" rtlCol="0" anchor="ctr"/>
          <a:lstStyle/>
          <a:p>
            <a:pPr indent="0" marL="0">
              <a:buNone/>
            </a:pPr>
            <a:r>
              <a:rPr lang="en-US" sz="4200" b="1" dirty="0">
                <a:solidFill>
                  <a:srgbClr val="FFFFFF"/>
                </a:solidFill>
                <a:latin typeface="Segoe UI" pitchFamily="34" charset="0"/>
                <a:ea typeface="Segoe UI" pitchFamily="34" charset="-122"/>
                <a:cs typeface="Segoe UI" pitchFamily="34" charset="-120"/>
              </a:rPr>
              <a:t>24/7</a:t>
            </a:r>
            <a:endParaRPr lang="en-US" sz="4200" dirty="0"/>
          </a:p>
        </p:txBody>
      </p:sp>
      <p:sp>
        <p:nvSpPr>
          <p:cNvPr id="7" name="Text 5"/>
          <p:cNvSpPr/>
          <p:nvPr/>
        </p:nvSpPr>
        <p:spPr>
          <a:xfrm>
            <a:off x="978408" y="2807208"/>
            <a:ext cx="4681728" cy="658368"/>
          </a:xfrm>
          <a:prstGeom prst="rect">
            <a:avLst/>
          </a:prstGeom>
          <a:noFill/>
          <a:ln/>
        </p:spPr>
        <p:txBody>
          <a:bodyPr wrap="square" lIns="0" tIns="0" rIns="0" bIns="0" rtlCol="0" anchor="ctr"/>
          <a:lstStyle/>
          <a:p>
            <a:pPr indent="0" marL="0">
              <a:buNone/>
            </a:pPr>
            <a:r>
              <a:rPr lang="en-US" sz="1600" dirty="0">
                <a:solidFill>
                  <a:srgbClr val="DCE6F8"/>
                </a:solidFill>
                <a:latin typeface="Segoe UI" pitchFamily="34" charset="0"/>
                <a:ea typeface="Segoe UI" pitchFamily="34" charset="-122"/>
                <a:cs typeface="Segoe UI" pitchFamily="34" charset="-120"/>
              </a:rPr>
              <a:t>Tra cứu ngoài giờ hành chính, không phải chờ tới lượt.</a:t>
            </a:r>
            <a:endParaRPr lang="en-US" sz="1600" dirty="0"/>
          </a:p>
        </p:txBody>
      </p:sp>
      <p:sp>
        <p:nvSpPr>
          <p:cNvPr id="8" name="Shape 6"/>
          <p:cNvSpPr/>
          <p:nvPr/>
        </p:nvSpPr>
        <p:spPr>
          <a:xfrm>
            <a:off x="3703320" y="2029968"/>
            <a:ext cx="1417320" cy="1417320"/>
          </a:xfrm>
          <a:prstGeom prst="arc">
            <a:avLst/>
          </a:prstGeom>
          <a:solidFill>
            <a:srgbClr val="16306E">
              <a:alpha val="0"/>
            </a:srgbClr>
          </a:solidFill>
          <a:ln w="63500">
            <a:solidFill>
              <a:srgbClr val="0B7A75"/>
            </a:solidFill>
            <a:prstDash val="solid"/>
          </a:ln>
        </p:spPr>
      </p:sp>
      <p:sp>
        <p:nvSpPr>
          <p:cNvPr id="9" name="Shape 7"/>
          <p:cNvSpPr/>
          <p:nvPr/>
        </p:nvSpPr>
        <p:spPr>
          <a:xfrm flipV="1">
            <a:off x="4407408" y="2468880"/>
            <a:ext cx="411480" cy="256032"/>
          </a:xfrm>
          <a:prstGeom prst="line">
            <a:avLst/>
          </a:prstGeom>
          <a:noFill/>
          <a:ln w="25400">
            <a:solidFill>
              <a:srgbClr val="FFFFFF"/>
            </a:solidFill>
            <a:prstDash val="solid"/>
            <a:tailEnd type="none"/>
          </a:ln>
        </p:spPr>
      </p:sp>
      <p:sp>
        <p:nvSpPr>
          <p:cNvPr id="10" name="Shape 8"/>
          <p:cNvSpPr/>
          <p:nvPr/>
        </p:nvSpPr>
        <p:spPr>
          <a:xfrm flipV="1">
            <a:off x="4407408" y="2221992"/>
            <a:ext cx="0" cy="502920"/>
          </a:xfrm>
          <a:prstGeom prst="line">
            <a:avLst/>
          </a:prstGeom>
          <a:noFill/>
          <a:ln w="25400">
            <a:solidFill>
              <a:srgbClr val="FFFFFF"/>
            </a:solidFill>
            <a:prstDash val="solid"/>
            <a:tailEnd type="none"/>
          </a:ln>
        </p:spPr>
      </p:sp>
      <p:sp>
        <p:nvSpPr>
          <p:cNvPr id="11" name="Shape 9"/>
          <p:cNvSpPr/>
          <p:nvPr/>
        </p:nvSpPr>
        <p:spPr>
          <a:xfrm>
            <a:off x="6199632" y="1572768"/>
            <a:ext cx="5321808" cy="4133088"/>
          </a:xfrm>
          <a:prstGeom prst="roundRect">
            <a:avLst>
              <a:gd name="adj" fmla="val 2212"/>
            </a:avLst>
          </a:prstGeom>
          <a:solidFill>
            <a:srgbClr val="16306E"/>
          </a:solidFill>
          <a:ln w="12700">
            <a:solidFill>
              <a:srgbClr val="36559B"/>
            </a:solidFill>
            <a:prstDash val="solid"/>
          </a:ln>
        </p:spPr>
      </p:sp>
      <p:sp>
        <p:nvSpPr>
          <p:cNvPr id="12" name="Text 10"/>
          <p:cNvSpPr/>
          <p:nvPr/>
        </p:nvSpPr>
        <p:spPr>
          <a:xfrm>
            <a:off x="6519672" y="1892808"/>
            <a:ext cx="4681728" cy="822960"/>
          </a:xfrm>
          <a:prstGeom prst="rect">
            <a:avLst/>
          </a:prstGeom>
          <a:noFill/>
          <a:ln/>
        </p:spPr>
        <p:txBody>
          <a:bodyPr wrap="square" lIns="0" tIns="0" rIns="0" bIns="0" rtlCol="0" anchor="ctr"/>
          <a:lstStyle/>
          <a:p>
            <a:pPr indent="0" marL="0">
              <a:buNone/>
            </a:pPr>
            <a:r>
              <a:rPr lang="en-US" sz="4200" b="1" dirty="0">
                <a:solidFill>
                  <a:srgbClr val="FFFFFF"/>
                </a:solidFill>
                <a:latin typeface="Segoe UI" pitchFamily="34" charset="0"/>
                <a:ea typeface="Segoe UI" pitchFamily="34" charset="-122"/>
                <a:cs typeface="Segoe UI" pitchFamily="34" charset="-120"/>
              </a:rPr>
              <a:t>17–28 GIÂY</a:t>
            </a:r>
            <a:endParaRPr lang="en-US" sz="4200" dirty="0"/>
          </a:p>
        </p:txBody>
      </p:sp>
      <p:sp>
        <p:nvSpPr>
          <p:cNvPr id="13" name="Text 11"/>
          <p:cNvSpPr/>
          <p:nvPr/>
        </p:nvSpPr>
        <p:spPr>
          <a:xfrm>
            <a:off x="6519672" y="2807208"/>
            <a:ext cx="4681728" cy="658368"/>
          </a:xfrm>
          <a:prstGeom prst="rect">
            <a:avLst/>
          </a:prstGeom>
          <a:noFill/>
          <a:ln/>
        </p:spPr>
        <p:txBody>
          <a:bodyPr wrap="square" lIns="0" tIns="0" rIns="0" bIns="0" rtlCol="0" anchor="ctr"/>
          <a:lstStyle/>
          <a:p>
            <a:pPr indent="0" marL="0">
              <a:buNone/>
            </a:pPr>
            <a:r>
              <a:rPr lang="en-US" sz="1600" dirty="0">
                <a:solidFill>
                  <a:srgbClr val="DCE6F8"/>
                </a:solidFill>
                <a:latin typeface="Segoe UI" pitchFamily="34" charset="0"/>
                <a:ea typeface="Segoe UI" pitchFamily="34" charset="-122"/>
                <a:cs typeface="Segoe UI" pitchFamily="34" charset="-120"/>
              </a:rPr>
              <a:t>Thời gian phản hồi p95 trong kiểm thử nội bộ, tuỳ nhà cung cấp AI.</a:t>
            </a:r>
            <a:endParaRPr lang="en-US" sz="1600" dirty="0"/>
          </a:p>
        </p:txBody>
      </p:sp>
      <p:sp>
        <p:nvSpPr>
          <p:cNvPr id="14" name="Shape 12"/>
          <p:cNvSpPr/>
          <p:nvPr/>
        </p:nvSpPr>
        <p:spPr>
          <a:xfrm>
            <a:off x="6720840" y="4105656"/>
            <a:ext cx="4169664" cy="0"/>
          </a:xfrm>
          <a:prstGeom prst="line">
            <a:avLst/>
          </a:prstGeom>
          <a:noFill/>
          <a:ln w="38100">
            <a:solidFill>
              <a:srgbClr val="7890C4"/>
            </a:solidFill>
            <a:prstDash val="solid"/>
          </a:ln>
        </p:spPr>
      </p:sp>
      <p:sp>
        <p:nvSpPr>
          <p:cNvPr id="15" name="Shape 13"/>
          <p:cNvSpPr/>
          <p:nvPr/>
        </p:nvSpPr>
        <p:spPr>
          <a:xfrm>
            <a:off x="7333488" y="3968496"/>
            <a:ext cx="274320" cy="274320"/>
          </a:xfrm>
          <a:prstGeom prst="ellipse">
            <a:avLst/>
          </a:prstGeom>
          <a:solidFill>
            <a:srgbClr val="0B7A75"/>
          </a:solidFill>
          <a:ln w="12700">
            <a:solidFill>
              <a:srgbClr val="FFFFFF"/>
            </a:solidFill>
            <a:prstDash val="solid"/>
          </a:ln>
        </p:spPr>
      </p:sp>
      <p:sp>
        <p:nvSpPr>
          <p:cNvPr id="16" name="Shape 14"/>
          <p:cNvSpPr/>
          <p:nvPr/>
        </p:nvSpPr>
        <p:spPr>
          <a:xfrm>
            <a:off x="10442448" y="3968496"/>
            <a:ext cx="274320" cy="274320"/>
          </a:xfrm>
          <a:prstGeom prst="ellipse">
            <a:avLst/>
          </a:prstGeom>
          <a:solidFill>
            <a:srgbClr val="1D4ED8"/>
          </a:solidFill>
          <a:ln w="12700">
            <a:solidFill>
              <a:srgbClr val="FFFFFF"/>
            </a:solidFill>
            <a:prstDash val="solid"/>
          </a:ln>
        </p:spPr>
      </p:sp>
      <p:sp>
        <p:nvSpPr>
          <p:cNvPr id="17" name="Text 15"/>
          <p:cNvSpPr/>
          <p:nvPr/>
        </p:nvSpPr>
        <p:spPr>
          <a:xfrm>
            <a:off x="6858000" y="4352544"/>
            <a:ext cx="1234440" cy="210312"/>
          </a:xfrm>
          <a:prstGeom prst="rect">
            <a:avLst/>
          </a:prstGeom>
          <a:noFill/>
          <a:ln/>
        </p:spPr>
        <p:txBody>
          <a:bodyPr wrap="square" lIns="0" tIns="0" rIns="0" bIns="0" rtlCol="0" anchor="ctr"/>
          <a:lstStyle/>
          <a:p>
            <a:pPr algn="ctr" indent="0" marL="0">
              <a:buNone/>
            </a:pPr>
            <a:r>
              <a:rPr lang="en-US" sz="1250" b="1" dirty="0">
                <a:solidFill>
                  <a:srgbClr val="FFFFFF"/>
                </a:solidFill>
                <a:latin typeface="Segoe UI" pitchFamily="34" charset="0"/>
                <a:ea typeface="Segoe UI" pitchFamily="34" charset="-122"/>
                <a:cs typeface="Segoe UI" pitchFamily="34" charset="-120"/>
              </a:rPr>
              <a:t>≈17 giây</a:t>
            </a:r>
            <a:endParaRPr lang="en-US" sz="1250" dirty="0"/>
          </a:p>
        </p:txBody>
      </p:sp>
      <p:sp>
        <p:nvSpPr>
          <p:cNvPr id="18" name="Text 16"/>
          <p:cNvSpPr/>
          <p:nvPr/>
        </p:nvSpPr>
        <p:spPr>
          <a:xfrm>
            <a:off x="6629400" y="4663440"/>
            <a:ext cx="1691640" cy="210312"/>
          </a:xfrm>
          <a:prstGeom prst="rect">
            <a:avLst/>
          </a:prstGeom>
          <a:noFill/>
          <a:ln/>
        </p:spPr>
        <p:txBody>
          <a:bodyPr wrap="square" lIns="0" tIns="0" rIns="0" bIns="0" rtlCol="0" anchor="ctr"/>
          <a:lstStyle/>
          <a:p>
            <a:pPr algn="ctr" indent="0" marL="0">
              <a:buNone/>
            </a:pPr>
            <a:r>
              <a:rPr lang="en-US" sz="1050" dirty="0">
                <a:solidFill>
                  <a:srgbClr val="C9D8F5"/>
                </a:solidFill>
                <a:latin typeface="Segoe UI" pitchFamily="34" charset="0"/>
                <a:ea typeface="Segoe UI" pitchFamily="34" charset="-122"/>
                <a:cs typeface="Segoe UI" pitchFamily="34" charset="-120"/>
              </a:rPr>
              <a:t>Nhà cung cấp chính</a:t>
            </a:r>
            <a:endParaRPr lang="en-US" sz="1050" dirty="0"/>
          </a:p>
        </p:txBody>
      </p:sp>
      <p:sp>
        <p:nvSpPr>
          <p:cNvPr id="19" name="Text 17"/>
          <p:cNvSpPr/>
          <p:nvPr/>
        </p:nvSpPr>
        <p:spPr>
          <a:xfrm>
            <a:off x="10003536" y="4352544"/>
            <a:ext cx="1234440" cy="210312"/>
          </a:xfrm>
          <a:prstGeom prst="rect">
            <a:avLst/>
          </a:prstGeom>
          <a:noFill/>
          <a:ln/>
        </p:spPr>
        <p:txBody>
          <a:bodyPr wrap="square" lIns="0" tIns="0" rIns="0" bIns="0" rtlCol="0" anchor="ctr"/>
          <a:lstStyle/>
          <a:p>
            <a:pPr algn="ctr" indent="0" marL="0">
              <a:buNone/>
            </a:pPr>
            <a:r>
              <a:rPr lang="en-US" sz="1250" b="1" dirty="0">
                <a:solidFill>
                  <a:srgbClr val="FFFFFF"/>
                </a:solidFill>
                <a:latin typeface="Segoe UI" pitchFamily="34" charset="0"/>
                <a:ea typeface="Segoe UI" pitchFamily="34" charset="-122"/>
                <a:cs typeface="Segoe UI" pitchFamily="34" charset="-120"/>
              </a:rPr>
              <a:t>≈28 giây</a:t>
            </a:r>
            <a:endParaRPr lang="en-US" sz="1250" dirty="0"/>
          </a:p>
        </p:txBody>
      </p:sp>
      <p:sp>
        <p:nvSpPr>
          <p:cNvPr id="20" name="Text 18"/>
          <p:cNvSpPr/>
          <p:nvPr/>
        </p:nvSpPr>
        <p:spPr>
          <a:xfrm>
            <a:off x="9747504" y="4663440"/>
            <a:ext cx="1783080" cy="210312"/>
          </a:xfrm>
          <a:prstGeom prst="rect">
            <a:avLst/>
          </a:prstGeom>
          <a:noFill/>
          <a:ln/>
        </p:spPr>
        <p:txBody>
          <a:bodyPr wrap="square" lIns="0" tIns="0" rIns="0" bIns="0" rtlCol="0" anchor="ctr"/>
          <a:lstStyle/>
          <a:p>
            <a:pPr algn="ctr" indent="0" marL="0">
              <a:buNone/>
            </a:pPr>
            <a:r>
              <a:rPr lang="en-US" sz="1050" dirty="0">
                <a:solidFill>
                  <a:srgbClr val="C9D8F5"/>
                </a:solidFill>
                <a:latin typeface="Segoe UI" pitchFamily="34" charset="0"/>
                <a:ea typeface="Segoe UI" pitchFamily="34" charset="-122"/>
                <a:cs typeface="Segoe UI" pitchFamily="34" charset="-120"/>
              </a:rPr>
              <a:t>Khi chuyển sang dự phòng</a:t>
            </a:r>
            <a:endParaRPr lang="en-US" sz="1050" dirty="0"/>
          </a:p>
        </p:txBody>
      </p:sp>
      <p:sp>
        <p:nvSpPr>
          <p:cNvPr id="21" name="Shape 19"/>
          <p:cNvSpPr/>
          <p:nvPr/>
        </p:nvSpPr>
        <p:spPr>
          <a:xfrm>
            <a:off x="1993392" y="5916168"/>
            <a:ext cx="8193024" cy="402336"/>
          </a:xfrm>
          <a:prstGeom prst="roundRect">
            <a:avLst>
              <a:gd name="adj" fmla="val 13636"/>
            </a:avLst>
          </a:prstGeom>
          <a:solidFill>
            <a:srgbClr val="16306E"/>
          </a:solidFill>
          <a:ln w="10160">
            <a:solidFill>
              <a:srgbClr val="36559B"/>
            </a:solidFill>
            <a:prstDash val="solid"/>
          </a:ln>
        </p:spPr>
      </p:sp>
      <p:sp>
        <p:nvSpPr>
          <p:cNvPr id="22" name="Text 20"/>
          <p:cNvSpPr/>
          <p:nvPr/>
        </p:nvSpPr>
        <p:spPr>
          <a:xfrm>
            <a:off x="2176272" y="5916168"/>
            <a:ext cx="7827264"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Segoe UI" pitchFamily="34" charset="0"/>
                <a:ea typeface="Segoe UI" pitchFamily="34" charset="-122"/>
                <a:cs typeface="Segoe UI" pitchFamily="34" charset="-120"/>
              </a:rPr>
              <a:t>Số liệu từ kiểm thử nội bộ, chưa phải số liệu vận hành thực tế trên diện rộng.</a:t>
            </a:r>
            <a:endParaRPr lang="en-US" sz="1250" dirty="0"/>
          </a:p>
        </p:txBody>
      </p:sp>
      <p:sp>
        <p:nvSpPr>
          <p:cNvPr id="23" name="Shape 21"/>
          <p:cNvSpPr/>
          <p:nvPr/>
        </p:nvSpPr>
        <p:spPr>
          <a:xfrm>
            <a:off x="603504" y="6556248"/>
            <a:ext cx="10984687" cy="0"/>
          </a:xfrm>
          <a:prstGeom prst="line">
            <a:avLst/>
          </a:prstGeom>
          <a:noFill/>
          <a:ln w="8890">
            <a:solidFill>
              <a:srgbClr val="36559B"/>
            </a:solidFill>
            <a:prstDash val="solid"/>
          </a:ln>
        </p:spPr>
      </p:sp>
      <p:sp>
        <p:nvSpPr>
          <p:cNvPr id="24" name="Text 22"/>
          <p:cNvSpPr/>
          <p:nvPr/>
        </p:nvSpPr>
        <p:spPr>
          <a:xfrm>
            <a:off x="603504" y="6601968"/>
            <a:ext cx="4572000" cy="164592"/>
          </a:xfrm>
          <a:prstGeom prst="rect">
            <a:avLst/>
          </a:prstGeom>
          <a:noFill/>
          <a:ln/>
        </p:spPr>
        <p:txBody>
          <a:bodyPr wrap="square" lIns="0" tIns="0" rIns="0" bIns="0" rtlCol="0" anchor="ctr"/>
          <a:lstStyle/>
          <a:p>
            <a:pPr indent="0" marL="0">
              <a:buNone/>
            </a:pPr>
            <a:r>
              <a:rPr lang="en-US" sz="950" b="1" spc="120" kern="0" dirty="0">
                <a:solidFill>
                  <a:srgbClr val="BFD0F0"/>
                </a:solidFill>
                <a:latin typeface="Segoe UI" pitchFamily="34" charset="0"/>
                <a:ea typeface="Segoe UI" pitchFamily="34" charset="-122"/>
                <a:cs typeface="Segoe UI" pitchFamily="34" charset="-120"/>
              </a:rPr>
              <a:t>BẢN ĐỒ CÔNG AN SỐ · TỈNH PHÚ THỌ</a:t>
            </a:r>
            <a:endParaRPr lang="en-US" sz="950" dirty="0"/>
          </a:p>
        </p:txBody>
      </p:sp>
      <p:sp>
        <p:nvSpPr>
          <p:cNvPr id="25" name="Text 23"/>
          <p:cNvSpPr/>
          <p:nvPr/>
        </p:nvSpPr>
        <p:spPr>
          <a:xfrm>
            <a:off x="11222431" y="6583680"/>
            <a:ext cx="365760" cy="182880"/>
          </a:xfrm>
          <a:prstGeom prst="rect">
            <a:avLst/>
          </a:prstGeom>
          <a:noFill/>
          <a:ln/>
        </p:spPr>
        <p:txBody>
          <a:bodyPr wrap="square" lIns="0" tIns="0" rIns="0" bIns="0" rtlCol="0" anchor="ctr"/>
          <a:lstStyle/>
          <a:p>
            <a:pPr algn="r" indent="0" marL="0">
              <a:buNone/>
            </a:pPr>
            <a:r>
              <a:rPr lang="en-US" sz="1000" b="1" dirty="0">
                <a:solidFill>
                  <a:srgbClr val="BFD0F0"/>
                </a:solidFill>
                <a:latin typeface="Segoe UI" pitchFamily="34" charset="0"/>
                <a:ea typeface="Segoe UI" pitchFamily="34" charset="-122"/>
                <a:cs typeface="Segoe UI" pitchFamily="34" charset="-120"/>
              </a:rPr>
              <a:t>09</a:t>
            </a:r>
            <a:endParaRPr lang="en-US" sz="1000" dirty="0"/>
          </a:p>
        </p:txBody>
      </p:sp>
    </p:spTree>
  </p:cSld>
  <p:clrMapOvr>
    <a:masterClrMapping/>
  </p:clrMapOvr>
  <mc:AlternateContent xmlns:mc="http://schemas.openxmlformats.org/markup-compatibility/2006">
    <mc:Choice xmlns:p159="http://schemas.microsoft.com/office/powerpoint/2015/9/main" Requires="p159">
      <p:transition xmlns:p14="http://schemas.microsoft.com/office/powerpoint/2010/main" spd="med" p14:dur="800">
        <p159:morph option="byObject"/>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603504" y="347472"/>
            <a:ext cx="6858000" cy="246888"/>
          </a:xfrm>
          <a:prstGeom prst="rect">
            <a:avLst/>
          </a:prstGeom>
          <a:noFill/>
          <a:ln/>
        </p:spPr>
        <p:txBody>
          <a:bodyPr wrap="square" lIns="0" tIns="0" rIns="0" bIns="0" rtlCol="0" anchor="ctr"/>
          <a:lstStyle/>
          <a:p>
            <a:pPr indent="0" marL="0">
              <a:buNone/>
            </a:pPr>
            <a:r>
              <a:rPr lang="en-US" sz="1250" b="1" spc="220" kern="0" dirty="0">
                <a:solidFill>
                  <a:srgbClr val="1D4ED8"/>
                </a:solidFill>
                <a:latin typeface="Segoe UI" pitchFamily="34" charset="0"/>
                <a:ea typeface="Segoe UI" pitchFamily="34" charset="-122"/>
                <a:cs typeface="Segoe UI" pitchFamily="34" charset="-120"/>
              </a:rPr>
              <a:t>THẲNG THẮN NHÌN NHẬN</a:t>
            </a:r>
            <a:endParaRPr lang="en-US" sz="1250" dirty="0"/>
          </a:p>
        </p:txBody>
      </p:sp>
      <p:sp>
        <p:nvSpPr>
          <p:cNvPr id="3" name="Text 1"/>
          <p:cNvSpPr/>
          <p:nvPr/>
        </p:nvSpPr>
        <p:spPr>
          <a:xfrm>
            <a:off x="603504" y="649224"/>
            <a:ext cx="10972800" cy="530352"/>
          </a:xfrm>
          <a:prstGeom prst="rect">
            <a:avLst/>
          </a:prstGeom>
          <a:noFill/>
          <a:ln/>
        </p:spPr>
        <p:txBody>
          <a:bodyPr wrap="square" lIns="0" tIns="0" rIns="0" bIns="0" rtlCol="0" anchor="ctr"/>
          <a:lstStyle/>
          <a:p>
            <a:pPr indent="0" marL="0">
              <a:buNone/>
            </a:pPr>
            <a:r>
              <a:rPr lang="en-US" sz="2800" b="1" dirty="0">
                <a:solidFill>
                  <a:srgbClr val="0F172A"/>
                </a:solidFill>
                <a:latin typeface="Segoe UI" pitchFamily="34" charset="0"/>
                <a:ea typeface="Segoe UI" pitchFamily="34" charset="-122"/>
                <a:cs typeface="Segoe UI" pitchFamily="34" charset="-120"/>
              </a:rPr>
              <a:t>Mỗi hạn chế đều có một hướng khắc phục cụ thể</a:t>
            </a:r>
            <a:endParaRPr lang="en-US" sz="2800" dirty="0"/>
          </a:p>
        </p:txBody>
      </p:sp>
      <p:sp>
        <p:nvSpPr>
          <p:cNvPr id="4" name="Shape 2"/>
          <p:cNvSpPr/>
          <p:nvPr/>
        </p:nvSpPr>
        <p:spPr>
          <a:xfrm>
            <a:off x="603504" y="1243584"/>
            <a:ext cx="960120" cy="0"/>
          </a:xfrm>
          <a:prstGeom prst="line">
            <a:avLst/>
          </a:prstGeom>
          <a:noFill/>
          <a:ln w="31750">
            <a:solidFill>
              <a:srgbClr val="1D4ED8"/>
            </a:solidFill>
            <a:prstDash val="solid"/>
          </a:ln>
        </p:spPr>
      </p:sp>
      <p:sp>
        <p:nvSpPr>
          <p:cNvPr id="5" name="Text 3"/>
          <p:cNvSpPr/>
          <p:nvPr/>
        </p:nvSpPr>
        <p:spPr>
          <a:xfrm>
            <a:off x="1353312" y="1444752"/>
            <a:ext cx="2926080" cy="182880"/>
          </a:xfrm>
          <a:prstGeom prst="rect">
            <a:avLst/>
          </a:prstGeom>
          <a:noFill/>
          <a:ln/>
        </p:spPr>
        <p:txBody>
          <a:bodyPr wrap="square" lIns="0" tIns="0" rIns="0" bIns="0" rtlCol="0" anchor="ctr"/>
          <a:lstStyle/>
          <a:p>
            <a:pPr indent="0" marL="0">
              <a:buNone/>
            </a:pPr>
            <a:r>
              <a:rPr lang="en-US" sz="1050" b="1" spc="140" kern="0" dirty="0">
                <a:solidFill>
                  <a:srgbClr val="64748B"/>
                </a:solidFill>
                <a:latin typeface="Segoe UI" pitchFamily="34" charset="0"/>
                <a:ea typeface="Segoe UI" pitchFamily="34" charset="-122"/>
                <a:cs typeface="Segoe UI" pitchFamily="34" charset="-120"/>
              </a:rPr>
              <a:t>HẠN CHẾ CÒN TỒN TẠI</a:t>
            </a:r>
            <a:endParaRPr lang="en-US" sz="1050" dirty="0"/>
          </a:p>
        </p:txBody>
      </p:sp>
      <p:sp>
        <p:nvSpPr>
          <p:cNvPr id="6" name="Text 4"/>
          <p:cNvSpPr/>
          <p:nvPr/>
        </p:nvSpPr>
        <p:spPr>
          <a:xfrm>
            <a:off x="6053328" y="1444752"/>
            <a:ext cx="3749040" cy="182880"/>
          </a:xfrm>
          <a:prstGeom prst="rect">
            <a:avLst/>
          </a:prstGeom>
          <a:noFill/>
          <a:ln/>
        </p:spPr>
        <p:txBody>
          <a:bodyPr wrap="square" lIns="0" tIns="0" rIns="0" bIns="0" rtlCol="0" anchor="ctr"/>
          <a:lstStyle/>
          <a:p>
            <a:pPr indent="0" marL="0">
              <a:buNone/>
            </a:pPr>
            <a:r>
              <a:rPr lang="en-US" sz="1050" b="1" spc="140" kern="0" dirty="0">
                <a:solidFill>
                  <a:srgbClr val="0B7A75"/>
                </a:solidFill>
                <a:latin typeface="Segoe UI" pitchFamily="34" charset="0"/>
                <a:ea typeface="Segoe UI" pitchFamily="34" charset="-122"/>
                <a:cs typeface="Segoe UI" pitchFamily="34" charset="-120"/>
              </a:rPr>
              <a:t>HƯỚNG KHẮC PHỤC ĐỀ XUẤT</a:t>
            </a:r>
            <a:endParaRPr lang="en-US" sz="1050" dirty="0"/>
          </a:p>
        </p:txBody>
      </p:sp>
      <p:sp>
        <p:nvSpPr>
          <p:cNvPr id="7" name="Shape 5"/>
          <p:cNvSpPr/>
          <p:nvPr/>
        </p:nvSpPr>
        <p:spPr>
          <a:xfrm>
            <a:off x="603504" y="1938528"/>
            <a:ext cx="347472" cy="347472"/>
          </a:xfrm>
          <a:prstGeom prst="ellipse">
            <a:avLst/>
          </a:prstGeom>
          <a:solidFill>
            <a:srgbClr val="1E3A8A"/>
          </a:solidFill>
          <a:ln w="12700">
            <a:solidFill>
              <a:srgbClr val="1E3A8A"/>
            </a:solidFill>
            <a:prstDash val="solid"/>
          </a:ln>
        </p:spPr>
      </p:sp>
      <p:sp>
        <p:nvSpPr>
          <p:cNvPr id="8" name="Text 6"/>
          <p:cNvSpPr/>
          <p:nvPr/>
        </p:nvSpPr>
        <p:spPr>
          <a:xfrm>
            <a:off x="603504" y="1938528"/>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1</a:t>
            </a:r>
            <a:endParaRPr lang="en-US" sz="1100" dirty="0"/>
          </a:p>
        </p:txBody>
      </p:sp>
      <p:pic>
        <p:nvPicPr>
          <p:cNvPr id="9" name="Image 0" descr="preencoded.png">    </p:cNvPr>
          <p:cNvPicPr>
            <a:picLocks noChangeAspect="1"/>
          </p:cNvPicPr>
          <p:nvPr/>
        </p:nvPicPr>
        <p:blipFill>
          <a:blip r:embed="rId1"/>
          <a:stretch>
            <a:fillRect/>
          </a:stretch>
        </p:blipFill>
        <p:spPr>
          <a:xfrm>
            <a:off x="1069848" y="1965960"/>
            <a:ext cx="210312" cy="210312"/>
          </a:xfrm>
          <a:prstGeom prst="rect">
            <a:avLst/>
          </a:prstGeom>
        </p:spPr>
      </p:pic>
      <p:sp>
        <p:nvSpPr>
          <p:cNvPr id="10" name="Text 7"/>
          <p:cNvSpPr/>
          <p:nvPr/>
        </p:nvSpPr>
        <p:spPr>
          <a:xfrm>
            <a:off x="1353312" y="1792224"/>
            <a:ext cx="3840480" cy="658368"/>
          </a:xfrm>
          <a:prstGeom prst="rect">
            <a:avLst/>
          </a:prstGeom>
          <a:noFill/>
          <a:ln/>
        </p:spPr>
        <p:txBody>
          <a:bodyPr wrap="square" lIns="0" tIns="0" rIns="0" bIns="0" rtlCol="0" anchor="ctr"/>
          <a:lstStyle/>
          <a:p>
            <a:pPr indent="0" marL="0">
              <a:buNone/>
            </a:pPr>
            <a:r>
              <a:rPr lang="en-US" sz="1420" b="1" dirty="0">
                <a:solidFill>
                  <a:srgbClr val="334155"/>
                </a:solidFill>
                <a:latin typeface="Segoe UI" pitchFamily="34" charset="0"/>
                <a:ea typeface="Segoe UI" pitchFamily="34" charset="-122"/>
                <a:cs typeface="Segoe UI" pitchFamily="34" charset="-120"/>
              </a:rPr>
              <a:t>AI vẫn có thể trả lời sai</a:t>
            </a:r>
            <a:endParaRPr lang="en-US" sz="1420" dirty="0"/>
          </a:p>
        </p:txBody>
      </p:sp>
      <p:sp>
        <p:nvSpPr>
          <p:cNvPr id="11" name="Shape 8"/>
          <p:cNvSpPr/>
          <p:nvPr/>
        </p:nvSpPr>
        <p:spPr>
          <a:xfrm>
            <a:off x="5330952" y="2121408"/>
            <a:ext cx="566928" cy="0"/>
          </a:xfrm>
          <a:prstGeom prst="line">
            <a:avLst/>
          </a:prstGeom>
          <a:noFill/>
          <a:ln w="15240">
            <a:solidFill>
              <a:srgbClr val="1D4ED8"/>
            </a:solidFill>
            <a:prstDash val="solid"/>
            <a:tailEnd type="triangle"/>
          </a:ln>
        </p:spPr>
      </p:sp>
      <p:sp>
        <p:nvSpPr>
          <p:cNvPr id="12" name="Shape 9"/>
          <p:cNvSpPr/>
          <p:nvPr/>
        </p:nvSpPr>
        <p:spPr>
          <a:xfrm>
            <a:off x="6053328" y="1792224"/>
            <a:ext cx="5532120" cy="658368"/>
          </a:xfrm>
          <a:prstGeom prst="roundRect">
            <a:avLst>
              <a:gd name="adj" fmla="val 9722"/>
            </a:avLst>
          </a:prstGeom>
          <a:solidFill>
            <a:srgbClr val="EAF6F5"/>
          </a:solidFill>
          <a:ln w="10160">
            <a:solidFill>
              <a:srgbClr val="B6D9D5"/>
            </a:solidFill>
            <a:prstDash val="solid"/>
          </a:ln>
        </p:spPr>
      </p:sp>
      <p:pic>
        <p:nvPicPr>
          <p:cNvPr id="13" name="Image 1" descr="preencoded.png">    </p:cNvPr>
          <p:cNvPicPr>
            <a:picLocks noChangeAspect="1"/>
          </p:cNvPicPr>
          <p:nvPr/>
        </p:nvPicPr>
        <p:blipFill>
          <a:blip r:embed="rId2"/>
          <a:stretch>
            <a:fillRect/>
          </a:stretch>
        </p:blipFill>
        <p:spPr>
          <a:xfrm>
            <a:off x="6245352" y="1965960"/>
            <a:ext cx="210312" cy="210312"/>
          </a:xfrm>
          <a:prstGeom prst="rect">
            <a:avLst/>
          </a:prstGeom>
        </p:spPr>
      </p:pic>
      <p:sp>
        <p:nvSpPr>
          <p:cNvPr id="14" name="Text 10"/>
          <p:cNvSpPr/>
          <p:nvPr/>
        </p:nvSpPr>
        <p:spPr>
          <a:xfrm>
            <a:off x="6547104" y="1792224"/>
            <a:ext cx="4800600" cy="658368"/>
          </a:xfrm>
          <a:prstGeom prst="rect">
            <a:avLst/>
          </a:prstGeom>
          <a:noFill/>
          <a:ln/>
        </p:spPr>
        <p:txBody>
          <a:bodyPr wrap="square" lIns="0" tIns="0" rIns="0" bIns="0" rtlCol="0" anchor="ctr"/>
          <a:lstStyle/>
          <a:p>
            <a:pPr indent="0" marL="0">
              <a:buNone/>
            </a:pPr>
            <a:r>
              <a:rPr lang="en-US" sz="1320" dirty="0">
                <a:solidFill>
                  <a:srgbClr val="0F172A"/>
                </a:solidFill>
                <a:latin typeface="Segoe UI" pitchFamily="34" charset="0"/>
                <a:ea typeface="Segoe UI" pitchFamily="34" charset="-122"/>
                <a:cs typeface="Segoe UI" pitchFamily="34" charset="-120"/>
              </a:rPr>
              <a:t>Khuyến cáo “thông tin tham khảo”; nút báo lỗi; cán bộ rà soát định kỳ.</a:t>
            </a:r>
            <a:endParaRPr lang="en-US" sz="1320" dirty="0"/>
          </a:p>
        </p:txBody>
      </p:sp>
      <p:sp>
        <p:nvSpPr>
          <p:cNvPr id="15" name="Shape 11"/>
          <p:cNvSpPr/>
          <p:nvPr/>
        </p:nvSpPr>
        <p:spPr>
          <a:xfrm>
            <a:off x="603504" y="2779776"/>
            <a:ext cx="347472" cy="347472"/>
          </a:xfrm>
          <a:prstGeom prst="ellipse">
            <a:avLst/>
          </a:prstGeom>
          <a:solidFill>
            <a:srgbClr val="1E3A8A"/>
          </a:solidFill>
          <a:ln w="12700">
            <a:solidFill>
              <a:srgbClr val="1E3A8A"/>
            </a:solidFill>
            <a:prstDash val="solid"/>
          </a:ln>
        </p:spPr>
      </p:sp>
      <p:sp>
        <p:nvSpPr>
          <p:cNvPr id="16" name="Text 12"/>
          <p:cNvSpPr/>
          <p:nvPr/>
        </p:nvSpPr>
        <p:spPr>
          <a:xfrm>
            <a:off x="603504" y="2779776"/>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2</a:t>
            </a:r>
            <a:endParaRPr lang="en-US" sz="1100" dirty="0"/>
          </a:p>
        </p:txBody>
      </p:sp>
      <p:pic>
        <p:nvPicPr>
          <p:cNvPr id="17" name="Image 2" descr="preencoded.png">    </p:cNvPr>
          <p:cNvPicPr>
            <a:picLocks noChangeAspect="1"/>
          </p:cNvPicPr>
          <p:nvPr/>
        </p:nvPicPr>
        <p:blipFill>
          <a:blip r:embed="rId3"/>
          <a:stretch>
            <a:fillRect/>
          </a:stretch>
        </p:blipFill>
        <p:spPr>
          <a:xfrm>
            <a:off x="1069848" y="2807208"/>
            <a:ext cx="210312" cy="210312"/>
          </a:xfrm>
          <a:prstGeom prst="rect">
            <a:avLst/>
          </a:prstGeom>
        </p:spPr>
      </p:pic>
      <p:sp>
        <p:nvSpPr>
          <p:cNvPr id="18" name="Text 13"/>
          <p:cNvSpPr/>
          <p:nvPr/>
        </p:nvSpPr>
        <p:spPr>
          <a:xfrm>
            <a:off x="1353312" y="2633472"/>
            <a:ext cx="3840480" cy="658368"/>
          </a:xfrm>
          <a:prstGeom prst="rect">
            <a:avLst/>
          </a:prstGeom>
          <a:noFill/>
          <a:ln/>
        </p:spPr>
        <p:txBody>
          <a:bodyPr wrap="square" lIns="0" tIns="0" rIns="0" bIns="0" rtlCol="0" anchor="ctr"/>
          <a:lstStyle/>
          <a:p>
            <a:pPr indent="0" marL="0">
              <a:buNone/>
            </a:pPr>
            <a:r>
              <a:rPr lang="en-US" sz="1420" b="1" dirty="0">
                <a:solidFill>
                  <a:srgbClr val="334155"/>
                </a:solidFill>
                <a:latin typeface="Segoe UI" pitchFamily="34" charset="0"/>
                <a:ea typeface="Segoe UI" pitchFamily="34" charset="-122"/>
                <a:cs typeface="Segoe UI" pitchFamily="34" charset="-120"/>
              </a:rPr>
              <a:t>Kho dữ liệu chưa được thẩm định chính thức</a:t>
            </a:r>
            <a:endParaRPr lang="en-US" sz="1420" dirty="0"/>
          </a:p>
        </p:txBody>
      </p:sp>
      <p:sp>
        <p:nvSpPr>
          <p:cNvPr id="19" name="Shape 14"/>
          <p:cNvSpPr/>
          <p:nvPr/>
        </p:nvSpPr>
        <p:spPr>
          <a:xfrm>
            <a:off x="5330952" y="2962656"/>
            <a:ext cx="566928" cy="0"/>
          </a:xfrm>
          <a:prstGeom prst="line">
            <a:avLst/>
          </a:prstGeom>
          <a:noFill/>
          <a:ln w="15240">
            <a:solidFill>
              <a:srgbClr val="1D4ED8"/>
            </a:solidFill>
            <a:prstDash val="solid"/>
            <a:tailEnd type="triangle"/>
          </a:ln>
        </p:spPr>
      </p:sp>
      <p:sp>
        <p:nvSpPr>
          <p:cNvPr id="20" name="Shape 15"/>
          <p:cNvSpPr/>
          <p:nvPr/>
        </p:nvSpPr>
        <p:spPr>
          <a:xfrm>
            <a:off x="6053328" y="2633472"/>
            <a:ext cx="5532120" cy="658368"/>
          </a:xfrm>
          <a:prstGeom prst="roundRect">
            <a:avLst>
              <a:gd name="adj" fmla="val 9722"/>
            </a:avLst>
          </a:prstGeom>
          <a:solidFill>
            <a:srgbClr val="EAF6F5"/>
          </a:solidFill>
          <a:ln w="10160">
            <a:solidFill>
              <a:srgbClr val="B6D9D5"/>
            </a:solidFill>
            <a:prstDash val="solid"/>
          </a:ln>
        </p:spPr>
      </p:sp>
      <p:pic>
        <p:nvPicPr>
          <p:cNvPr id="21" name="Image 3" descr="preencoded.png">    </p:cNvPr>
          <p:cNvPicPr>
            <a:picLocks noChangeAspect="1"/>
          </p:cNvPicPr>
          <p:nvPr/>
        </p:nvPicPr>
        <p:blipFill>
          <a:blip r:embed="rId4"/>
          <a:stretch>
            <a:fillRect/>
          </a:stretch>
        </p:blipFill>
        <p:spPr>
          <a:xfrm>
            <a:off x="6245352" y="2807208"/>
            <a:ext cx="210312" cy="210312"/>
          </a:xfrm>
          <a:prstGeom prst="rect">
            <a:avLst/>
          </a:prstGeom>
        </p:spPr>
      </p:pic>
      <p:sp>
        <p:nvSpPr>
          <p:cNvPr id="22" name="Text 16"/>
          <p:cNvSpPr/>
          <p:nvPr/>
        </p:nvSpPr>
        <p:spPr>
          <a:xfrm>
            <a:off x="6547104" y="2633472"/>
            <a:ext cx="4800600" cy="658368"/>
          </a:xfrm>
          <a:prstGeom prst="rect">
            <a:avLst/>
          </a:prstGeom>
          <a:noFill/>
          <a:ln/>
        </p:spPr>
        <p:txBody>
          <a:bodyPr wrap="square" lIns="0" tIns="0" rIns="0" bIns="0" rtlCol="0" anchor="ctr"/>
          <a:lstStyle/>
          <a:p>
            <a:pPr indent="0" marL="0">
              <a:buNone/>
            </a:pPr>
            <a:r>
              <a:rPr lang="en-US" sz="1320" dirty="0">
                <a:solidFill>
                  <a:srgbClr val="0F172A"/>
                </a:solidFill>
                <a:latin typeface="Segoe UI" pitchFamily="34" charset="0"/>
                <a:ea typeface="Segoe UI" pitchFamily="34" charset="-122"/>
                <a:cs typeface="Segoe UI" pitchFamily="34" charset="-120"/>
              </a:rPr>
              <a:t>Đơn vị nghiệp vụ QLXNC, QLHC về TTXH rà soát và phê duyệt.</a:t>
            </a:r>
            <a:endParaRPr lang="en-US" sz="1320" dirty="0"/>
          </a:p>
        </p:txBody>
      </p:sp>
      <p:sp>
        <p:nvSpPr>
          <p:cNvPr id="23" name="Shape 17"/>
          <p:cNvSpPr/>
          <p:nvPr/>
        </p:nvSpPr>
        <p:spPr>
          <a:xfrm>
            <a:off x="603504" y="3621024"/>
            <a:ext cx="347472" cy="347472"/>
          </a:xfrm>
          <a:prstGeom prst="ellipse">
            <a:avLst/>
          </a:prstGeom>
          <a:solidFill>
            <a:srgbClr val="1E3A8A"/>
          </a:solidFill>
          <a:ln w="12700">
            <a:solidFill>
              <a:srgbClr val="1E3A8A"/>
            </a:solidFill>
            <a:prstDash val="solid"/>
          </a:ln>
        </p:spPr>
      </p:sp>
      <p:sp>
        <p:nvSpPr>
          <p:cNvPr id="24" name="Text 18"/>
          <p:cNvSpPr/>
          <p:nvPr/>
        </p:nvSpPr>
        <p:spPr>
          <a:xfrm>
            <a:off x="603504" y="3621024"/>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3</a:t>
            </a:r>
            <a:endParaRPr lang="en-US" sz="1100" dirty="0"/>
          </a:p>
        </p:txBody>
      </p:sp>
      <p:pic>
        <p:nvPicPr>
          <p:cNvPr id="25" name="Image 4" descr="preencoded.png">    </p:cNvPr>
          <p:cNvPicPr>
            <a:picLocks noChangeAspect="1"/>
          </p:cNvPicPr>
          <p:nvPr/>
        </p:nvPicPr>
        <p:blipFill>
          <a:blip r:embed="rId5"/>
          <a:stretch>
            <a:fillRect/>
          </a:stretch>
        </p:blipFill>
        <p:spPr>
          <a:xfrm>
            <a:off x="1069848" y="3648456"/>
            <a:ext cx="210312" cy="210312"/>
          </a:xfrm>
          <a:prstGeom prst="rect">
            <a:avLst/>
          </a:prstGeom>
        </p:spPr>
      </p:pic>
      <p:sp>
        <p:nvSpPr>
          <p:cNvPr id="26" name="Text 19"/>
          <p:cNvSpPr/>
          <p:nvPr/>
        </p:nvSpPr>
        <p:spPr>
          <a:xfrm>
            <a:off x="1353312" y="3474720"/>
            <a:ext cx="3840480" cy="658368"/>
          </a:xfrm>
          <a:prstGeom prst="rect">
            <a:avLst/>
          </a:prstGeom>
          <a:noFill/>
          <a:ln/>
        </p:spPr>
        <p:txBody>
          <a:bodyPr wrap="square" lIns="0" tIns="0" rIns="0" bIns="0" rtlCol="0" anchor="ctr"/>
          <a:lstStyle/>
          <a:p>
            <a:pPr indent="0" marL="0">
              <a:buNone/>
            </a:pPr>
            <a:r>
              <a:rPr lang="en-US" sz="1420" b="1" dirty="0">
                <a:solidFill>
                  <a:srgbClr val="334155"/>
                </a:solidFill>
                <a:latin typeface="Segoe UI" pitchFamily="34" charset="0"/>
                <a:ea typeface="Segoe UI" pitchFamily="34" charset="-122"/>
                <a:cs typeface="Segoe UI" pitchFamily="34" charset="-120"/>
              </a:rPr>
              <a:t>Chưa có nguồn lực CNTT chuyên trách</a:t>
            </a:r>
            <a:endParaRPr lang="en-US" sz="1420" dirty="0"/>
          </a:p>
        </p:txBody>
      </p:sp>
      <p:sp>
        <p:nvSpPr>
          <p:cNvPr id="27" name="Shape 20"/>
          <p:cNvSpPr/>
          <p:nvPr/>
        </p:nvSpPr>
        <p:spPr>
          <a:xfrm>
            <a:off x="5330952" y="3803904"/>
            <a:ext cx="566928" cy="0"/>
          </a:xfrm>
          <a:prstGeom prst="line">
            <a:avLst/>
          </a:prstGeom>
          <a:noFill/>
          <a:ln w="15240">
            <a:solidFill>
              <a:srgbClr val="1D4ED8"/>
            </a:solidFill>
            <a:prstDash val="solid"/>
            <a:tailEnd type="triangle"/>
          </a:ln>
        </p:spPr>
      </p:sp>
      <p:sp>
        <p:nvSpPr>
          <p:cNvPr id="28" name="Shape 21"/>
          <p:cNvSpPr/>
          <p:nvPr/>
        </p:nvSpPr>
        <p:spPr>
          <a:xfrm>
            <a:off x="6053328" y="3474720"/>
            <a:ext cx="5532120" cy="658368"/>
          </a:xfrm>
          <a:prstGeom prst="roundRect">
            <a:avLst>
              <a:gd name="adj" fmla="val 9722"/>
            </a:avLst>
          </a:prstGeom>
          <a:solidFill>
            <a:srgbClr val="EAF6F5"/>
          </a:solidFill>
          <a:ln w="10160">
            <a:solidFill>
              <a:srgbClr val="B6D9D5"/>
            </a:solidFill>
            <a:prstDash val="solid"/>
          </a:ln>
        </p:spPr>
      </p:sp>
      <p:pic>
        <p:nvPicPr>
          <p:cNvPr id="29" name="Image 5" descr="preencoded.png">    </p:cNvPr>
          <p:cNvPicPr>
            <a:picLocks noChangeAspect="1"/>
          </p:cNvPicPr>
          <p:nvPr/>
        </p:nvPicPr>
        <p:blipFill>
          <a:blip r:embed="rId6"/>
          <a:stretch>
            <a:fillRect/>
          </a:stretch>
        </p:blipFill>
        <p:spPr>
          <a:xfrm>
            <a:off x="6245352" y="3648456"/>
            <a:ext cx="210312" cy="210312"/>
          </a:xfrm>
          <a:prstGeom prst="rect">
            <a:avLst/>
          </a:prstGeom>
        </p:spPr>
      </p:pic>
      <p:sp>
        <p:nvSpPr>
          <p:cNvPr id="30" name="Text 22"/>
          <p:cNvSpPr/>
          <p:nvPr/>
        </p:nvSpPr>
        <p:spPr>
          <a:xfrm>
            <a:off x="6547104" y="3474720"/>
            <a:ext cx="4800600" cy="658368"/>
          </a:xfrm>
          <a:prstGeom prst="rect">
            <a:avLst/>
          </a:prstGeom>
          <a:noFill/>
          <a:ln/>
        </p:spPr>
        <p:txBody>
          <a:bodyPr wrap="square" lIns="0" tIns="0" rIns="0" bIns="0" rtlCol="0" anchor="ctr"/>
          <a:lstStyle/>
          <a:p>
            <a:pPr indent="0" marL="0">
              <a:buNone/>
            </a:pPr>
            <a:r>
              <a:rPr lang="en-US" sz="1320" dirty="0">
                <a:solidFill>
                  <a:srgbClr val="0F172A"/>
                </a:solidFill>
                <a:latin typeface="Segoe UI" pitchFamily="34" charset="0"/>
                <a:ea typeface="Segoe UI" pitchFamily="34" charset="-122"/>
                <a:cs typeface="Segoe UI" pitchFamily="34" charset="-120"/>
              </a:rPr>
              <a:t>Bố trí cán bộ CNTT tiếp nhận, duy trì và nâng cấp hệ thống.</a:t>
            </a:r>
            <a:endParaRPr lang="en-US" sz="1320" dirty="0"/>
          </a:p>
        </p:txBody>
      </p:sp>
      <p:sp>
        <p:nvSpPr>
          <p:cNvPr id="31" name="Shape 23"/>
          <p:cNvSpPr/>
          <p:nvPr/>
        </p:nvSpPr>
        <p:spPr>
          <a:xfrm>
            <a:off x="603504" y="4462272"/>
            <a:ext cx="347472" cy="347472"/>
          </a:xfrm>
          <a:prstGeom prst="ellipse">
            <a:avLst/>
          </a:prstGeom>
          <a:solidFill>
            <a:srgbClr val="1E3A8A"/>
          </a:solidFill>
          <a:ln w="12700">
            <a:solidFill>
              <a:srgbClr val="1E3A8A"/>
            </a:solidFill>
            <a:prstDash val="solid"/>
          </a:ln>
        </p:spPr>
      </p:sp>
      <p:sp>
        <p:nvSpPr>
          <p:cNvPr id="32" name="Text 24"/>
          <p:cNvSpPr/>
          <p:nvPr/>
        </p:nvSpPr>
        <p:spPr>
          <a:xfrm>
            <a:off x="603504" y="4462272"/>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4</a:t>
            </a:r>
            <a:endParaRPr lang="en-US" sz="1100" dirty="0"/>
          </a:p>
        </p:txBody>
      </p:sp>
      <p:pic>
        <p:nvPicPr>
          <p:cNvPr id="33" name="Image 6" descr="preencoded.png">    </p:cNvPr>
          <p:cNvPicPr>
            <a:picLocks noChangeAspect="1"/>
          </p:cNvPicPr>
          <p:nvPr/>
        </p:nvPicPr>
        <p:blipFill>
          <a:blip r:embed="rId7"/>
          <a:stretch>
            <a:fillRect/>
          </a:stretch>
        </p:blipFill>
        <p:spPr>
          <a:xfrm>
            <a:off x="1069848" y="4489704"/>
            <a:ext cx="210312" cy="210312"/>
          </a:xfrm>
          <a:prstGeom prst="rect">
            <a:avLst/>
          </a:prstGeom>
        </p:spPr>
      </p:pic>
      <p:sp>
        <p:nvSpPr>
          <p:cNvPr id="34" name="Text 25"/>
          <p:cNvSpPr/>
          <p:nvPr/>
        </p:nvSpPr>
        <p:spPr>
          <a:xfrm>
            <a:off x="1353312" y="4315968"/>
            <a:ext cx="3840480" cy="658368"/>
          </a:xfrm>
          <a:prstGeom prst="rect">
            <a:avLst/>
          </a:prstGeom>
          <a:noFill/>
          <a:ln/>
        </p:spPr>
        <p:txBody>
          <a:bodyPr wrap="square" lIns="0" tIns="0" rIns="0" bIns="0" rtlCol="0" anchor="ctr"/>
          <a:lstStyle/>
          <a:p>
            <a:pPr indent="0" marL="0">
              <a:buNone/>
            </a:pPr>
            <a:r>
              <a:rPr lang="en-US" sz="1420" b="1" dirty="0">
                <a:solidFill>
                  <a:srgbClr val="334155"/>
                </a:solidFill>
                <a:latin typeface="Segoe UI" pitchFamily="34" charset="0"/>
                <a:ea typeface="Segoe UI" pitchFamily="34" charset="-122"/>
                <a:cs typeface="Segoe UI" pitchFamily="34" charset="-120"/>
              </a:rPr>
              <a:t>Chưa đồng thiết kế đầy đủ với cán bộ tiếp dân</a:t>
            </a:r>
            <a:endParaRPr lang="en-US" sz="1420" dirty="0"/>
          </a:p>
        </p:txBody>
      </p:sp>
      <p:sp>
        <p:nvSpPr>
          <p:cNvPr id="35" name="Shape 26"/>
          <p:cNvSpPr/>
          <p:nvPr/>
        </p:nvSpPr>
        <p:spPr>
          <a:xfrm>
            <a:off x="5330952" y="4645152"/>
            <a:ext cx="566928" cy="0"/>
          </a:xfrm>
          <a:prstGeom prst="line">
            <a:avLst/>
          </a:prstGeom>
          <a:noFill/>
          <a:ln w="15240">
            <a:solidFill>
              <a:srgbClr val="1D4ED8"/>
            </a:solidFill>
            <a:prstDash val="solid"/>
            <a:tailEnd type="triangle"/>
          </a:ln>
        </p:spPr>
      </p:sp>
      <p:sp>
        <p:nvSpPr>
          <p:cNvPr id="36" name="Shape 27"/>
          <p:cNvSpPr/>
          <p:nvPr/>
        </p:nvSpPr>
        <p:spPr>
          <a:xfrm>
            <a:off x="6053328" y="4315968"/>
            <a:ext cx="5532120" cy="658368"/>
          </a:xfrm>
          <a:prstGeom prst="roundRect">
            <a:avLst>
              <a:gd name="adj" fmla="val 9722"/>
            </a:avLst>
          </a:prstGeom>
          <a:solidFill>
            <a:srgbClr val="EAF6F5"/>
          </a:solidFill>
          <a:ln w="10160">
            <a:solidFill>
              <a:srgbClr val="B6D9D5"/>
            </a:solidFill>
            <a:prstDash val="solid"/>
          </a:ln>
        </p:spPr>
      </p:sp>
      <p:pic>
        <p:nvPicPr>
          <p:cNvPr id="37" name="Image 7" descr="preencoded.png">    </p:cNvPr>
          <p:cNvPicPr>
            <a:picLocks noChangeAspect="1"/>
          </p:cNvPicPr>
          <p:nvPr/>
        </p:nvPicPr>
        <p:blipFill>
          <a:blip r:embed="rId8"/>
          <a:stretch>
            <a:fillRect/>
          </a:stretch>
        </p:blipFill>
        <p:spPr>
          <a:xfrm>
            <a:off x="6245352" y="4489704"/>
            <a:ext cx="210312" cy="210312"/>
          </a:xfrm>
          <a:prstGeom prst="rect">
            <a:avLst/>
          </a:prstGeom>
        </p:spPr>
      </p:pic>
      <p:sp>
        <p:nvSpPr>
          <p:cNvPr id="38" name="Text 28"/>
          <p:cNvSpPr/>
          <p:nvPr/>
        </p:nvSpPr>
        <p:spPr>
          <a:xfrm>
            <a:off x="6547104" y="4315968"/>
            <a:ext cx="4800600" cy="658368"/>
          </a:xfrm>
          <a:prstGeom prst="rect">
            <a:avLst/>
          </a:prstGeom>
          <a:noFill/>
          <a:ln/>
        </p:spPr>
        <p:txBody>
          <a:bodyPr wrap="square" lIns="0" tIns="0" rIns="0" bIns="0" rtlCol="0" anchor="ctr"/>
          <a:lstStyle/>
          <a:p>
            <a:pPr indent="0" marL="0">
              <a:buNone/>
            </a:pPr>
            <a:r>
              <a:rPr lang="en-US" sz="1320" dirty="0">
                <a:solidFill>
                  <a:srgbClr val="0F172A"/>
                </a:solidFill>
                <a:latin typeface="Segoe UI" pitchFamily="34" charset="0"/>
                <a:ea typeface="Segoe UI" pitchFamily="34" charset="-122"/>
                <a:cs typeface="Segoe UI" pitchFamily="34" charset="-120"/>
              </a:rPr>
              <a:t>Bổ sung tình huống thực tế và câu hỏi thường gặp tại quầy.</a:t>
            </a:r>
            <a:endParaRPr lang="en-US" sz="1320" dirty="0"/>
          </a:p>
        </p:txBody>
      </p:sp>
      <p:sp>
        <p:nvSpPr>
          <p:cNvPr id="39" name="Shape 29"/>
          <p:cNvSpPr/>
          <p:nvPr/>
        </p:nvSpPr>
        <p:spPr>
          <a:xfrm>
            <a:off x="603504" y="5303520"/>
            <a:ext cx="347472" cy="347472"/>
          </a:xfrm>
          <a:prstGeom prst="ellipse">
            <a:avLst/>
          </a:prstGeom>
          <a:solidFill>
            <a:srgbClr val="1E3A8A"/>
          </a:solidFill>
          <a:ln w="12700">
            <a:solidFill>
              <a:srgbClr val="1E3A8A"/>
            </a:solidFill>
            <a:prstDash val="solid"/>
          </a:ln>
        </p:spPr>
      </p:sp>
      <p:sp>
        <p:nvSpPr>
          <p:cNvPr id="40" name="Text 30"/>
          <p:cNvSpPr/>
          <p:nvPr/>
        </p:nvSpPr>
        <p:spPr>
          <a:xfrm>
            <a:off x="603504" y="530352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5</a:t>
            </a:r>
            <a:endParaRPr lang="en-US" sz="1100" dirty="0"/>
          </a:p>
        </p:txBody>
      </p:sp>
      <p:pic>
        <p:nvPicPr>
          <p:cNvPr id="41" name="Image 8" descr="preencoded.png">    </p:cNvPr>
          <p:cNvPicPr>
            <a:picLocks noChangeAspect="1"/>
          </p:cNvPicPr>
          <p:nvPr/>
        </p:nvPicPr>
        <p:blipFill>
          <a:blip r:embed="rId9"/>
          <a:stretch>
            <a:fillRect/>
          </a:stretch>
        </p:blipFill>
        <p:spPr>
          <a:xfrm>
            <a:off x="1069848" y="5330952"/>
            <a:ext cx="210312" cy="210312"/>
          </a:xfrm>
          <a:prstGeom prst="rect">
            <a:avLst/>
          </a:prstGeom>
        </p:spPr>
      </p:pic>
      <p:sp>
        <p:nvSpPr>
          <p:cNvPr id="42" name="Text 31"/>
          <p:cNvSpPr/>
          <p:nvPr/>
        </p:nvSpPr>
        <p:spPr>
          <a:xfrm>
            <a:off x="1353312" y="5157216"/>
            <a:ext cx="3840480" cy="658368"/>
          </a:xfrm>
          <a:prstGeom prst="rect">
            <a:avLst/>
          </a:prstGeom>
          <a:noFill/>
          <a:ln/>
        </p:spPr>
        <p:txBody>
          <a:bodyPr wrap="square" lIns="0" tIns="0" rIns="0" bIns="0" rtlCol="0" anchor="ctr"/>
          <a:lstStyle/>
          <a:p>
            <a:pPr indent="0" marL="0">
              <a:buNone/>
            </a:pPr>
            <a:r>
              <a:rPr lang="en-US" sz="1420" b="1" dirty="0">
                <a:solidFill>
                  <a:srgbClr val="334155"/>
                </a:solidFill>
                <a:latin typeface="Segoe UI" pitchFamily="34" charset="0"/>
                <a:ea typeface="Segoe UI" pitchFamily="34" charset="-122"/>
                <a:cs typeface="Segoe UI" pitchFamily="34" charset="-120"/>
              </a:rPr>
              <a:t>Chưa kiểm thử trên diện rộng</a:t>
            </a:r>
            <a:endParaRPr lang="en-US" sz="1420" dirty="0"/>
          </a:p>
        </p:txBody>
      </p:sp>
      <p:sp>
        <p:nvSpPr>
          <p:cNvPr id="43" name="Shape 32"/>
          <p:cNvSpPr/>
          <p:nvPr/>
        </p:nvSpPr>
        <p:spPr>
          <a:xfrm>
            <a:off x="5330952" y="5486400"/>
            <a:ext cx="566928" cy="0"/>
          </a:xfrm>
          <a:prstGeom prst="line">
            <a:avLst/>
          </a:prstGeom>
          <a:noFill/>
          <a:ln w="15240">
            <a:solidFill>
              <a:srgbClr val="1D4ED8"/>
            </a:solidFill>
            <a:prstDash val="solid"/>
            <a:tailEnd type="triangle"/>
          </a:ln>
        </p:spPr>
      </p:sp>
      <p:sp>
        <p:nvSpPr>
          <p:cNvPr id="44" name="Shape 33"/>
          <p:cNvSpPr/>
          <p:nvPr/>
        </p:nvSpPr>
        <p:spPr>
          <a:xfrm>
            <a:off x="6053328" y="5157216"/>
            <a:ext cx="5532120" cy="658368"/>
          </a:xfrm>
          <a:prstGeom prst="roundRect">
            <a:avLst>
              <a:gd name="adj" fmla="val 9722"/>
            </a:avLst>
          </a:prstGeom>
          <a:solidFill>
            <a:srgbClr val="EAF6F5"/>
          </a:solidFill>
          <a:ln w="10160">
            <a:solidFill>
              <a:srgbClr val="B6D9D5"/>
            </a:solidFill>
            <a:prstDash val="solid"/>
          </a:ln>
        </p:spPr>
      </p:sp>
      <p:pic>
        <p:nvPicPr>
          <p:cNvPr id="45" name="Image 9" descr="preencoded.png">    </p:cNvPr>
          <p:cNvPicPr>
            <a:picLocks noChangeAspect="1"/>
          </p:cNvPicPr>
          <p:nvPr/>
        </p:nvPicPr>
        <p:blipFill>
          <a:blip r:embed="rId10"/>
          <a:stretch>
            <a:fillRect/>
          </a:stretch>
        </p:blipFill>
        <p:spPr>
          <a:xfrm>
            <a:off x="6245352" y="5330952"/>
            <a:ext cx="210312" cy="210312"/>
          </a:xfrm>
          <a:prstGeom prst="rect">
            <a:avLst/>
          </a:prstGeom>
        </p:spPr>
      </p:pic>
      <p:sp>
        <p:nvSpPr>
          <p:cNvPr id="46" name="Text 34"/>
          <p:cNvSpPr/>
          <p:nvPr/>
        </p:nvSpPr>
        <p:spPr>
          <a:xfrm>
            <a:off x="6547104" y="5157216"/>
            <a:ext cx="4800600" cy="658368"/>
          </a:xfrm>
          <a:prstGeom prst="rect">
            <a:avLst/>
          </a:prstGeom>
          <a:noFill/>
          <a:ln/>
        </p:spPr>
        <p:txBody>
          <a:bodyPr wrap="square" lIns="0" tIns="0" rIns="0" bIns="0" rtlCol="0" anchor="ctr"/>
          <a:lstStyle/>
          <a:p>
            <a:pPr indent="0" marL="0">
              <a:buNone/>
            </a:pPr>
            <a:r>
              <a:rPr lang="en-US" sz="1320" dirty="0">
                <a:solidFill>
                  <a:srgbClr val="0F172A"/>
                </a:solidFill>
                <a:latin typeface="Segoe UI" pitchFamily="34" charset="0"/>
                <a:ea typeface="Segoe UI" pitchFamily="34" charset="-122"/>
                <a:cs typeface="Segoe UI" pitchFamily="34" charset="-120"/>
              </a:rPr>
              <a:t>Thí điểm phạm vi hẹp → đánh giá kết quả → mới nhân rộng toàn tỉnh.</a:t>
            </a:r>
            <a:endParaRPr lang="en-US" sz="1320" dirty="0"/>
          </a:p>
        </p:txBody>
      </p:sp>
      <p:sp>
        <p:nvSpPr>
          <p:cNvPr id="47" name="Text 35"/>
          <p:cNvSpPr/>
          <p:nvPr/>
        </p:nvSpPr>
        <p:spPr>
          <a:xfrm>
            <a:off x="603504" y="6062472"/>
            <a:ext cx="10984687" cy="228600"/>
          </a:xfrm>
          <a:prstGeom prst="rect">
            <a:avLst/>
          </a:prstGeom>
          <a:noFill/>
          <a:ln/>
        </p:spPr>
        <p:txBody>
          <a:bodyPr wrap="square" lIns="0" tIns="0" rIns="0" bIns="0" rtlCol="0" anchor="ctr"/>
          <a:lstStyle/>
          <a:p>
            <a:pPr algn="ctr" indent="0" marL="0">
              <a:buNone/>
            </a:pPr>
            <a:r>
              <a:rPr lang="en-US" sz="1200" i="1" dirty="0">
                <a:solidFill>
                  <a:srgbClr val="64748B"/>
                </a:solidFill>
                <a:latin typeface="Segoe UI" pitchFamily="34" charset="0"/>
                <a:ea typeface="Segoe UI" pitchFamily="34" charset="-122"/>
                <a:cs typeface="Segoe UI" pitchFamily="34" charset="-120"/>
              </a:rPr>
              <a:t>Công trình đang trong giai đoạn hoàn thiện — báo cáo trung thực để hoàn thiện một cách thực chất.</a:t>
            </a:r>
            <a:endParaRPr lang="en-US" sz="1200" dirty="0"/>
          </a:p>
        </p:txBody>
      </p:sp>
      <p:sp>
        <p:nvSpPr>
          <p:cNvPr id="48" name="Shape 36"/>
          <p:cNvSpPr/>
          <p:nvPr/>
        </p:nvSpPr>
        <p:spPr>
          <a:xfrm>
            <a:off x="603504" y="6556248"/>
            <a:ext cx="10984687" cy="0"/>
          </a:xfrm>
          <a:prstGeom prst="line">
            <a:avLst/>
          </a:prstGeom>
          <a:noFill/>
          <a:ln w="8890">
            <a:solidFill>
              <a:srgbClr val="E2E8F0"/>
            </a:solidFill>
            <a:prstDash val="solid"/>
          </a:ln>
        </p:spPr>
      </p:sp>
      <p:sp>
        <p:nvSpPr>
          <p:cNvPr id="49" name="Text 37"/>
          <p:cNvSpPr/>
          <p:nvPr/>
        </p:nvSpPr>
        <p:spPr>
          <a:xfrm>
            <a:off x="603504" y="6601968"/>
            <a:ext cx="4572000" cy="164592"/>
          </a:xfrm>
          <a:prstGeom prst="rect">
            <a:avLst/>
          </a:prstGeom>
          <a:noFill/>
          <a:ln/>
        </p:spPr>
        <p:txBody>
          <a:bodyPr wrap="square" lIns="0" tIns="0" rIns="0" bIns="0" rtlCol="0" anchor="ctr"/>
          <a:lstStyle/>
          <a:p>
            <a:pPr indent="0" marL="0">
              <a:buNone/>
            </a:pPr>
            <a:r>
              <a:rPr lang="en-US" sz="950" b="1" spc="120" kern="0" dirty="0">
                <a:solidFill>
                  <a:srgbClr val="64748B"/>
                </a:solidFill>
                <a:latin typeface="Segoe UI" pitchFamily="34" charset="0"/>
                <a:ea typeface="Segoe UI" pitchFamily="34" charset="-122"/>
                <a:cs typeface="Segoe UI" pitchFamily="34" charset="-120"/>
              </a:rPr>
              <a:t>BẢN ĐỒ CÔNG AN SỐ · TỈNH PHÚ THỌ</a:t>
            </a:r>
            <a:endParaRPr lang="en-US" sz="950" dirty="0"/>
          </a:p>
        </p:txBody>
      </p:sp>
      <p:sp>
        <p:nvSpPr>
          <p:cNvPr id="50" name="Text 38"/>
          <p:cNvSpPr/>
          <p:nvPr/>
        </p:nvSpPr>
        <p:spPr>
          <a:xfrm>
            <a:off x="11222431" y="6583680"/>
            <a:ext cx="365760" cy="182880"/>
          </a:xfrm>
          <a:prstGeom prst="rect">
            <a:avLst/>
          </a:prstGeom>
          <a:noFill/>
          <a:ln/>
        </p:spPr>
        <p:txBody>
          <a:bodyPr wrap="square" lIns="0" tIns="0" rIns="0" bIns="0" rtlCol="0" anchor="ctr"/>
          <a:lstStyle/>
          <a:p>
            <a:pPr algn="r" indent="0" marL="0">
              <a:buNone/>
            </a:pPr>
            <a:r>
              <a:rPr lang="en-US" sz="1000" b="1" dirty="0">
                <a:solidFill>
                  <a:srgbClr val="64748B"/>
                </a:solidFill>
                <a:latin typeface="Segoe UI" pitchFamily="34" charset="0"/>
                <a:ea typeface="Segoe UI" pitchFamily="34" charset="-122"/>
                <a:cs typeface="Segoe UI" pitchFamily="34" charset="-120"/>
              </a:rPr>
              <a:t>10</a:t>
            </a:r>
            <a:endParaRPr lang="en-US" sz="1000" dirty="0"/>
          </a:p>
        </p:txBody>
      </p:sp>
    </p:spTree>
  </p:cSld>
  <p:clrMapOvr>
    <a:masterClrMapping/>
  </p:clrMapOvr>
  <p:transition xmlns:p14="http://schemas.microsoft.com/office/powerpoint/2010/main" spd="med" p14:dur="450">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6306E"/>
        </a:solidFill>
      </p:bgPr>
    </p:bg>
    <p:spTree>
      <p:nvGrpSpPr>
        <p:cNvPr id="1" name=""/>
        <p:cNvGrpSpPr/>
        <p:nvPr/>
      </p:nvGrpSpPr>
      <p:grpSpPr>
        <a:xfrm>
          <a:off x="0" y="0"/>
          <a:ext cx="0" cy="0"/>
          <a:chOff x="0" y="0"/>
          <a:chExt cx="0" cy="0"/>
        </a:xfrm>
      </p:grpSpPr>
      <p:sp>
        <p:nvSpPr>
          <p:cNvPr id="2" name="Shape 0"/>
          <p:cNvSpPr/>
          <p:nvPr/>
        </p:nvSpPr>
        <p:spPr>
          <a:xfrm>
            <a:off x="9990277" y="534010"/>
            <a:ext cx="755752" cy="234086"/>
          </a:xfrm>
          <a:prstGeom prst="line">
            <a:avLst/>
          </a:prstGeom>
          <a:noFill/>
          <a:ln w="15240">
            <a:solidFill>
              <a:srgbClr val="6F89C5">
                <a:alpha val="54000"/>
              </a:srgbClr>
            </a:solidFill>
            <a:prstDash val="solid"/>
            <a:tailEnd type="none"/>
          </a:ln>
        </p:spPr>
      </p:sp>
      <p:sp>
        <p:nvSpPr>
          <p:cNvPr id="3" name="Shape 1"/>
          <p:cNvSpPr/>
          <p:nvPr/>
        </p:nvSpPr>
        <p:spPr>
          <a:xfrm>
            <a:off x="10746029" y="768096"/>
            <a:ext cx="495148" cy="614477"/>
          </a:xfrm>
          <a:prstGeom prst="line">
            <a:avLst/>
          </a:prstGeom>
          <a:noFill/>
          <a:ln w="15240">
            <a:solidFill>
              <a:srgbClr val="6F89C5">
                <a:alpha val="54000"/>
              </a:srgbClr>
            </a:solidFill>
            <a:prstDash val="solid"/>
            <a:tailEnd type="none"/>
          </a:ln>
        </p:spPr>
      </p:sp>
      <p:sp>
        <p:nvSpPr>
          <p:cNvPr id="4" name="Shape 2"/>
          <p:cNvSpPr/>
          <p:nvPr/>
        </p:nvSpPr>
        <p:spPr>
          <a:xfrm flipH="1">
            <a:off x="11032693" y="1382573"/>
            <a:ext cx="208483" cy="614477"/>
          </a:xfrm>
          <a:prstGeom prst="line">
            <a:avLst/>
          </a:prstGeom>
          <a:noFill/>
          <a:ln w="15240">
            <a:solidFill>
              <a:srgbClr val="6F89C5">
                <a:alpha val="54000"/>
              </a:srgbClr>
            </a:solidFill>
            <a:prstDash val="solid"/>
            <a:tailEnd type="none"/>
          </a:ln>
        </p:spPr>
      </p:sp>
      <p:sp>
        <p:nvSpPr>
          <p:cNvPr id="5" name="Shape 3"/>
          <p:cNvSpPr/>
          <p:nvPr/>
        </p:nvSpPr>
        <p:spPr>
          <a:xfrm>
            <a:off x="11032693" y="1997050"/>
            <a:ext cx="338785" cy="555955"/>
          </a:xfrm>
          <a:prstGeom prst="line">
            <a:avLst/>
          </a:prstGeom>
          <a:noFill/>
          <a:ln w="15240">
            <a:solidFill>
              <a:srgbClr val="6F89C5">
                <a:alpha val="54000"/>
              </a:srgbClr>
            </a:solidFill>
            <a:prstDash val="solid"/>
            <a:tailEnd type="none"/>
          </a:ln>
        </p:spPr>
      </p:sp>
      <p:sp>
        <p:nvSpPr>
          <p:cNvPr id="6" name="Shape 4"/>
          <p:cNvSpPr/>
          <p:nvPr/>
        </p:nvSpPr>
        <p:spPr>
          <a:xfrm flipH="1">
            <a:off x="10615727" y="2553005"/>
            <a:ext cx="755752" cy="731520"/>
          </a:xfrm>
          <a:prstGeom prst="line">
            <a:avLst/>
          </a:prstGeom>
          <a:noFill/>
          <a:ln w="15240">
            <a:solidFill>
              <a:srgbClr val="6F89C5">
                <a:alpha val="54000"/>
              </a:srgbClr>
            </a:solidFill>
            <a:prstDash val="solid"/>
            <a:tailEnd type="none"/>
          </a:ln>
        </p:spPr>
      </p:sp>
      <p:sp>
        <p:nvSpPr>
          <p:cNvPr id="7" name="Shape 5"/>
          <p:cNvSpPr/>
          <p:nvPr/>
        </p:nvSpPr>
        <p:spPr>
          <a:xfrm flipH="1" flipV="1">
            <a:off x="9859975" y="3021178"/>
            <a:ext cx="755752" cy="263347"/>
          </a:xfrm>
          <a:prstGeom prst="line">
            <a:avLst/>
          </a:prstGeom>
          <a:noFill/>
          <a:ln w="15240">
            <a:solidFill>
              <a:srgbClr val="6F89C5">
                <a:alpha val="54000"/>
              </a:srgbClr>
            </a:solidFill>
            <a:prstDash val="solid"/>
            <a:tailEnd type="none"/>
          </a:ln>
        </p:spPr>
      </p:sp>
      <p:sp>
        <p:nvSpPr>
          <p:cNvPr id="8" name="Shape 6"/>
          <p:cNvSpPr/>
          <p:nvPr/>
        </p:nvSpPr>
        <p:spPr>
          <a:xfrm flipH="1">
            <a:off x="9469069" y="3021178"/>
            <a:ext cx="390906" cy="351130"/>
          </a:xfrm>
          <a:prstGeom prst="line">
            <a:avLst/>
          </a:prstGeom>
          <a:noFill/>
          <a:ln w="15240">
            <a:solidFill>
              <a:srgbClr val="6F89C5">
                <a:alpha val="54000"/>
              </a:srgbClr>
            </a:solidFill>
            <a:prstDash val="solid"/>
            <a:tailEnd type="none"/>
          </a:ln>
        </p:spPr>
      </p:sp>
      <p:sp>
        <p:nvSpPr>
          <p:cNvPr id="9" name="Shape 7"/>
          <p:cNvSpPr/>
          <p:nvPr/>
        </p:nvSpPr>
        <p:spPr>
          <a:xfrm flipH="1" flipV="1">
            <a:off x="9078163" y="2523744"/>
            <a:ext cx="390906" cy="848563"/>
          </a:xfrm>
          <a:prstGeom prst="line">
            <a:avLst/>
          </a:prstGeom>
          <a:noFill/>
          <a:ln w="15240">
            <a:solidFill>
              <a:srgbClr val="6F89C5">
                <a:alpha val="54000"/>
              </a:srgbClr>
            </a:solidFill>
            <a:prstDash val="solid"/>
            <a:tailEnd type="none"/>
          </a:ln>
        </p:spPr>
      </p:sp>
      <p:sp>
        <p:nvSpPr>
          <p:cNvPr id="10" name="Shape 8"/>
          <p:cNvSpPr/>
          <p:nvPr/>
        </p:nvSpPr>
        <p:spPr>
          <a:xfrm flipV="1">
            <a:off x="9078163" y="1880006"/>
            <a:ext cx="260604" cy="643738"/>
          </a:xfrm>
          <a:prstGeom prst="line">
            <a:avLst/>
          </a:prstGeom>
          <a:noFill/>
          <a:ln w="15240">
            <a:solidFill>
              <a:srgbClr val="6F89C5">
                <a:alpha val="54000"/>
              </a:srgbClr>
            </a:solidFill>
            <a:prstDash val="solid"/>
            <a:tailEnd type="none"/>
          </a:ln>
        </p:spPr>
      </p:sp>
      <p:sp>
        <p:nvSpPr>
          <p:cNvPr id="11" name="Shape 9"/>
          <p:cNvSpPr/>
          <p:nvPr/>
        </p:nvSpPr>
        <p:spPr>
          <a:xfrm flipH="1" flipV="1">
            <a:off x="8921801" y="1265530"/>
            <a:ext cx="416966" cy="614477"/>
          </a:xfrm>
          <a:prstGeom prst="line">
            <a:avLst/>
          </a:prstGeom>
          <a:noFill/>
          <a:ln w="15240">
            <a:solidFill>
              <a:srgbClr val="6F89C5">
                <a:alpha val="54000"/>
              </a:srgbClr>
            </a:solidFill>
            <a:prstDash val="solid"/>
            <a:tailEnd type="none"/>
          </a:ln>
        </p:spPr>
      </p:sp>
      <p:sp>
        <p:nvSpPr>
          <p:cNvPr id="12" name="Shape 10"/>
          <p:cNvSpPr/>
          <p:nvPr/>
        </p:nvSpPr>
        <p:spPr>
          <a:xfrm flipV="1">
            <a:off x="8921801" y="972922"/>
            <a:ext cx="651510" cy="292608"/>
          </a:xfrm>
          <a:prstGeom prst="line">
            <a:avLst/>
          </a:prstGeom>
          <a:noFill/>
          <a:ln w="15240">
            <a:solidFill>
              <a:srgbClr val="6F89C5">
                <a:alpha val="54000"/>
              </a:srgbClr>
            </a:solidFill>
            <a:prstDash val="solid"/>
            <a:tailEnd type="none"/>
          </a:ln>
        </p:spPr>
      </p:sp>
      <p:sp>
        <p:nvSpPr>
          <p:cNvPr id="13" name="Shape 11"/>
          <p:cNvSpPr/>
          <p:nvPr/>
        </p:nvSpPr>
        <p:spPr>
          <a:xfrm flipV="1">
            <a:off x="9573311" y="534010"/>
            <a:ext cx="416966" cy="438912"/>
          </a:xfrm>
          <a:prstGeom prst="line">
            <a:avLst/>
          </a:prstGeom>
          <a:noFill/>
          <a:ln w="15240">
            <a:solidFill>
              <a:srgbClr val="6F89C5">
                <a:alpha val="54000"/>
              </a:srgbClr>
            </a:solidFill>
            <a:prstDash val="solid"/>
            <a:tailEnd type="none"/>
          </a:ln>
        </p:spPr>
      </p:sp>
      <p:sp>
        <p:nvSpPr>
          <p:cNvPr id="14" name="Shape 12"/>
          <p:cNvSpPr/>
          <p:nvPr/>
        </p:nvSpPr>
        <p:spPr>
          <a:xfrm flipV="1">
            <a:off x="9547250" y="1148486"/>
            <a:ext cx="755752" cy="380390"/>
          </a:xfrm>
          <a:prstGeom prst="line">
            <a:avLst/>
          </a:prstGeom>
          <a:noFill/>
          <a:ln w="10160">
            <a:solidFill>
              <a:srgbClr val="6F89C5">
                <a:alpha val="40000"/>
              </a:srgbClr>
            </a:solidFill>
            <a:prstDash val="solid"/>
            <a:tailEnd type="none"/>
          </a:ln>
        </p:spPr>
      </p:sp>
      <p:sp>
        <p:nvSpPr>
          <p:cNvPr id="15" name="Shape 13"/>
          <p:cNvSpPr/>
          <p:nvPr/>
        </p:nvSpPr>
        <p:spPr>
          <a:xfrm>
            <a:off x="10303002" y="1148486"/>
            <a:ext cx="443027" cy="672998"/>
          </a:xfrm>
          <a:prstGeom prst="line">
            <a:avLst/>
          </a:prstGeom>
          <a:noFill/>
          <a:ln w="10160">
            <a:solidFill>
              <a:srgbClr val="6F89C5">
                <a:alpha val="40000"/>
              </a:srgbClr>
            </a:solidFill>
            <a:prstDash val="solid"/>
            <a:tailEnd type="none"/>
          </a:ln>
        </p:spPr>
      </p:sp>
      <p:sp>
        <p:nvSpPr>
          <p:cNvPr id="16" name="Shape 14"/>
          <p:cNvSpPr/>
          <p:nvPr/>
        </p:nvSpPr>
        <p:spPr>
          <a:xfrm flipH="1">
            <a:off x="9964217" y="1821485"/>
            <a:ext cx="781812" cy="585216"/>
          </a:xfrm>
          <a:prstGeom prst="line">
            <a:avLst/>
          </a:prstGeom>
          <a:noFill/>
          <a:ln w="10160">
            <a:solidFill>
              <a:srgbClr val="6F89C5">
                <a:alpha val="40000"/>
              </a:srgbClr>
            </a:solidFill>
            <a:prstDash val="solid"/>
            <a:tailEnd type="none"/>
          </a:ln>
        </p:spPr>
      </p:sp>
      <p:sp>
        <p:nvSpPr>
          <p:cNvPr id="17" name="Shape 15"/>
          <p:cNvSpPr/>
          <p:nvPr/>
        </p:nvSpPr>
        <p:spPr>
          <a:xfrm>
            <a:off x="9964217" y="2406701"/>
            <a:ext cx="677570" cy="380390"/>
          </a:xfrm>
          <a:prstGeom prst="line">
            <a:avLst/>
          </a:prstGeom>
          <a:noFill/>
          <a:ln w="10160">
            <a:solidFill>
              <a:srgbClr val="6F89C5">
                <a:alpha val="40000"/>
              </a:srgbClr>
            </a:solidFill>
            <a:prstDash val="solid"/>
            <a:tailEnd type="none"/>
          </a:ln>
        </p:spPr>
      </p:sp>
      <p:sp>
        <p:nvSpPr>
          <p:cNvPr id="18" name="Shape 16"/>
          <p:cNvSpPr/>
          <p:nvPr/>
        </p:nvSpPr>
        <p:spPr>
          <a:xfrm flipH="1" flipV="1">
            <a:off x="9390888" y="2611526"/>
            <a:ext cx="1250899" cy="175565"/>
          </a:xfrm>
          <a:prstGeom prst="line">
            <a:avLst/>
          </a:prstGeom>
          <a:noFill/>
          <a:ln w="10160">
            <a:solidFill>
              <a:srgbClr val="6F89C5">
                <a:alpha val="40000"/>
              </a:srgbClr>
            </a:solidFill>
            <a:prstDash val="solid"/>
            <a:tailEnd type="none"/>
          </a:ln>
        </p:spPr>
      </p:sp>
      <p:sp>
        <p:nvSpPr>
          <p:cNvPr id="19" name="Shape 17"/>
          <p:cNvSpPr/>
          <p:nvPr/>
        </p:nvSpPr>
        <p:spPr>
          <a:xfrm>
            <a:off x="9501530" y="1483157"/>
            <a:ext cx="91440" cy="91440"/>
          </a:xfrm>
          <a:prstGeom prst="ellipse">
            <a:avLst/>
          </a:prstGeom>
          <a:solidFill>
            <a:srgbClr val="6F89C5">
              <a:alpha val="88000"/>
            </a:srgbClr>
          </a:solidFill>
          <a:ln w="12700">
            <a:solidFill>
              <a:srgbClr val="6F89C5">
                <a:alpha val="75000"/>
              </a:srgbClr>
            </a:solidFill>
            <a:prstDash val="solid"/>
          </a:ln>
        </p:spPr>
      </p:sp>
      <p:sp>
        <p:nvSpPr>
          <p:cNvPr id="20" name="Shape 18"/>
          <p:cNvSpPr/>
          <p:nvPr/>
        </p:nvSpPr>
        <p:spPr>
          <a:xfrm>
            <a:off x="10257282" y="1102766"/>
            <a:ext cx="91440" cy="91440"/>
          </a:xfrm>
          <a:prstGeom prst="ellipse">
            <a:avLst/>
          </a:prstGeom>
          <a:solidFill>
            <a:srgbClr val="6F89C5">
              <a:alpha val="88000"/>
            </a:srgbClr>
          </a:solidFill>
          <a:ln w="12700">
            <a:solidFill>
              <a:srgbClr val="6F89C5">
                <a:alpha val="75000"/>
              </a:srgbClr>
            </a:solidFill>
            <a:prstDash val="solid"/>
          </a:ln>
        </p:spPr>
      </p:sp>
      <p:sp>
        <p:nvSpPr>
          <p:cNvPr id="21" name="Shape 19"/>
          <p:cNvSpPr/>
          <p:nvPr/>
        </p:nvSpPr>
        <p:spPr>
          <a:xfrm>
            <a:off x="10700309" y="1775765"/>
            <a:ext cx="91440" cy="91440"/>
          </a:xfrm>
          <a:prstGeom prst="ellipse">
            <a:avLst/>
          </a:prstGeom>
          <a:solidFill>
            <a:srgbClr val="6F89C5">
              <a:alpha val="88000"/>
            </a:srgbClr>
          </a:solidFill>
          <a:ln w="12700">
            <a:solidFill>
              <a:srgbClr val="6F89C5">
                <a:alpha val="75000"/>
              </a:srgbClr>
            </a:solidFill>
            <a:prstDash val="solid"/>
          </a:ln>
        </p:spPr>
      </p:sp>
      <p:sp>
        <p:nvSpPr>
          <p:cNvPr id="22" name="Shape 20"/>
          <p:cNvSpPr/>
          <p:nvPr/>
        </p:nvSpPr>
        <p:spPr>
          <a:xfrm>
            <a:off x="9918497" y="2360981"/>
            <a:ext cx="91440" cy="91440"/>
          </a:xfrm>
          <a:prstGeom prst="ellipse">
            <a:avLst/>
          </a:prstGeom>
          <a:solidFill>
            <a:srgbClr val="0B7A75">
              <a:alpha val="88000"/>
            </a:srgbClr>
          </a:solidFill>
          <a:ln w="12700">
            <a:solidFill>
              <a:srgbClr val="0B7A75">
                <a:alpha val="75000"/>
              </a:srgbClr>
            </a:solidFill>
            <a:prstDash val="solid"/>
          </a:ln>
        </p:spPr>
      </p:sp>
      <p:sp>
        <p:nvSpPr>
          <p:cNvPr id="23" name="Shape 21"/>
          <p:cNvSpPr/>
          <p:nvPr/>
        </p:nvSpPr>
        <p:spPr>
          <a:xfrm>
            <a:off x="10596067" y="2741371"/>
            <a:ext cx="91440" cy="91440"/>
          </a:xfrm>
          <a:prstGeom prst="ellipse">
            <a:avLst/>
          </a:prstGeom>
          <a:solidFill>
            <a:srgbClr val="6F89C5">
              <a:alpha val="88000"/>
            </a:srgbClr>
          </a:solidFill>
          <a:ln w="12700">
            <a:solidFill>
              <a:srgbClr val="6F89C5">
                <a:alpha val="75000"/>
              </a:srgbClr>
            </a:solidFill>
            <a:prstDash val="solid"/>
          </a:ln>
        </p:spPr>
      </p:sp>
      <p:sp>
        <p:nvSpPr>
          <p:cNvPr id="24" name="Shape 22"/>
          <p:cNvSpPr/>
          <p:nvPr/>
        </p:nvSpPr>
        <p:spPr>
          <a:xfrm>
            <a:off x="9345168" y="2565806"/>
            <a:ext cx="91440" cy="91440"/>
          </a:xfrm>
          <a:prstGeom prst="ellipse">
            <a:avLst/>
          </a:prstGeom>
          <a:solidFill>
            <a:srgbClr val="6F89C5">
              <a:alpha val="88000"/>
            </a:srgbClr>
          </a:solidFill>
          <a:ln w="12700">
            <a:solidFill>
              <a:srgbClr val="6F89C5">
                <a:alpha val="75000"/>
              </a:srgbClr>
            </a:solidFill>
            <a:prstDash val="solid"/>
          </a:ln>
        </p:spPr>
      </p:sp>
      <p:sp>
        <p:nvSpPr>
          <p:cNvPr id="25" name="Text 23"/>
          <p:cNvSpPr/>
          <p:nvPr/>
        </p:nvSpPr>
        <p:spPr>
          <a:xfrm>
            <a:off x="603504" y="393192"/>
            <a:ext cx="4114800" cy="219456"/>
          </a:xfrm>
          <a:prstGeom prst="rect">
            <a:avLst/>
          </a:prstGeom>
          <a:noFill/>
          <a:ln/>
        </p:spPr>
        <p:txBody>
          <a:bodyPr wrap="square" lIns="0" tIns="0" rIns="0" bIns="0" rtlCol="0" anchor="ctr"/>
          <a:lstStyle/>
          <a:p>
            <a:pPr indent="0" marL="0">
              <a:buNone/>
            </a:pPr>
            <a:r>
              <a:rPr lang="en-US" sz="1200" b="1" spc="200" kern="0" dirty="0">
                <a:solidFill>
                  <a:srgbClr val="AFC2E8"/>
                </a:solidFill>
                <a:latin typeface="Segoe UI" pitchFamily="34" charset="0"/>
                <a:ea typeface="Segoe UI" pitchFamily="34" charset="-122"/>
                <a:cs typeface="Segoe UI" pitchFamily="34" charset="-120"/>
              </a:rPr>
              <a:t>TẦM NHÌN THIẾT THỰC</a:t>
            </a:r>
            <a:endParaRPr lang="en-US" sz="1200" dirty="0"/>
          </a:p>
        </p:txBody>
      </p:sp>
      <p:sp>
        <p:nvSpPr>
          <p:cNvPr id="26" name="Text 24"/>
          <p:cNvSpPr/>
          <p:nvPr/>
        </p:nvSpPr>
        <p:spPr>
          <a:xfrm>
            <a:off x="603504" y="731520"/>
            <a:ext cx="7132320" cy="640080"/>
          </a:xfrm>
          <a:prstGeom prst="rect">
            <a:avLst/>
          </a:prstGeom>
          <a:noFill/>
          <a:ln/>
        </p:spPr>
        <p:txBody>
          <a:bodyPr wrap="square" lIns="0" tIns="0" rIns="0" bIns="0" rtlCol="0" anchor="ctr"/>
          <a:lstStyle/>
          <a:p>
            <a:pPr indent="0" marL="0">
              <a:buNone/>
            </a:pPr>
            <a:r>
              <a:rPr lang="en-US" sz="3400" b="1" dirty="0">
                <a:solidFill>
                  <a:srgbClr val="FFFFFF"/>
                </a:solidFill>
                <a:latin typeface="Segoe UI" pitchFamily="34" charset="0"/>
                <a:ea typeface="Segoe UI" pitchFamily="34" charset="-122"/>
                <a:cs typeface="Segoe UI" pitchFamily="34" charset="-120"/>
              </a:rPr>
              <a:t>Một chính quyền số gần dân</a:t>
            </a:r>
            <a:endParaRPr lang="en-US" sz="3400" dirty="0"/>
          </a:p>
        </p:txBody>
      </p:sp>
      <p:sp>
        <p:nvSpPr>
          <p:cNvPr id="27" name="Shape 25"/>
          <p:cNvSpPr/>
          <p:nvPr/>
        </p:nvSpPr>
        <p:spPr>
          <a:xfrm>
            <a:off x="2386584" y="1874520"/>
            <a:ext cx="905256" cy="0"/>
          </a:xfrm>
          <a:prstGeom prst="line">
            <a:avLst/>
          </a:prstGeom>
          <a:noFill/>
          <a:ln w="17780">
            <a:solidFill>
              <a:srgbClr val="7890C4"/>
            </a:solidFill>
            <a:prstDash val="solid"/>
            <a:tailEnd type="triangle"/>
          </a:ln>
        </p:spPr>
      </p:sp>
      <p:sp>
        <p:nvSpPr>
          <p:cNvPr id="28" name="Shape 26"/>
          <p:cNvSpPr/>
          <p:nvPr/>
        </p:nvSpPr>
        <p:spPr>
          <a:xfrm flipH="1">
            <a:off x="2386584" y="2048256"/>
            <a:ext cx="905256" cy="0"/>
          </a:xfrm>
          <a:prstGeom prst="line">
            <a:avLst/>
          </a:prstGeom>
          <a:noFill/>
          <a:ln w="13970">
            <a:solidFill>
              <a:srgbClr val="0B7A75"/>
            </a:solidFill>
            <a:prstDash val="solid"/>
            <a:tailEnd type="triangle"/>
          </a:ln>
        </p:spPr>
      </p:sp>
      <p:sp>
        <p:nvSpPr>
          <p:cNvPr id="29" name="Shape 27"/>
          <p:cNvSpPr/>
          <p:nvPr/>
        </p:nvSpPr>
        <p:spPr>
          <a:xfrm>
            <a:off x="713232" y="1554480"/>
            <a:ext cx="658368" cy="658368"/>
          </a:xfrm>
          <a:prstGeom prst="ellipse">
            <a:avLst/>
          </a:prstGeom>
          <a:solidFill>
            <a:srgbClr val="1E3A8A"/>
          </a:solidFill>
          <a:ln w="12700">
            <a:solidFill>
              <a:srgbClr val="1E3A8A"/>
            </a:solidFill>
            <a:prstDash val="solid"/>
          </a:ln>
        </p:spPr>
      </p:sp>
      <p:pic>
        <p:nvPicPr>
          <p:cNvPr id="30" name="Image 0" descr="preencoded.png">    </p:cNvPr>
          <p:cNvPicPr>
            <a:picLocks noChangeAspect="1"/>
          </p:cNvPicPr>
          <p:nvPr/>
        </p:nvPicPr>
        <p:blipFill>
          <a:blip r:embed="rId1"/>
          <a:stretch>
            <a:fillRect/>
          </a:stretch>
        </p:blipFill>
        <p:spPr>
          <a:xfrm>
            <a:off x="897575" y="1738823"/>
            <a:ext cx="289682" cy="289682"/>
          </a:xfrm>
          <a:prstGeom prst="rect">
            <a:avLst/>
          </a:prstGeom>
        </p:spPr>
      </p:pic>
      <p:sp>
        <p:nvSpPr>
          <p:cNvPr id="31" name="Text 28"/>
          <p:cNvSpPr/>
          <p:nvPr/>
        </p:nvSpPr>
        <p:spPr>
          <a:xfrm>
            <a:off x="1517904" y="1737360"/>
            <a:ext cx="1536192" cy="274320"/>
          </a:xfrm>
          <a:prstGeom prst="rect">
            <a:avLst/>
          </a:prstGeom>
          <a:noFill/>
          <a:ln/>
        </p:spPr>
        <p:txBody>
          <a:bodyPr wrap="square" lIns="0" tIns="0" rIns="0" bIns="0" rtlCol="0" anchor="ctr"/>
          <a:lstStyle/>
          <a:p>
            <a:pPr indent="0" marL="0">
              <a:buNone/>
            </a:pPr>
            <a:r>
              <a:rPr lang="en-US" sz="1400" b="1" dirty="0">
                <a:solidFill>
                  <a:srgbClr val="FFFFFF"/>
                </a:solidFill>
                <a:latin typeface="Segoe UI" pitchFamily="34" charset="0"/>
                <a:ea typeface="Segoe UI" pitchFamily="34" charset="-122"/>
                <a:cs typeface="Segoe UI" pitchFamily="34" charset="-120"/>
              </a:rPr>
              <a:t>Người dân</a:t>
            </a:r>
            <a:endParaRPr lang="en-US" sz="1400" dirty="0"/>
          </a:p>
        </p:txBody>
      </p:sp>
      <p:sp>
        <p:nvSpPr>
          <p:cNvPr id="32" name="Shape 29"/>
          <p:cNvSpPr/>
          <p:nvPr/>
        </p:nvSpPr>
        <p:spPr>
          <a:xfrm>
            <a:off x="5202936" y="1874520"/>
            <a:ext cx="905256" cy="0"/>
          </a:xfrm>
          <a:prstGeom prst="line">
            <a:avLst/>
          </a:prstGeom>
          <a:noFill/>
          <a:ln w="17780">
            <a:solidFill>
              <a:srgbClr val="7890C4"/>
            </a:solidFill>
            <a:prstDash val="solid"/>
            <a:tailEnd type="triangle"/>
          </a:ln>
        </p:spPr>
      </p:sp>
      <p:sp>
        <p:nvSpPr>
          <p:cNvPr id="33" name="Shape 30"/>
          <p:cNvSpPr/>
          <p:nvPr/>
        </p:nvSpPr>
        <p:spPr>
          <a:xfrm flipH="1">
            <a:off x="5202936" y="2048256"/>
            <a:ext cx="905256" cy="0"/>
          </a:xfrm>
          <a:prstGeom prst="line">
            <a:avLst/>
          </a:prstGeom>
          <a:noFill/>
          <a:ln w="13970">
            <a:solidFill>
              <a:srgbClr val="0B7A75"/>
            </a:solidFill>
            <a:prstDash val="solid"/>
            <a:tailEnd type="triangle"/>
          </a:ln>
        </p:spPr>
      </p:sp>
      <p:sp>
        <p:nvSpPr>
          <p:cNvPr id="34" name="Shape 31"/>
          <p:cNvSpPr/>
          <p:nvPr/>
        </p:nvSpPr>
        <p:spPr>
          <a:xfrm>
            <a:off x="3529584" y="1554480"/>
            <a:ext cx="658368" cy="658368"/>
          </a:xfrm>
          <a:prstGeom prst="ellipse">
            <a:avLst/>
          </a:prstGeom>
          <a:solidFill>
            <a:srgbClr val="1E3A8A"/>
          </a:solidFill>
          <a:ln w="12700">
            <a:solidFill>
              <a:srgbClr val="1E3A8A"/>
            </a:solidFill>
            <a:prstDash val="solid"/>
          </a:ln>
        </p:spPr>
      </p:sp>
      <p:pic>
        <p:nvPicPr>
          <p:cNvPr id="35" name="Image 1" descr="preencoded.png">    </p:cNvPr>
          <p:cNvPicPr>
            <a:picLocks noChangeAspect="1"/>
          </p:cNvPicPr>
          <p:nvPr/>
        </p:nvPicPr>
        <p:blipFill>
          <a:blip r:embed="rId2"/>
          <a:stretch>
            <a:fillRect/>
          </a:stretch>
        </p:blipFill>
        <p:spPr>
          <a:xfrm>
            <a:off x="3713927" y="1738823"/>
            <a:ext cx="289682" cy="289682"/>
          </a:xfrm>
          <a:prstGeom prst="rect">
            <a:avLst/>
          </a:prstGeom>
        </p:spPr>
      </p:pic>
      <p:sp>
        <p:nvSpPr>
          <p:cNvPr id="36" name="Text 32"/>
          <p:cNvSpPr/>
          <p:nvPr/>
        </p:nvSpPr>
        <p:spPr>
          <a:xfrm>
            <a:off x="4334256" y="1737360"/>
            <a:ext cx="1536192" cy="274320"/>
          </a:xfrm>
          <a:prstGeom prst="rect">
            <a:avLst/>
          </a:prstGeom>
          <a:noFill/>
          <a:ln/>
        </p:spPr>
        <p:txBody>
          <a:bodyPr wrap="square" lIns="0" tIns="0" rIns="0" bIns="0" rtlCol="0" anchor="ctr"/>
          <a:lstStyle/>
          <a:p>
            <a:pPr indent="0" marL="0">
              <a:buNone/>
            </a:pPr>
            <a:r>
              <a:rPr lang="en-US" sz="1400" b="1" dirty="0">
                <a:solidFill>
                  <a:srgbClr val="FFFFFF"/>
                </a:solidFill>
                <a:latin typeface="Segoe UI" pitchFamily="34" charset="0"/>
                <a:ea typeface="Segoe UI" pitchFamily="34" charset="-122"/>
                <a:cs typeface="Segoe UI" pitchFamily="34" charset="-120"/>
              </a:rPr>
              <a:t>Bản đồ số</a:t>
            </a:r>
            <a:endParaRPr lang="en-US" sz="1400" dirty="0"/>
          </a:p>
        </p:txBody>
      </p:sp>
      <p:sp>
        <p:nvSpPr>
          <p:cNvPr id="37" name="Shape 33"/>
          <p:cNvSpPr/>
          <p:nvPr/>
        </p:nvSpPr>
        <p:spPr>
          <a:xfrm>
            <a:off x="8019288" y="1874520"/>
            <a:ext cx="905256" cy="0"/>
          </a:xfrm>
          <a:prstGeom prst="line">
            <a:avLst/>
          </a:prstGeom>
          <a:noFill/>
          <a:ln w="17780">
            <a:solidFill>
              <a:srgbClr val="7890C4"/>
            </a:solidFill>
            <a:prstDash val="solid"/>
            <a:tailEnd type="triangle"/>
          </a:ln>
        </p:spPr>
      </p:sp>
      <p:sp>
        <p:nvSpPr>
          <p:cNvPr id="38" name="Shape 34"/>
          <p:cNvSpPr/>
          <p:nvPr/>
        </p:nvSpPr>
        <p:spPr>
          <a:xfrm flipH="1">
            <a:off x="8019288" y="2048256"/>
            <a:ext cx="905256" cy="0"/>
          </a:xfrm>
          <a:prstGeom prst="line">
            <a:avLst/>
          </a:prstGeom>
          <a:noFill/>
          <a:ln w="13970">
            <a:solidFill>
              <a:srgbClr val="0B7A75"/>
            </a:solidFill>
            <a:prstDash val="solid"/>
            <a:tailEnd type="triangle"/>
          </a:ln>
        </p:spPr>
      </p:sp>
      <p:sp>
        <p:nvSpPr>
          <p:cNvPr id="39" name="Shape 35"/>
          <p:cNvSpPr/>
          <p:nvPr/>
        </p:nvSpPr>
        <p:spPr>
          <a:xfrm>
            <a:off x="6345936" y="1554480"/>
            <a:ext cx="658368" cy="658368"/>
          </a:xfrm>
          <a:prstGeom prst="ellipse">
            <a:avLst/>
          </a:prstGeom>
          <a:solidFill>
            <a:srgbClr val="0B7A75"/>
          </a:solidFill>
          <a:ln w="12700">
            <a:solidFill>
              <a:srgbClr val="0B7A75"/>
            </a:solidFill>
            <a:prstDash val="solid"/>
          </a:ln>
        </p:spPr>
      </p:sp>
      <p:pic>
        <p:nvPicPr>
          <p:cNvPr id="40" name="Image 2" descr="preencoded.png">    </p:cNvPr>
          <p:cNvPicPr>
            <a:picLocks noChangeAspect="1"/>
          </p:cNvPicPr>
          <p:nvPr/>
        </p:nvPicPr>
        <p:blipFill>
          <a:blip r:embed="rId3"/>
          <a:stretch>
            <a:fillRect/>
          </a:stretch>
        </p:blipFill>
        <p:spPr>
          <a:xfrm>
            <a:off x="6530279" y="1738823"/>
            <a:ext cx="289682" cy="289682"/>
          </a:xfrm>
          <a:prstGeom prst="rect">
            <a:avLst/>
          </a:prstGeom>
        </p:spPr>
      </p:pic>
      <p:sp>
        <p:nvSpPr>
          <p:cNvPr id="41" name="Text 36"/>
          <p:cNvSpPr/>
          <p:nvPr/>
        </p:nvSpPr>
        <p:spPr>
          <a:xfrm>
            <a:off x="7150608" y="1737360"/>
            <a:ext cx="1536192" cy="274320"/>
          </a:xfrm>
          <a:prstGeom prst="rect">
            <a:avLst/>
          </a:prstGeom>
          <a:noFill/>
          <a:ln/>
        </p:spPr>
        <p:txBody>
          <a:bodyPr wrap="square" lIns="0" tIns="0" rIns="0" bIns="0" rtlCol="0" anchor="ctr"/>
          <a:lstStyle/>
          <a:p>
            <a:pPr indent="0" marL="0">
              <a:buNone/>
            </a:pPr>
            <a:r>
              <a:rPr lang="en-US" sz="1400" b="1" dirty="0">
                <a:solidFill>
                  <a:srgbClr val="FFFFFF"/>
                </a:solidFill>
                <a:latin typeface="Segoe UI" pitchFamily="34" charset="0"/>
                <a:ea typeface="Segoe UI" pitchFamily="34" charset="-122"/>
                <a:cs typeface="Segoe UI" pitchFamily="34" charset="-120"/>
              </a:rPr>
              <a:t>Trợ lý AI</a:t>
            </a:r>
            <a:endParaRPr lang="en-US" sz="1400" dirty="0"/>
          </a:p>
        </p:txBody>
      </p:sp>
      <p:sp>
        <p:nvSpPr>
          <p:cNvPr id="42" name="Shape 37"/>
          <p:cNvSpPr/>
          <p:nvPr/>
        </p:nvSpPr>
        <p:spPr>
          <a:xfrm>
            <a:off x="9162288" y="1554480"/>
            <a:ext cx="658368" cy="658368"/>
          </a:xfrm>
          <a:prstGeom prst="ellipse">
            <a:avLst/>
          </a:prstGeom>
          <a:solidFill>
            <a:srgbClr val="1E3A8A"/>
          </a:solidFill>
          <a:ln w="12700">
            <a:solidFill>
              <a:srgbClr val="1E3A8A"/>
            </a:solidFill>
            <a:prstDash val="solid"/>
          </a:ln>
        </p:spPr>
      </p:sp>
      <p:pic>
        <p:nvPicPr>
          <p:cNvPr id="43" name="Image 3" descr="preencoded.png">    </p:cNvPr>
          <p:cNvPicPr>
            <a:picLocks noChangeAspect="1"/>
          </p:cNvPicPr>
          <p:nvPr/>
        </p:nvPicPr>
        <p:blipFill>
          <a:blip r:embed="rId4"/>
          <a:stretch>
            <a:fillRect/>
          </a:stretch>
        </p:blipFill>
        <p:spPr>
          <a:xfrm>
            <a:off x="9346631" y="1738823"/>
            <a:ext cx="289682" cy="289682"/>
          </a:xfrm>
          <a:prstGeom prst="rect">
            <a:avLst/>
          </a:prstGeom>
        </p:spPr>
      </p:pic>
      <p:sp>
        <p:nvSpPr>
          <p:cNvPr id="44" name="Text 38"/>
          <p:cNvSpPr/>
          <p:nvPr/>
        </p:nvSpPr>
        <p:spPr>
          <a:xfrm>
            <a:off x="9966960" y="1737360"/>
            <a:ext cx="1536192" cy="274320"/>
          </a:xfrm>
          <a:prstGeom prst="rect">
            <a:avLst/>
          </a:prstGeom>
          <a:noFill/>
          <a:ln/>
        </p:spPr>
        <p:txBody>
          <a:bodyPr wrap="square" lIns="0" tIns="0" rIns="0" bIns="0" rtlCol="0" anchor="ctr"/>
          <a:lstStyle/>
          <a:p>
            <a:pPr indent="0" marL="0">
              <a:buNone/>
            </a:pPr>
            <a:r>
              <a:rPr lang="en-US" sz="1400" b="1" dirty="0">
                <a:solidFill>
                  <a:srgbClr val="FFFFFF"/>
                </a:solidFill>
                <a:latin typeface="Segoe UI" pitchFamily="34" charset="0"/>
                <a:ea typeface="Segoe UI" pitchFamily="34" charset="-122"/>
                <a:cs typeface="Segoe UI" pitchFamily="34" charset="-120"/>
              </a:rPr>
              <a:t>Cơ quan Công an</a:t>
            </a:r>
            <a:endParaRPr lang="en-US" sz="1400" dirty="0"/>
          </a:p>
        </p:txBody>
      </p:sp>
      <p:sp>
        <p:nvSpPr>
          <p:cNvPr id="45" name="Text 39"/>
          <p:cNvSpPr/>
          <p:nvPr/>
        </p:nvSpPr>
        <p:spPr>
          <a:xfrm>
            <a:off x="603504" y="2834640"/>
            <a:ext cx="8778240" cy="201168"/>
          </a:xfrm>
          <a:prstGeom prst="rect">
            <a:avLst/>
          </a:prstGeom>
          <a:noFill/>
          <a:ln/>
        </p:spPr>
        <p:txBody>
          <a:bodyPr wrap="square" lIns="0" tIns="0" rIns="0" bIns="0" rtlCol="0" anchor="ctr"/>
          <a:lstStyle/>
          <a:p>
            <a:pPr indent="0" marL="0">
              <a:buNone/>
            </a:pPr>
            <a:r>
              <a:rPr lang="en-US" sz="1050" b="1" spc="130" kern="0" dirty="0">
                <a:solidFill>
                  <a:srgbClr val="AFC2E8"/>
                </a:solidFill>
                <a:latin typeface="Segoe UI" pitchFamily="34" charset="0"/>
                <a:ea typeface="Segoe UI" pitchFamily="34" charset="-122"/>
                <a:cs typeface="Segoe UI" pitchFamily="34" charset="-120"/>
              </a:rPr>
              <a:t>BA KIẾN NGHỊ ĐỂ CHUYỂN TỪ SẢN PHẨM THỬ NGHIỆM SANG THÍ ĐIỂM CÓ KIỂM SOÁT</a:t>
            </a:r>
            <a:endParaRPr lang="en-US" sz="1050" dirty="0"/>
          </a:p>
        </p:txBody>
      </p:sp>
      <p:sp>
        <p:nvSpPr>
          <p:cNvPr id="46" name="Shape 40"/>
          <p:cNvSpPr/>
          <p:nvPr/>
        </p:nvSpPr>
        <p:spPr>
          <a:xfrm>
            <a:off x="603504" y="3236976"/>
            <a:ext cx="3401568" cy="1508760"/>
          </a:xfrm>
          <a:prstGeom prst="roundRect">
            <a:avLst>
              <a:gd name="adj" fmla="val 4848"/>
            </a:avLst>
          </a:prstGeom>
          <a:solidFill>
            <a:srgbClr val="0B7A75"/>
          </a:solidFill>
          <a:ln w="12700">
            <a:solidFill>
              <a:srgbClr val="0B7A75"/>
            </a:solidFill>
            <a:prstDash val="solid"/>
          </a:ln>
        </p:spPr>
      </p:sp>
      <p:sp>
        <p:nvSpPr>
          <p:cNvPr id="47" name="Text 41"/>
          <p:cNvSpPr/>
          <p:nvPr/>
        </p:nvSpPr>
        <p:spPr>
          <a:xfrm>
            <a:off x="804672" y="3456432"/>
            <a:ext cx="411480" cy="228600"/>
          </a:xfrm>
          <a:prstGeom prst="rect">
            <a:avLst/>
          </a:prstGeom>
          <a:noFill/>
          <a:ln/>
        </p:spPr>
        <p:txBody>
          <a:bodyPr wrap="square" lIns="0" tIns="0" rIns="0" bIns="0" rtlCol="0" anchor="ctr"/>
          <a:lstStyle/>
          <a:p>
            <a:pPr indent="0" marL="0">
              <a:buNone/>
            </a:pPr>
            <a:r>
              <a:rPr lang="en-US" sz="1100" b="1" dirty="0">
                <a:solidFill>
                  <a:srgbClr val="C9D8F5"/>
                </a:solidFill>
                <a:latin typeface="Segoe UI" pitchFamily="34" charset="0"/>
                <a:ea typeface="Segoe UI" pitchFamily="34" charset="-122"/>
                <a:cs typeface="Segoe UI" pitchFamily="34" charset="-120"/>
              </a:rPr>
              <a:t>01</a:t>
            </a:r>
            <a:endParaRPr lang="en-US" sz="1100" dirty="0"/>
          </a:p>
        </p:txBody>
      </p:sp>
      <p:pic>
        <p:nvPicPr>
          <p:cNvPr id="48" name="Image 4" descr="preencoded.png">    </p:cNvPr>
          <p:cNvPicPr>
            <a:picLocks noChangeAspect="1"/>
          </p:cNvPicPr>
          <p:nvPr/>
        </p:nvPicPr>
        <p:blipFill>
          <a:blip r:embed="rId5"/>
          <a:stretch>
            <a:fillRect/>
          </a:stretch>
        </p:blipFill>
        <p:spPr>
          <a:xfrm>
            <a:off x="3392424" y="3429000"/>
            <a:ext cx="310896" cy="310896"/>
          </a:xfrm>
          <a:prstGeom prst="rect">
            <a:avLst/>
          </a:prstGeom>
        </p:spPr>
      </p:pic>
      <p:sp>
        <p:nvSpPr>
          <p:cNvPr id="49" name="Text 42"/>
          <p:cNvSpPr/>
          <p:nvPr/>
        </p:nvSpPr>
        <p:spPr>
          <a:xfrm>
            <a:off x="804672" y="3822192"/>
            <a:ext cx="2743200" cy="292608"/>
          </a:xfrm>
          <a:prstGeom prst="rect">
            <a:avLst/>
          </a:prstGeom>
          <a:noFill/>
          <a:ln/>
        </p:spPr>
        <p:txBody>
          <a:bodyPr wrap="square" lIns="0" tIns="0" rIns="0" bIns="0" rtlCol="0" anchor="ctr"/>
          <a:lstStyle/>
          <a:p>
            <a:pPr indent="0" marL="0">
              <a:buNone/>
            </a:pPr>
            <a:r>
              <a:rPr lang="en-US" sz="1700" b="1" dirty="0">
                <a:solidFill>
                  <a:srgbClr val="FFFFFF"/>
                </a:solidFill>
                <a:latin typeface="Segoe UI" pitchFamily="34" charset="0"/>
                <a:ea typeface="Segoe UI" pitchFamily="34" charset="-122"/>
                <a:cs typeface="Segoe UI" pitchFamily="34" charset="-120"/>
              </a:rPr>
              <a:t>Cho phép thí điểm</a:t>
            </a:r>
            <a:endParaRPr lang="en-US" sz="1700" dirty="0"/>
          </a:p>
        </p:txBody>
      </p:sp>
      <p:sp>
        <p:nvSpPr>
          <p:cNvPr id="50" name="Text 43"/>
          <p:cNvSpPr/>
          <p:nvPr/>
        </p:nvSpPr>
        <p:spPr>
          <a:xfrm>
            <a:off x="804672" y="4206240"/>
            <a:ext cx="2743200" cy="347472"/>
          </a:xfrm>
          <a:prstGeom prst="rect">
            <a:avLst/>
          </a:prstGeom>
          <a:noFill/>
          <a:ln/>
        </p:spPr>
        <p:txBody>
          <a:bodyPr wrap="square" lIns="0" tIns="0" rIns="0" bIns="0" rtlCol="0" anchor="ctr"/>
          <a:lstStyle/>
          <a:p>
            <a:pPr indent="0" marL="0">
              <a:buNone/>
            </a:pPr>
            <a:r>
              <a:rPr lang="en-US" sz="1230" dirty="0">
                <a:solidFill>
                  <a:srgbClr val="DCE6F8"/>
                </a:solidFill>
                <a:latin typeface="Segoe UI" pitchFamily="34" charset="0"/>
                <a:ea typeface="Segoe UI" pitchFamily="34" charset="-122"/>
                <a:cs typeface="Segoe UI" pitchFamily="34" charset="-120"/>
              </a:rPr>
              <a:t>Với cấu hình kiểm soát đã kiểm thử.</a:t>
            </a:r>
            <a:endParaRPr lang="en-US" sz="1230" dirty="0"/>
          </a:p>
        </p:txBody>
      </p:sp>
      <p:sp>
        <p:nvSpPr>
          <p:cNvPr id="51" name="Shape 44"/>
          <p:cNvSpPr/>
          <p:nvPr/>
        </p:nvSpPr>
        <p:spPr>
          <a:xfrm>
            <a:off x="4306824" y="3236976"/>
            <a:ext cx="3401568" cy="1508760"/>
          </a:xfrm>
          <a:prstGeom prst="roundRect">
            <a:avLst>
              <a:gd name="adj" fmla="val 4848"/>
            </a:avLst>
          </a:prstGeom>
          <a:solidFill>
            <a:srgbClr val="1E3A8A"/>
          </a:solidFill>
          <a:ln w="12700">
            <a:solidFill>
              <a:srgbClr val="36559B"/>
            </a:solidFill>
            <a:prstDash val="solid"/>
          </a:ln>
        </p:spPr>
      </p:sp>
      <p:sp>
        <p:nvSpPr>
          <p:cNvPr id="52" name="Text 45"/>
          <p:cNvSpPr/>
          <p:nvPr/>
        </p:nvSpPr>
        <p:spPr>
          <a:xfrm>
            <a:off x="4507992" y="3456432"/>
            <a:ext cx="411480" cy="228600"/>
          </a:xfrm>
          <a:prstGeom prst="rect">
            <a:avLst/>
          </a:prstGeom>
          <a:noFill/>
          <a:ln/>
        </p:spPr>
        <p:txBody>
          <a:bodyPr wrap="square" lIns="0" tIns="0" rIns="0" bIns="0" rtlCol="0" anchor="ctr"/>
          <a:lstStyle/>
          <a:p>
            <a:pPr indent="0" marL="0">
              <a:buNone/>
            </a:pPr>
            <a:r>
              <a:rPr lang="en-US" sz="1100" b="1" dirty="0">
                <a:solidFill>
                  <a:srgbClr val="C9D8F5"/>
                </a:solidFill>
                <a:latin typeface="Segoe UI" pitchFamily="34" charset="0"/>
                <a:ea typeface="Segoe UI" pitchFamily="34" charset="-122"/>
                <a:cs typeface="Segoe UI" pitchFamily="34" charset="-120"/>
              </a:rPr>
              <a:t>02</a:t>
            </a:r>
            <a:endParaRPr lang="en-US" sz="1100" dirty="0"/>
          </a:p>
        </p:txBody>
      </p:sp>
      <p:pic>
        <p:nvPicPr>
          <p:cNvPr id="53" name="Image 5" descr="preencoded.png">    </p:cNvPr>
          <p:cNvPicPr>
            <a:picLocks noChangeAspect="1"/>
          </p:cNvPicPr>
          <p:nvPr/>
        </p:nvPicPr>
        <p:blipFill>
          <a:blip r:embed="rId6"/>
          <a:stretch>
            <a:fillRect/>
          </a:stretch>
        </p:blipFill>
        <p:spPr>
          <a:xfrm>
            <a:off x="7095744" y="3429000"/>
            <a:ext cx="310896" cy="310896"/>
          </a:xfrm>
          <a:prstGeom prst="rect">
            <a:avLst/>
          </a:prstGeom>
        </p:spPr>
      </p:pic>
      <p:sp>
        <p:nvSpPr>
          <p:cNvPr id="54" name="Text 46"/>
          <p:cNvSpPr/>
          <p:nvPr/>
        </p:nvSpPr>
        <p:spPr>
          <a:xfrm>
            <a:off x="4507992" y="3822192"/>
            <a:ext cx="2743200" cy="292608"/>
          </a:xfrm>
          <a:prstGeom prst="rect">
            <a:avLst/>
          </a:prstGeom>
          <a:noFill/>
          <a:ln/>
        </p:spPr>
        <p:txBody>
          <a:bodyPr wrap="square" lIns="0" tIns="0" rIns="0" bIns="0" rtlCol="0" anchor="ctr"/>
          <a:lstStyle/>
          <a:p>
            <a:pPr indent="0" marL="0">
              <a:buNone/>
            </a:pPr>
            <a:r>
              <a:rPr lang="en-US" sz="1700" b="1" dirty="0">
                <a:solidFill>
                  <a:srgbClr val="FFFFFF"/>
                </a:solidFill>
                <a:latin typeface="Segoe UI" pitchFamily="34" charset="0"/>
                <a:ea typeface="Segoe UI" pitchFamily="34" charset="-122"/>
                <a:cs typeface="Segoe UI" pitchFamily="34" charset="-120"/>
              </a:rPr>
              <a:t>Thẩm định kho dữ liệu</a:t>
            </a:r>
            <a:endParaRPr lang="en-US" sz="1700" dirty="0"/>
          </a:p>
        </p:txBody>
      </p:sp>
      <p:sp>
        <p:nvSpPr>
          <p:cNvPr id="55" name="Text 47"/>
          <p:cNvSpPr/>
          <p:nvPr/>
        </p:nvSpPr>
        <p:spPr>
          <a:xfrm>
            <a:off x="4507992" y="4206240"/>
            <a:ext cx="2743200" cy="347472"/>
          </a:xfrm>
          <a:prstGeom prst="rect">
            <a:avLst/>
          </a:prstGeom>
          <a:noFill/>
          <a:ln/>
        </p:spPr>
        <p:txBody>
          <a:bodyPr wrap="square" lIns="0" tIns="0" rIns="0" bIns="0" rtlCol="0" anchor="ctr"/>
          <a:lstStyle/>
          <a:p>
            <a:pPr indent="0" marL="0">
              <a:buNone/>
            </a:pPr>
            <a:r>
              <a:rPr lang="en-US" sz="1230" dirty="0">
                <a:solidFill>
                  <a:srgbClr val="DCE6F8"/>
                </a:solidFill>
                <a:latin typeface="Segoe UI" pitchFamily="34" charset="0"/>
                <a:ea typeface="Segoe UI" pitchFamily="34" charset="-122"/>
                <a:cs typeface="Segoe UI" pitchFamily="34" charset="-120"/>
              </a:rPr>
              <a:t>Giao đơn vị nghiệp vụ rà soát nội dung.</a:t>
            </a:r>
            <a:endParaRPr lang="en-US" sz="1230" dirty="0"/>
          </a:p>
        </p:txBody>
      </p:sp>
      <p:sp>
        <p:nvSpPr>
          <p:cNvPr id="56" name="Shape 48"/>
          <p:cNvSpPr/>
          <p:nvPr/>
        </p:nvSpPr>
        <p:spPr>
          <a:xfrm>
            <a:off x="8010144" y="3236976"/>
            <a:ext cx="3401568" cy="1508760"/>
          </a:xfrm>
          <a:prstGeom prst="roundRect">
            <a:avLst>
              <a:gd name="adj" fmla="val 4848"/>
            </a:avLst>
          </a:prstGeom>
          <a:solidFill>
            <a:srgbClr val="1E3A8A"/>
          </a:solidFill>
          <a:ln w="12700">
            <a:solidFill>
              <a:srgbClr val="36559B"/>
            </a:solidFill>
            <a:prstDash val="solid"/>
          </a:ln>
        </p:spPr>
      </p:sp>
      <p:sp>
        <p:nvSpPr>
          <p:cNvPr id="57" name="Text 49"/>
          <p:cNvSpPr/>
          <p:nvPr/>
        </p:nvSpPr>
        <p:spPr>
          <a:xfrm>
            <a:off x="8211312" y="3456432"/>
            <a:ext cx="411480" cy="228600"/>
          </a:xfrm>
          <a:prstGeom prst="rect">
            <a:avLst/>
          </a:prstGeom>
          <a:noFill/>
          <a:ln/>
        </p:spPr>
        <p:txBody>
          <a:bodyPr wrap="square" lIns="0" tIns="0" rIns="0" bIns="0" rtlCol="0" anchor="ctr"/>
          <a:lstStyle/>
          <a:p>
            <a:pPr indent="0" marL="0">
              <a:buNone/>
            </a:pPr>
            <a:r>
              <a:rPr lang="en-US" sz="1100" b="1" dirty="0">
                <a:solidFill>
                  <a:srgbClr val="C9D8F5"/>
                </a:solidFill>
                <a:latin typeface="Segoe UI" pitchFamily="34" charset="0"/>
                <a:ea typeface="Segoe UI" pitchFamily="34" charset="-122"/>
                <a:cs typeface="Segoe UI" pitchFamily="34" charset="-120"/>
              </a:rPr>
              <a:t>03</a:t>
            </a:r>
            <a:endParaRPr lang="en-US" sz="1100" dirty="0"/>
          </a:p>
        </p:txBody>
      </p:sp>
      <p:pic>
        <p:nvPicPr>
          <p:cNvPr id="58" name="Image 6" descr="preencoded.png">    </p:cNvPr>
          <p:cNvPicPr>
            <a:picLocks noChangeAspect="1"/>
          </p:cNvPicPr>
          <p:nvPr/>
        </p:nvPicPr>
        <p:blipFill>
          <a:blip r:embed="rId7"/>
          <a:stretch>
            <a:fillRect/>
          </a:stretch>
        </p:blipFill>
        <p:spPr>
          <a:xfrm>
            <a:off x="10799064" y="3429000"/>
            <a:ext cx="310896" cy="310896"/>
          </a:xfrm>
          <a:prstGeom prst="rect">
            <a:avLst/>
          </a:prstGeom>
        </p:spPr>
      </p:pic>
      <p:sp>
        <p:nvSpPr>
          <p:cNvPr id="59" name="Text 50"/>
          <p:cNvSpPr/>
          <p:nvPr/>
        </p:nvSpPr>
        <p:spPr>
          <a:xfrm>
            <a:off x="8211312" y="3822192"/>
            <a:ext cx="2743200" cy="292608"/>
          </a:xfrm>
          <a:prstGeom prst="rect">
            <a:avLst/>
          </a:prstGeom>
          <a:noFill/>
          <a:ln/>
        </p:spPr>
        <p:txBody>
          <a:bodyPr wrap="square" lIns="0" tIns="0" rIns="0" bIns="0" rtlCol="0" anchor="ctr"/>
          <a:lstStyle/>
          <a:p>
            <a:pPr indent="0" marL="0">
              <a:buNone/>
            </a:pPr>
            <a:r>
              <a:rPr lang="en-US" sz="1700" b="1" dirty="0">
                <a:solidFill>
                  <a:srgbClr val="FFFFFF"/>
                </a:solidFill>
                <a:latin typeface="Segoe UI" pitchFamily="34" charset="0"/>
                <a:ea typeface="Segoe UI" pitchFamily="34" charset="-122"/>
                <a:cs typeface="Segoe UI" pitchFamily="34" charset="-120"/>
              </a:rPr>
              <a:t>Bố trí nguồn lực</a:t>
            </a:r>
            <a:endParaRPr lang="en-US" sz="1700" dirty="0"/>
          </a:p>
        </p:txBody>
      </p:sp>
      <p:sp>
        <p:nvSpPr>
          <p:cNvPr id="60" name="Text 51"/>
          <p:cNvSpPr/>
          <p:nvPr/>
        </p:nvSpPr>
        <p:spPr>
          <a:xfrm>
            <a:off x="8211312" y="4206240"/>
            <a:ext cx="2743200" cy="347472"/>
          </a:xfrm>
          <a:prstGeom prst="rect">
            <a:avLst/>
          </a:prstGeom>
          <a:noFill/>
          <a:ln/>
        </p:spPr>
        <p:txBody>
          <a:bodyPr wrap="square" lIns="0" tIns="0" rIns="0" bIns="0" rtlCol="0" anchor="ctr"/>
          <a:lstStyle/>
          <a:p>
            <a:pPr indent="0" marL="0">
              <a:buNone/>
            </a:pPr>
            <a:r>
              <a:rPr lang="en-US" sz="1230" dirty="0">
                <a:solidFill>
                  <a:srgbClr val="DCE6F8"/>
                </a:solidFill>
                <a:latin typeface="Segoe UI" pitchFamily="34" charset="0"/>
                <a:ea typeface="Segoe UI" pitchFamily="34" charset="-122"/>
                <a:cs typeface="Segoe UI" pitchFamily="34" charset="-120"/>
              </a:rPr>
              <a:t>Cán bộ CNTT và kinh phí duy trì hạ tầng.</a:t>
            </a:r>
            <a:endParaRPr lang="en-US" sz="1230" dirty="0"/>
          </a:p>
        </p:txBody>
      </p:sp>
      <p:sp>
        <p:nvSpPr>
          <p:cNvPr id="61" name="Shape 52"/>
          <p:cNvSpPr/>
          <p:nvPr/>
        </p:nvSpPr>
        <p:spPr>
          <a:xfrm>
            <a:off x="2542032" y="5440680"/>
            <a:ext cx="932688" cy="0"/>
          </a:xfrm>
          <a:prstGeom prst="line">
            <a:avLst/>
          </a:prstGeom>
          <a:noFill/>
          <a:ln w="19050">
            <a:solidFill>
              <a:srgbClr val="0B7A75"/>
            </a:solidFill>
            <a:prstDash val="solid"/>
            <a:tailEnd type="triangle"/>
          </a:ln>
        </p:spPr>
      </p:sp>
      <p:sp>
        <p:nvSpPr>
          <p:cNvPr id="62" name="Text 53"/>
          <p:cNvSpPr/>
          <p:nvPr/>
        </p:nvSpPr>
        <p:spPr>
          <a:xfrm>
            <a:off x="1005840" y="5276088"/>
            <a:ext cx="1536192" cy="329184"/>
          </a:xfrm>
          <a:prstGeom prst="rect">
            <a:avLst/>
          </a:prstGeom>
          <a:noFill/>
          <a:ln/>
        </p:spPr>
        <p:txBody>
          <a:bodyPr wrap="square" lIns="0" tIns="0" rIns="0" bIns="0" rtlCol="0" anchor="ctr"/>
          <a:lstStyle/>
          <a:p>
            <a:pPr algn="ctr" indent="0" marL="0">
              <a:buNone/>
            </a:pPr>
            <a:r>
              <a:rPr lang="en-US" sz="1150" b="1" spc="80" kern="0" dirty="0">
                <a:solidFill>
                  <a:srgbClr val="FFFFFF"/>
                </a:solidFill>
                <a:latin typeface="Segoe UI" pitchFamily="34" charset="0"/>
                <a:ea typeface="Segoe UI" pitchFamily="34" charset="-122"/>
                <a:cs typeface="Segoe UI" pitchFamily="34" charset="-120"/>
              </a:rPr>
              <a:t>THÍ ĐIỂM</a:t>
            </a:r>
            <a:endParaRPr lang="en-US" sz="1150" dirty="0"/>
          </a:p>
        </p:txBody>
      </p:sp>
      <p:sp>
        <p:nvSpPr>
          <p:cNvPr id="63" name="Shape 54"/>
          <p:cNvSpPr/>
          <p:nvPr/>
        </p:nvSpPr>
        <p:spPr>
          <a:xfrm>
            <a:off x="5285232" y="5440680"/>
            <a:ext cx="932688" cy="0"/>
          </a:xfrm>
          <a:prstGeom prst="line">
            <a:avLst/>
          </a:prstGeom>
          <a:noFill/>
          <a:ln w="19050">
            <a:solidFill>
              <a:srgbClr val="0B7A75"/>
            </a:solidFill>
            <a:prstDash val="solid"/>
            <a:tailEnd type="triangle"/>
          </a:ln>
        </p:spPr>
      </p:sp>
      <p:sp>
        <p:nvSpPr>
          <p:cNvPr id="64" name="Text 55"/>
          <p:cNvSpPr/>
          <p:nvPr/>
        </p:nvSpPr>
        <p:spPr>
          <a:xfrm>
            <a:off x="3749040" y="5276088"/>
            <a:ext cx="1536192" cy="329184"/>
          </a:xfrm>
          <a:prstGeom prst="rect">
            <a:avLst/>
          </a:prstGeom>
          <a:noFill/>
          <a:ln/>
        </p:spPr>
        <p:txBody>
          <a:bodyPr wrap="square" lIns="0" tIns="0" rIns="0" bIns="0" rtlCol="0" anchor="ctr"/>
          <a:lstStyle/>
          <a:p>
            <a:pPr algn="ctr" indent="0" marL="0">
              <a:buNone/>
            </a:pPr>
            <a:r>
              <a:rPr lang="en-US" sz="1150" b="1" spc="80" kern="0" dirty="0">
                <a:solidFill>
                  <a:srgbClr val="FFFFFF"/>
                </a:solidFill>
                <a:latin typeface="Segoe UI" pitchFamily="34" charset="0"/>
                <a:ea typeface="Segoe UI" pitchFamily="34" charset="-122"/>
                <a:cs typeface="Segoe UI" pitchFamily="34" charset="-120"/>
              </a:rPr>
              <a:t>ĐÁNH GIÁ</a:t>
            </a:r>
            <a:endParaRPr lang="en-US" sz="1150" dirty="0"/>
          </a:p>
        </p:txBody>
      </p:sp>
      <p:sp>
        <p:nvSpPr>
          <p:cNvPr id="65" name="Shape 56"/>
          <p:cNvSpPr/>
          <p:nvPr/>
        </p:nvSpPr>
        <p:spPr>
          <a:xfrm>
            <a:off x="8028432" y="5440680"/>
            <a:ext cx="932688" cy="0"/>
          </a:xfrm>
          <a:prstGeom prst="line">
            <a:avLst/>
          </a:prstGeom>
          <a:noFill/>
          <a:ln w="19050">
            <a:solidFill>
              <a:srgbClr val="0B7A75"/>
            </a:solidFill>
            <a:prstDash val="solid"/>
            <a:tailEnd type="triangle"/>
          </a:ln>
        </p:spPr>
      </p:sp>
      <p:sp>
        <p:nvSpPr>
          <p:cNvPr id="66" name="Text 57"/>
          <p:cNvSpPr/>
          <p:nvPr/>
        </p:nvSpPr>
        <p:spPr>
          <a:xfrm>
            <a:off x="6492240" y="5276088"/>
            <a:ext cx="1536192" cy="329184"/>
          </a:xfrm>
          <a:prstGeom prst="rect">
            <a:avLst/>
          </a:prstGeom>
          <a:noFill/>
          <a:ln/>
        </p:spPr>
        <p:txBody>
          <a:bodyPr wrap="square" lIns="0" tIns="0" rIns="0" bIns="0" rtlCol="0" anchor="ctr"/>
          <a:lstStyle/>
          <a:p>
            <a:pPr algn="ctr" indent="0" marL="0">
              <a:buNone/>
            </a:pPr>
            <a:r>
              <a:rPr lang="en-US" sz="1150" b="1" spc="80" kern="0" dirty="0">
                <a:solidFill>
                  <a:srgbClr val="FFFFFF"/>
                </a:solidFill>
                <a:latin typeface="Segoe UI" pitchFamily="34" charset="0"/>
                <a:ea typeface="Segoe UI" pitchFamily="34" charset="-122"/>
                <a:cs typeface="Segoe UI" pitchFamily="34" charset="-120"/>
              </a:rPr>
              <a:t>HOÀN THIỆN</a:t>
            </a:r>
            <a:endParaRPr lang="en-US" sz="1150" dirty="0"/>
          </a:p>
        </p:txBody>
      </p:sp>
      <p:sp>
        <p:nvSpPr>
          <p:cNvPr id="67" name="Text 58"/>
          <p:cNvSpPr/>
          <p:nvPr/>
        </p:nvSpPr>
        <p:spPr>
          <a:xfrm>
            <a:off x="9235440" y="5276088"/>
            <a:ext cx="1536192" cy="329184"/>
          </a:xfrm>
          <a:prstGeom prst="rect">
            <a:avLst/>
          </a:prstGeom>
          <a:noFill/>
          <a:ln/>
        </p:spPr>
        <p:txBody>
          <a:bodyPr wrap="square" lIns="0" tIns="0" rIns="0" bIns="0" rtlCol="0" anchor="ctr"/>
          <a:lstStyle/>
          <a:p>
            <a:pPr algn="ctr" indent="0" marL="0">
              <a:buNone/>
            </a:pPr>
            <a:r>
              <a:rPr lang="en-US" sz="1150" b="1" spc="80" kern="0" dirty="0">
                <a:solidFill>
                  <a:srgbClr val="FFFFFF"/>
                </a:solidFill>
                <a:latin typeface="Segoe UI" pitchFamily="34" charset="0"/>
                <a:ea typeface="Segoe UI" pitchFamily="34" charset="-122"/>
                <a:cs typeface="Segoe UI" pitchFamily="34" charset="-120"/>
              </a:rPr>
              <a:t>NHÂN RỘNG</a:t>
            </a:r>
            <a:endParaRPr lang="en-US" sz="1150" dirty="0"/>
          </a:p>
        </p:txBody>
      </p:sp>
      <p:sp>
        <p:nvSpPr>
          <p:cNvPr id="68" name="Text 59"/>
          <p:cNvSpPr/>
          <p:nvPr/>
        </p:nvSpPr>
        <p:spPr>
          <a:xfrm>
            <a:off x="603504" y="6053328"/>
            <a:ext cx="10984687" cy="237744"/>
          </a:xfrm>
          <a:prstGeom prst="rect">
            <a:avLst/>
          </a:prstGeom>
          <a:noFill/>
          <a:ln/>
        </p:spPr>
        <p:txBody>
          <a:bodyPr wrap="square" lIns="0" tIns="0" rIns="0" bIns="0" rtlCol="0" anchor="ctr"/>
          <a:lstStyle/>
          <a:p>
            <a:pPr algn="r" indent="0" marL="0">
              <a:buNone/>
            </a:pPr>
            <a:r>
              <a:rPr lang="en-US" sz="1300" i="1" dirty="0">
                <a:solidFill>
                  <a:srgbClr val="C9D8F5"/>
                </a:solidFill>
                <a:latin typeface="Segoe UI" pitchFamily="34" charset="0"/>
                <a:ea typeface="Segoe UI" pitchFamily="34" charset="-122"/>
                <a:cs typeface="Segoe UI" pitchFamily="34" charset="-120"/>
              </a:rPr>
              <a:t>Xin trân trọng cảm ơn các đồng chí Lãnh đạo!</a:t>
            </a:r>
            <a:endParaRPr lang="en-US" sz="1300" dirty="0"/>
          </a:p>
        </p:txBody>
      </p:sp>
      <p:sp>
        <p:nvSpPr>
          <p:cNvPr id="69" name="Shape 60"/>
          <p:cNvSpPr/>
          <p:nvPr/>
        </p:nvSpPr>
        <p:spPr>
          <a:xfrm>
            <a:off x="603504" y="6556248"/>
            <a:ext cx="10984687" cy="0"/>
          </a:xfrm>
          <a:prstGeom prst="line">
            <a:avLst/>
          </a:prstGeom>
          <a:noFill/>
          <a:ln w="8890">
            <a:solidFill>
              <a:srgbClr val="36559B"/>
            </a:solidFill>
            <a:prstDash val="solid"/>
          </a:ln>
        </p:spPr>
      </p:sp>
      <p:sp>
        <p:nvSpPr>
          <p:cNvPr id="70" name="Text 61"/>
          <p:cNvSpPr/>
          <p:nvPr/>
        </p:nvSpPr>
        <p:spPr>
          <a:xfrm>
            <a:off x="603504" y="6601968"/>
            <a:ext cx="4572000" cy="164592"/>
          </a:xfrm>
          <a:prstGeom prst="rect">
            <a:avLst/>
          </a:prstGeom>
          <a:noFill/>
          <a:ln/>
        </p:spPr>
        <p:txBody>
          <a:bodyPr wrap="square" lIns="0" tIns="0" rIns="0" bIns="0" rtlCol="0" anchor="ctr"/>
          <a:lstStyle/>
          <a:p>
            <a:pPr indent="0" marL="0">
              <a:buNone/>
            </a:pPr>
            <a:r>
              <a:rPr lang="en-US" sz="950" b="1" spc="120" kern="0" dirty="0">
                <a:solidFill>
                  <a:srgbClr val="BFD0F0"/>
                </a:solidFill>
                <a:latin typeface="Segoe UI" pitchFamily="34" charset="0"/>
                <a:ea typeface="Segoe UI" pitchFamily="34" charset="-122"/>
                <a:cs typeface="Segoe UI" pitchFamily="34" charset="-120"/>
              </a:rPr>
              <a:t>BẢN ĐỒ CÔNG AN SỐ · TỈNH PHÚ THỌ</a:t>
            </a:r>
            <a:endParaRPr lang="en-US" sz="950" dirty="0"/>
          </a:p>
        </p:txBody>
      </p:sp>
      <p:sp>
        <p:nvSpPr>
          <p:cNvPr id="71" name="Text 62"/>
          <p:cNvSpPr/>
          <p:nvPr/>
        </p:nvSpPr>
        <p:spPr>
          <a:xfrm>
            <a:off x="11222431" y="6583680"/>
            <a:ext cx="365760" cy="182880"/>
          </a:xfrm>
          <a:prstGeom prst="rect">
            <a:avLst/>
          </a:prstGeom>
          <a:noFill/>
          <a:ln/>
        </p:spPr>
        <p:txBody>
          <a:bodyPr wrap="square" lIns="0" tIns="0" rIns="0" bIns="0" rtlCol="0" anchor="ctr"/>
          <a:lstStyle/>
          <a:p>
            <a:pPr algn="r" indent="0" marL="0">
              <a:buNone/>
            </a:pPr>
            <a:r>
              <a:rPr lang="en-US" sz="1000" b="1" dirty="0">
                <a:solidFill>
                  <a:srgbClr val="BFD0F0"/>
                </a:solidFill>
                <a:latin typeface="Segoe UI" pitchFamily="34" charset="0"/>
                <a:ea typeface="Segoe UI" pitchFamily="34" charset="-122"/>
                <a:cs typeface="Segoe UI" pitchFamily="34" charset="-120"/>
              </a:rPr>
              <a:t>11</a:t>
            </a:r>
            <a:endParaRPr lang="en-US" sz="1000" dirty="0"/>
          </a:p>
        </p:txBody>
      </p:sp>
    </p:spTree>
  </p:cSld>
  <p:clrMapOvr>
    <a:masterClrMapping/>
  </p:clrMapOvr>
  <p:transition xmlns:p14="http://schemas.microsoft.com/office/powerpoint/2010/main" spd="med" p14:dur="450">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Câu lạc bộ Sáng tạo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Bản đồ Công an số tỉnh Phú Thọ</dc:title>
  <dc:subject>Civic Tech · Chính quyền số · Công nghệ phục vụ nhân dân</dc:subject>
  <dc:creator>Câu lạc bộ Sáng tạo</dc:creator>
  <cp:lastModifiedBy>Câu lạc bộ Sáng tạo</cp:lastModifiedBy>
  <cp:revision>1</cp:revision>
  <dcterms:created xsi:type="dcterms:W3CDTF">2026-07-20T05:31:45Z</dcterms:created>
  <dcterms:modified xsi:type="dcterms:W3CDTF">2026-07-20T05:31:45Z</dcterms:modified>
</cp:coreProperties>
</file>