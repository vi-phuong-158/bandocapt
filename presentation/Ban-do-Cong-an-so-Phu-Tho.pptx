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thưa các đồng chí Lãnh đạo Công an tỉnh, hôm nay tôi xin đại diện trình bày công trình ra mắt Câu lạc bộ sáng tạo: Bản đồ Công an số tỉnh Phú Thọ. Xin phép bắt đầu bài trình bày bằng một thực tế hằng ngày mà tất cả chúng ta đều gặp.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Thưa các đồng chí, từ thực tế công tác chúng ta đều thấy một điều: cùng một câu hỏi về thủ tục được hỏi đi hỏi lại rất nhiều lần. Người dân thì loay hoay tìm đúng trụ sở, mất công đi lại vì chuẩn bị sai giấy tờ. Cán bộ thì mất thời gian trả lời những câu giống hệt nhau. Tôi xin lưu ý đây là ghi nhận từ quan sát thực tế, chưa phải số liệu thống kê chính thức, nên tôi không nêu con số cụ thể.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Từ thực tế công tác, có thể thấy người dân cần được hướng dẫn chính xác trước khi đến làm thủ tục. Đây là một nhận định khái quát, không phải trích dẫn nguyên văn của một trường hợp cụ thể. Chính nhu cầu đó đã thôi thúc tôi bắt tay nghiên cứu.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Và đó là lý do Bản đồ Công an số ra đời. Nó không chỉ là một cái bản đồ khô khan. Nó là sự kết hợp giữa bản đồ định vị chính xác mọi trụ sở, và một Trợ lý ảo AI hiểu luật, túc trực 24/7 để tư vấn thủ tục cho dân.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Thưa các đồng chí, dùng AI thì lo nhất là AI bịa chuyện. Tôi không dám khẳng định hệ thống đúng tuyệt đối, vì như vậy là không trung thực. Điều tôi xin báo cáo là: hệ thống được thiết kế để GIẢM RỦI RO trả lời sai, bằng hai nguyên tắc — chỉ dựa trên kho dữ liệu có kiểm soát, và có bước hậu kiểm trước khi hiển thị cho người dân.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giảm rủi ro trả lời sai, hệ thống được thiết kế gồm bốn lớp kiểm soát nối tiếp nhau. Lớp một: truy hồi có kiểm soát, ưu tiên nguồn đã qua rà soát nội bộ, đúng thẩm quyền, đúng cấp thực hiện, tránh lẫn quy định cấp xã với cấp tỉnh. Lớp hai: dùng chính một AI khác chấm điểm, xếp hạng lại kết quả, loại bỏ tài liệu gây nhiễu. Lớp ba: câu trả lời phải bám theo tài liệu truy hồi được, nếu không đủ căn cứ thì báo không đủ cơ sở thay vì suy diễn. Lớp bốn: trước khi hiển thị, một bước hậu kiểm tự động đối chiếu lại từng số điện thoại, địa chỉ, căn cứ pháp lý với nguồn. Ở đây tôi xin báo cáo rõ hiện trạng để các đồng chí nắm đúng: lớp hai và lớp bốn hiện đã hoạt động. Lớp một và lớp ba đã kiểm thử đạt trên bản thử nghiệm, sẵn sàng để áp dụng — chỉ còn chờ phê duyệt để bật trên bản chạy chính thức. Đây chính là một trong những nội dung tôi xin kiến nghị ở phần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video minh hoạ quy trình hệ thống xử lý một câu hỏi của người dân: từ lúc tiếp nhận câu hỏi, truy hồi tài liệu, chọn lọc đúng tài liệu có thẩm quyền, cho tới khi sinh câu trả lời kèm trích dẫn nguồn. Tôi xin lưu ý, nội dung câu hỏi và câu trả lời trong video chỉ là ví dụ để minh hoạ luồng xử lý, không phải nội dung tư vấn chính thức. Video không có âm thanh, các đồng chí có thể vừa xem vừa nghe tôi trình bày.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cực kỳ thân thiện với người dân địa phương qua giao diện điện thoại. Ngoài ra, để hỗ trợ hội nhập, nó còn bổ sung tính năng đa ngôn ngữ. Về phía cán bộ, việc quản trị cũng cực kỳ đơn giản qua Google Sheets.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giá trị mang lại: thứ nhất, hệ thống phục vụ 24/7, người dân tra cứu được cả ngoài giờ hành chính mà không phải chờ tới lượt. Thứ hai, về tốc độ, tôi xin báo cáo đúng số đo: thời gian phản hồi p95 trong kiểm thử nội bộ khoảng 17 giây, và có thể lên tới khoảng 28 giây khi hệ thống phải chuyển sang nhà cung cấp AI dự phòng. Tôi nói rõ đây là số đo trong kiểm thử, chưa phải số liệu vận hành thực tế trên diện rộng. Đổi lại, dự án cần chi phí đầu tư hạ tầng máy chủ và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thưa các đồng chí, sản phẩm đã hoạt động được, nhưng để vận hành hiệu quả và bền vững thì một mình tôi không thể làm hết. Tôi xin thẳng thắn: bản thân tôi vừa không chuyên về công nghệ, vừa không phải người trực tiếp tiếp công dân hằng ngày — đây là công trình tôi tự mày mò nghiên cứu theo góc nhìn cá nhân. Chính vì vậy, tôi xin đề xuất ba điều kiện phối hợp. Thứ nhất, về kỹ thuật: Câu lạc bộ Sáng tạo xin được trực tiếp phụ trách vận hành hệ thống; khi có vấn đề công nghệ chuyên sâu thì kính đề nghị đơn vị công nghệ thông tin hỗ trợ. Thứ hai, về nội dung: kính đề nghị đơn vị nghiệp vụ rà soát, phê duyệt và cập nhật nội dung; đây cũng là bước hậu kiểm quan trọng, bởi bản chất AI vẫn có thể trả lời sai nên rất cần con người kiểm soát. Thứ ba, về thực tế: kính mong các đồng chí cán bộ trực tiếp tiếp công dân bổ sung những tình huống thật và những câu người dân hay hỏi ngay tại quầy. Và trên hết, chúng tôi xác định làm từng bước — thí điểm ở phạm vi hẹp, đánh giá kết quả, rồi mới nhân rộng — để mọi rủi ro đều nằm trong tầm kiểm soát.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thưa các đồng chí Lãnh đạo, đây không chỉ là một phần mềm, đây là viên gạch góp phần xây dựng hình ảnh chính quyền số gần dân. Trên tinh thần cầu thị vừa báo cáo, tôi kính đề nghị Lãnh đạo Công an tỉnh ba nội dung. Một là, cho phép triển khai thí điểm với cấu hình kiểm soát đã kiểm thử, đánh giá kết quả rồi mới tiến tới nhân rộng. Hai là, giao đơn vị nghiệp vụ thẩm định nội dung kho dữ liệu để bảo đảm tính chính xác về pháp lý. Ba là, quan tâm bố trí cán bộ công nghệ thông tin và kinh phí duy trì hạ tầng hằng năm, để hệ thống phục vụ nhân dân được lâu dài. Xin trân trọng cảm ơn các đồng chí.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video" Target="../media/media-7-1.mp4"/><Relationship Id="rId2" Type="http://schemas.microsoft.com/office/2007/relationships/media" Target="../media/media-7-1.mp4"/><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8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14000"/>
          </a:blip>
          <a:stretch>
            <a:fillRect/>
          </a:stretch>
        </p:blipFill>
        <p:spPr>
          <a:xfrm>
            <a:off x="8869680" y="914400"/>
            <a:ext cx="4754880" cy="4754880"/>
          </a:xfrm>
          <a:prstGeom prst="rect">
            <a:avLst/>
          </a:prstGeom>
        </p:spPr>
      </p:pic>
      <p:sp>
        <p:nvSpPr>
          <p:cNvPr id="3" name="Text 0"/>
          <p:cNvSpPr/>
          <p:nvPr/>
        </p:nvSpPr>
        <p:spPr>
          <a:xfrm>
            <a:off x="640080" y="1051560"/>
            <a:ext cx="8686800" cy="365760"/>
          </a:xfrm>
          <a:prstGeom prst="rect">
            <a:avLst/>
          </a:prstGeom>
          <a:noFill/>
          <a:ln/>
        </p:spPr>
        <p:txBody>
          <a:bodyPr wrap="square" lIns="0" tIns="0" rIns="0" bIns="0" rtlCol="0" anchor="ctr"/>
          <a:lstStyle/>
          <a:p>
            <a:pPr indent="0" marL="0">
              <a:buNone/>
            </a:pPr>
            <a:r>
              <a:rPr lang="en-US" sz="1400" b="1" spc="150" kern="0" dirty="0">
                <a:solidFill>
                  <a:srgbClr val="DBEAFE"/>
                </a:solidFill>
                <a:latin typeface="Segoe UI" pitchFamily="34" charset="0"/>
                <a:ea typeface="Segoe UI" pitchFamily="34" charset="-122"/>
                <a:cs typeface="Segoe UI" pitchFamily="34" charset="-120"/>
              </a:rPr>
              <a:t>CÔNG TRÌNH CÂU LẠC BỘ SÁNG TẠO</a:t>
            </a:r>
            <a:endParaRPr lang="en-US" sz="1400" dirty="0"/>
          </a:p>
        </p:txBody>
      </p:sp>
      <p:sp>
        <p:nvSpPr>
          <p:cNvPr id="4" name="Text 1"/>
          <p:cNvSpPr/>
          <p:nvPr/>
        </p:nvSpPr>
        <p:spPr>
          <a:xfrm>
            <a:off x="640080" y="1600200"/>
            <a:ext cx="10058400" cy="1097280"/>
          </a:xfrm>
          <a:prstGeom prst="rect">
            <a:avLst/>
          </a:prstGeom>
          <a:noFill/>
          <a:ln/>
        </p:spPr>
        <p:txBody>
          <a:bodyPr wrap="square" lIns="0" tIns="0" rIns="0" bIns="0" rtlCol="0" anchor="ctr"/>
          <a:lstStyle/>
          <a:p>
            <a:pPr indent="0" marL="0">
              <a:buNone/>
            </a:pPr>
            <a:r>
              <a:rPr lang="en-US" sz="5400" b="1" spc="-120" kern="0" dirty="0">
                <a:solidFill>
                  <a:srgbClr val="FFFFFF"/>
                </a:solidFill>
                <a:latin typeface="Segoe UI" pitchFamily="34" charset="0"/>
                <a:ea typeface="Segoe UI" pitchFamily="34" charset="-122"/>
                <a:cs typeface="Segoe UI" pitchFamily="34" charset="-120"/>
              </a:rPr>
              <a:t>BẢN ĐỒ CÔNG AN SỐ</a:t>
            </a:r>
            <a:endParaRPr lang="en-US" sz="5400" dirty="0"/>
          </a:p>
        </p:txBody>
      </p:sp>
      <p:sp>
        <p:nvSpPr>
          <p:cNvPr id="5" name="Text 2"/>
          <p:cNvSpPr/>
          <p:nvPr/>
        </p:nvSpPr>
        <p:spPr>
          <a:xfrm>
            <a:off x="640080" y="2880360"/>
            <a:ext cx="10058400" cy="640080"/>
          </a:xfrm>
          <a:prstGeom prst="rect">
            <a:avLst/>
          </a:prstGeom>
          <a:noFill/>
          <a:ln/>
        </p:spPr>
        <p:txBody>
          <a:bodyPr wrap="square" lIns="0" tIns="0" rIns="0" bIns="0" rtlCol="0" anchor="ctr"/>
          <a:lstStyle/>
          <a:p>
            <a:pPr indent="0" marL="0">
              <a:buNone/>
            </a:pPr>
            <a:r>
              <a:rPr lang="en-US" sz="2300" dirty="0">
                <a:solidFill>
                  <a:srgbClr val="EFF6FF"/>
                </a:solidFill>
                <a:latin typeface="Segoe UI" pitchFamily="34" charset="0"/>
                <a:ea typeface="Segoe UI" pitchFamily="34" charset="-122"/>
                <a:cs typeface="Segoe UI" pitchFamily="34" charset="-120"/>
              </a:rPr>
              <a:t>Tỉnh Phú Thọ</a:t>
            </a:r>
            <a:endParaRPr lang="en-US" sz="2300" dirty="0"/>
          </a:p>
        </p:txBody>
      </p:sp>
      <p:sp>
        <p:nvSpPr>
          <p:cNvPr id="6" name="Shape 3"/>
          <p:cNvSpPr/>
          <p:nvPr/>
        </p:nvSpPr>
        <p:spPr>
          <a:xfrm>
            <a:off x="640080" y="3749040"/>
            <a:ext cx="2171700" cy="475488"/>
          </a:xfrm>
          <a:prstGeom prst="roundRect">
            <a:avLst>
              <a:gd name="adj" fmla="val 50000"/>
            </a:avLst>
          </a:prstGeom>
          <a:solidFill>
            <a:srgbClr val="1D4ED8"/>
          </a:solidFill>
          <a:ln/>
        </p:spPr>
      </p:sp>
      <p:sp>
        <p:nvSpPr>
          <p:cNvPr id="7" name="Text 4"/>
          <p:cNvSpPr/>
          <p:nvPr/>
        </p:nvSpPr>
        <p:spPr>
          <a:xfrm>
            <a:off x="640080" y="3749040"/>
            <a:ext cx="2171700"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Dành cho công dân</a:t>
            </a:r>
            <a:endParaRPr lang="en-US" sz="1400" dirty="0"/>
          </a:p>
        </p:txBody>
      </p:sp>
      <p:sp>
        <p:nvSpPr>
          <p:cNvPr id="8" name="Shape 5"/>
          <p:cNvSpPr/>
          <p:nvPr/>
        </p:nvSpPr>
        <p:spPr>
          <a:xfrm>
            <a:off x="3040380" y="3749040"/>
            <a:ext cx="2171700" cy="475488"/>
          </a:xfrm>
          <a:prstGeom prst="roundRect">
            <a:avLst>
              <a:gd name="adj" fmla="val 50000"/>
            </a:avLst>
          </a:prstGeom>
          <a:solidFill>
            <a:srgbClr val="1D4ED8"/>
          </a:solidFill>
          <a:ln/>
        </p:spPr>
      </p:sp>
      <p:sp>
        <p:nvSpPr>
          <p:cNvPr id="9" name="Text 6"/>
          <p:cNvSpPr/>
          <p:nvPr/>
        </p:nvSpPr>
        <p:spPr>
          <a:xfrm>
            <a:off x="3040380" y="3749040"/>
            <a:ext cx="2171700"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AI Tư vấn tự động</a:t>
            </a:r>
            <a:endParaRPr lang="en-US" sz="1400" dirty="0"/>
          </a:p>
        </p:txBody>
      </p:sp>
      <p:sp>
        <p:nvSpPr>
          <p:cNvPr id="10" name="Shape 7"/>
          <p:cNvSpPr/>
          <p:nvPr/>
        </p:nvSpPr>
        <p:spPr>
          <a:xfrm>
            <a:off x="5440680" y="3749040"/>
            <a:ext cx="2066544" cy="475488"/>
          </a:xfrm>
          <a:prstGeom prst="roundRect">
            <a:avLst>
              <a:gd name="adj" fmla="val 50000"/>
            </a:avLst>
          </a:prstGeom>
          <a:solidFill>
            <a:srgbClr val="1D4ED8"/>
          </a:solidFill>
          <a:ln/>
        </p:spPr>
      </p:sp>
      <p:sp>
        <p:nvSpPr>
          <p:cNvPr id="11" name="Text 8"/>
          <p:cNvSpPr/>
          <p:nvPr/>
        </p:nvSpPr>
        <p:spPr>
          <a:xfrm>
            <a:off x="5440680" y="3749040"/>
            <a:ext cx="2066544"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Bản đồ tương tác</a:t>
            </a:r>
            <a:endParaRPr lang="en-US" sz="1400" dirty="0"/>
          </a:p>
        </p:txBody>
      </p:sp>
      <p:sp>
        <p:nvSpPr>
          <p:cNvPr id="12" name="Text 9"/>
          <p:cNvSpPr/>
          <p:nvPr/>
        </p:nvSpPr>
        <p:spPr>
          <a:xfrm>
            <a:off x="640080" y="5806440"/>
            <a:ext cx="10058400" cy="365760"/>
          </a:xfrm>
          <a:prstGeom prst="rect">
            <a:avLst/>
          </a:prstGeom>
          <a:noFill/>
          <a:ln/>
        </p:spPr>
        <p:txBody>
          <a:bodyPr wrap="square" lIns="0" tIns="0" rIns="0" bIns="0" rtlCol="0" anchor="ctr"/>
          <a:lstStyle/>
          <a:p>
            <a:pPr indent="0" marL="0">
              <a:buNone/>
            </a:pPr>
            <a:r>
              <a:rPr lang="en-US" sz="1500" dirty="0">
                <a:solidFill>
                  <a:srgbClr val="DBEAFE"/>
                </a:solidFill>
                <a:latin typeface="Segoe UI" pitchFamily="34" charset="0"/>
                <a:ea typeface="Segoe UI" pitchFamily="34" charset="-122"/>
                <a:cs typeface="Segoe UI" pitchFamily="34" charset="-120"/>
              </a:rPr>
              <a:t>Tác giả: </a:t>
            </a:r>
            <a:pPr indent="0" marL="0">
              <a:buNone/>
            </a:pPr>
            <a:r>
              <a:rPr lang="en-US" sz="1500" b="1" dirty="0">
                <a:solidFill>
                  <a:srgbClr val="FFFFFF"/>
                </a:solidFill>
                <a:latin typeface="Segoe UI" pitchFamily="34" charset="0"/>
                <a:ea typeface="Segoe UI" pitchFamily="34" charset="-122"/>
                <a:cs typeface="Segoe UI" pitchFamily="34" charset="-120"/>
              </a:rPr>
              <a:t>Câu lạc bộ sáng tạo</a:t>
            </a:r>
            <a:endParaRPr lang="en-US" sz="1500" dirty="0"/>
          </a:p>
        </p:txBody>
      </p:sp>
    </p:spTree>
  </p:cSld>
  <p:clrMapOvr>
    <a:masterClrMapping/>
  </p:clrMapOvr>
  <p:transition xmlns:p14="http://schemas.microsoft.com/office/powerpoint/2010/main" spd="med" p14:dur="450">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3A8A"/>
        </a:solidFill>
      </p:bgPr>
    </p:bg>
    <p:spTree>
      <p:nvGrpSpPr>
        <p:cNvPr id="1" name=""/>
        <p:cNvGrpSpPr/>
        <p:nvPr/>
      </p:nvGrpSpPr>
      <p:grpSpPr>
        <a:xfrm>
          <a:off x="0" y="0"/>
          <a:ext cx="0" cy="0"/>
          <a:chOff x="0" y="0"/>
          <a:chExt cx="0" cy="0"/>
        </a:xfrm>
      </p:grpSpPr>
      <p:sp>
        <p:nvSpPr>
          <p:cNvPr id="2" name="Text 0"/>
          <p:cNvSpPr/>
          <p:nvPr/>
        </p:nvSpPr>
        <p:spPr>
          <a:xfrm>
            <a:off x="640080" y="457200"/>
            <a:ext cx="10881360" cy="320040"/>
          </a:xfrm>
          <a:prstGeom prst="rect">
            <a:avLst/>
          </a:prstGeom>
          <a:noFill/>
          <a:ln/>
        </p:spPr>
        <p:txBody>
          <a:bodyPr wrap="square" lIns="0" tIns="0" rIns="0" bIns="0" rtlCol="0" anchor="ctr"/>
          <a:lstStyle/>
          <a:p>
            <a:pPr indent="0" marL="0">
              <a:buNone/>
            </a:pPr>
            <a:r>
              <a:rPr lang="en-US" sz="1300" b="1" spc="200" kern="0" dirty="0">
                <a:solidFill>
                  <a:srgbClr val="DBEAFE"/>
                </a:solidFill>
                <a:latin typeface="Segoe UI" pitchFamily="34" charset="0"/>
                <a:ea typeface="Segoe UI" pitchFamily="34" charset="-122"/>
                <a:cs typeface="Segoe UI" pitchFamily="34" charset="-120"/>
              </a:rPr>
              <a:t>THỰC TRẠNG</a:t>
            </a:r>
            <a:endParaRPr lang="en-US" sz="1300" dirty="0"/>
          </a:p>
        </p:txBody>
      </p:sp>
      <p:sp>
        <p:nvSpPr>
          <p:cNvPr id="3" name="Text 1"/>
          <p:cNvSpPr/>
          <p:nvPr/>
        </p:nvSpPr>
        <p:spPr>
          <a:xfrm>
            <a:off x="640080" y="768096"/>
            <a:ext cx="10881360" cy="777240"/>
          </a:xfrm>
          <a:prstGeom prst="rect">
            <a:avLst/>
          </a:prstGeom>
          <a:noFill/>
          <a:ln/>
        </p:spPr>
        <p:txBody>
          <a:bodyPr wrap="square" lIns="0" tIns="0" rIns="0" bIns="0" rtlCol="0" anchor="t"/>
          <a:lstStyle/>
          <a:p>
            <a:pPr indent="0" marL="0">
              <a:buNone/>
            </a:pPr>
            <a:endParaRPr lang="en-US" sz="2900" dirty="0"/>
          </a:p>
        </p:txBody>
      </p:sp>
      <p:sp>
        <p:nvSpPr>
          <p:cNvPr id="4" name="Text 2"/>
          <p:cNvSpPr/>
          <p:nvPr/>
        </p:nvSpPr>
        <p:spPr>
          <a:xfrm>
            <a:off x="548640" y="1828800"/>
            <a:ext cx="5852160" cy="1554480"/>
          </a:xfrm>
          <a:prstGeom prst="rect">
            <a:avLst/>
          </a:prstGeom>
          <a:noFill/>
          <a:ln/>
        </p:spPr>
        <p:txBody>
          <a:bodyPr wrap="square" lIns="0" tIns="0" rIns="0" bIns="0" rtlCol="0" anchor="ctr"/>
          <a:lstStyle/>
          <a:p>
            <a:pPr algn="ctr" indent="0" marL="0">
              <a:buNone/>
            </a:pPr>
            <a:r>
              <a:rPr lang="en-US" sz="9000" b="1" spc="-250" kern="0" dirty="0">
                <a:solidFill>
                  <a:srgbClr val="DBEAFE"/>
                </a:solidFill>
                <a:latin typeface="Segoe UI" pitchFamily="34" charset="0"/>
                <a:ea typeface="Segoe UI" pitchFamily="34" charset="-122"/>
                <a:cs typeface="Segoe UI" pitchFamily="34" charset="-120"/>
              </a:rPr>
              <a:t>Lặp lại</a:t>
            </a:r>
            <a:endParaRPr lang="en-US" sz="9000" dirty="0"/>
          </a:p>
        </p:txBody>
      </p:sp>
      <p:sp>
        <p:nvSpPr>
          <p:cNvPr id="5" name="Text 3"/>
          <p:cNvSpPr/>
          <p:nvPr/>
        </p:nvSpPr>
        <p:spPr>
          <a:xfrm>
            <a:off x="640080" y="3383280"/>
            <a:ext cx="5669280" cy="822960"/>
          </a:xfrm>
          <a:prstGeom prst="rect">
            <a:avLst/>
          </a:prstGeom>
          <a:noFill/>
          <a:ln/>
        </p:spPr>
        <p:txBody>
          <a:bodyPr wrap="square" lIns="0" tIns="0" rIns="0" bIns="0" rtlCol="0" anchor="ctr"/>
          <a:lstStyle/>
          <a:p>
            <a:pPr algn="ctr" indent="0" marL="0">
              <a:buNone/>
            </a:pPr>
            <a:r>
              <a:rPr lang="en-US" sz="1800" dirty="0">
                <a:solidFill>
                  <a:srgbClr val="EFF6FF"/>
                </a:solidFill>
                <a:latin typeface="Segoe UI" pitchFamily="34" charset="0"/>
                <a:ea typeface="Segoe UI" pitchFamily="34" charset="-122"/>
                <a:cs typeface="Segoe UI" pitchFamily="34" charset="-120"/>
              </a:rPr>
              <a:t>Cùng một câu hỏi thủ tục, giải đáp nhiều lần mỗi ngày</a:t>
            </a:r>
            <a:endParaRPr lang="en-US" sz="1800" dirty="0"/>
          </a:p>
        </p:txBody>
      </p:sp>
      <p:sp>
        <p:nvSpPr>
          <p:cNvPr id="6" name="Shape 4"/>
          <p:cNvSpPr/>
          <p:nvPr/>
        </p:nvSpPr>
        <p:spPr>
          <a:xfrm>
            <a:off x="6492240" y="2057400"/>
            <a:ext cx="5029200" cy="868680"/>
          </a:xfrm>
          <a:prstGeom prst="roundRect">
            <a:avLst>
              <a:gd name="adj" fmla="val 10526"/>
            </a:avLst>
          </a:prstGeom>
          <a:solidFill>
            <a:srgbClr val="16306E"/>
          </a:solidFill>
          <a:ln w="12700">
            <a:solidFill>
              <a:srgbClr val="0B7A75"/>
            </a:solidFill>
            <a:prstDash val="solid"/>
          </a:ln>
        </p:spPr>
      </p:sp>
      <p:sp>
        <p:nvSpPr>
          <p:cNvPr id="7" name="Shape 5"/>
          <p:cNvSpPr/>
          <p:nvPr/>
        </p:nvSpPr>
        <p:spPr>
          <a:xfrm>
            <a:off x="6766560" y="2221992"/>
            <a:ext cx="548640" cy="548640"/>
          </a:xfrm>
          <a:prstGeom prst="ellipse">
            <a:avLst/>
          </a:prstGeom>
          <a:solidFill>
            <a:srgbClr val="0B7A75"/>
          </a:solidFill>
          <a:ln/>
          <a:effectLst>
            <a:outerShdw sx="100000" sy="100000" kx="0" ky="0" algn="bl" rotWithShape="0" blurRad="114300" dist="38100" dir="8100000">
              <a:srgbClr val="1e40af">
                <a:alpha val="20000"/>
              </a:srgbClr>
            </a:outerShdw>
          </a:effectLst>
        </p:spPr>
      </p:sp>
      <p:pic>
        <p:nvPicPr>
          <p:cNvPr id="8" name="Image 0" descr="preencoded.png">    </p:cNvPr>
          <p:cNvPicPr>
            <a:picLocks noChangeAspect="1"/>
          </p:cNvPicPr>
          <p:nvPr/>
        </p:nvPicPr>
        <p:blipFill>
          <a:blip r:embed="rId1"/>
          <a:stretch>
            <a:fillRect/>
          </a:stretch>
        </p:blipFill>
        <p:spPr>
          <a:xfrm>
            <a:off x="6914693" y="2370125"/>
            <a:ext cx="252374" cy="252374"/>
          </a:xfrm>
          <a:prstGeom prst="rect">
            <a:avLst/>
          </a:prstGeom>
        </p:spPr>
      </p:pic>
      <p:sp>
        <p:nvSpPr>
          <p:cNvPr id="9" name="Text 6"/>
          <p:cNvSpPr/>
          <p:nvPr/>
        </p:nvSpPr>
        <p:spPr>
          <a:xfrm>
            <a:off x="7498080" y="2057400"/>
            <a:ext cx="3886200" cy="868680"/>
          </a:xfrm>
          <a:prstGeom prst="rect">
            <a:avLst/>
          </a:prstGeom>
          <a:noFill/>
          <a:ln/>
        </p:spPr>
        <p:txBody>
          <a:bodyPr wrap="square" lIns="0" tIns="0" rIns="0" bIns="0"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Người dân loay hoay tìm địa chỉ đúng</a:t>
            </a:r>
            <a:endParaRPr lang="en-US" sz="1600" dirty="0"/>
          </a:p>
        </p:txBody>
      </p:sp>
      <p:sp>
        <p:nvSpPr>
          <p:cNvPr id="10" name="Shape 7"/>
          <p:cNvSpPr/>
          <p:nvPr/>
        </p:nvSpPr>
        <p:spPr>
          <a:xfrm>
            <a:off x="6492240" y="3108960"/>
            <a:ext cx="5029200" cy="868680"/>
          </a:xfrm>
          <a:prstGeom prst="roundRect">
            <a:avLst>
              <a:gd name="adj" fmla="val 10526"/>
            </a:avLst>
          </a:prstGeom>
          <a:solidFill>
            <a:srgbClr val="16306E"/>
          </a:solidFill>
          <a:ln w="12700">
            <a:solidFill>
              <a:srgbClr val="0B7A75"/>
            </a:solidFill>
            <a:prstDash val="solid"/>
          </a:ln>
        </p:spPr>
      </p:sp>
      <p:sp>
        <p:nvSpPr>
          <p:cNvPr id="11" name="Shape 8"/>
          <p:cNvSpPr/>
          <p:nvPr/>
        </p:nvSpPr>
        <p:spPr>
          <a:xfrm>
            <a:off x="6766560" y="3273552"/>
            <a:ext cx="548640" cy="548640"/>
          </a:xfrm>
          <a:prstGeom prst="ellipse">
            <a:avLst/>
          </a:prstGeom>
          <a:solidFill>
            <a:srgbClr val="0B7A75"/>
          </a:solidFill>
          <a:ln/>
          <a:effectLst>
            <a:outerShdw sx="100000" sy="100000" kx="0" ky="0" algn="bl" rotWithShape="0" blurRad="114300" dist="38100" dir="8100000">
              <a:srgbClr val="1e40af">
                <a:alpha val="20000"/>
              </a:srgbClr>
            </a:outerShdw>
          </a:effectLst>
        </p:spPr>
      </p:sp>
      <p:pic>
        <p:nvPicPr>
          <p:cNvPr id="12" name="Image 1" descr="preencoded.png">    </p:cNvPr>
          <p:cNvPicPr>
            <a:picLocks noChangeAspect="1"/>
          </p:cNvPicPr>
          <p:nvPr/>
        </p:nvPicPr>
        <p:blipFill>
          <a:blip r:embed="rId2"/>
          <a:stretch>
            <a:fillRect/>
          </a:stretch>
        </p:blipFill>
        <p:spPr>
          <a:xfrm>
            <a:off x="6914693" y="3421685"/>
            <a:ext cx="252374" cy="252374"/>
          </a:xfrm>
          <a:prstGeom prst="rect">
            <a:avLst/>
          </a:prstGeom>
        </p:spPr>
      </p:pic>
      <p:sp>
        <p:nvSpPr>
          <p:cNvPr id="13" name="Text 9"/>
          <p:cNvSpPr/>
          <p:nvPr/>
        </p:nvSpPr>
        <p:spPr>
          <a:xfrm>
            <a:off x="7498080" y="3108960"/>
            <a:ext cx="3886200" cy="868680"/>
          </a:xfrm>
          <a:prstGeom prst="rect">
            <a:avLst/>
          </a:prstGeom>
          <a:noFill/>
          <a:ln/>
        </p:spPr>
        <p:txBody>
          <a:bodyPr wrap="square" lIns="0" tIns="0" rIns="0" bIns="0"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Đi lại nhiều lần vì sai thủ tục</a:t>
            </a:r>
            <a:endParaRPr lang="en-US" sz="1600" dirty="0"/>
          </a:p>
        </p:txBody>
      </p:sp>
      <p:sp>
        <p:nvSpPr>
          <p:cNvPr id="14" name="Shape 10"/>
          <p:cNvSpPr/>
          <p:nvPr/>
        </p:nvSpPr>
        <p:spPr>
          <a:xfrm>
            <a:off x="6492240" y="4160520"/>
            <a:ext cx="5029200" cy="868680"/>
          </a:xfrm>
          <a:prstGeom prst="roundRect">
            <a:avLst>
              <a:gd name="adj" fmla="val 10526"/>
            </a:avLst>
          </a:prstGeom>
          <a:solidFill>
            <a:srgbClr val="16306E"/>
          </a:solidFill>
          <a:ln w="12700">
            <a:solidFill>
              <a:srgbClr val="0B7A75"/>
            </a:solidFill>
            <a:prstDash val="solid"/>
          </a:ln>
        </p:spPr>
      </p:sp>
      <p:sp>
        <p:nvSpPr>
          <p:cNvPr id="15" name="Shape 11"/>
          <p:cNvSpPr/>
          <p:nvPr/>
        </p:nvSpPr>
        <p:spPr>
          <a:xfrm>
            <a:off x="6766560" y="4325112"/>
            <a:ext cx="548640" cy="548640"/>
          </a:xfrm>
          <a:prstGeom prst="ellipse">
            <a:avLst/>
          </a:prstGeom>
          <a:solidFill>
            <a:srgbClr val="0B7A75"/>
          </a:solidFill>
          <a:ln/>
          <a:effectLst>
            <a:outerShdw sx="100000" sy="100000" kx="0" ky="0" algn="bl" rotWithShape="0" blurRad="114300" dist="38100" dir="8100000">
              <a:srgbClr val="1e40af">
                <a:alpha val="20000"/>
              </a:srgbClr>
            </a:outerShdw>
          </a:effectLst>
        </p:spPr>
      </p:sp>
      <p:pic>
        <p:nvPicPr>
          <p:cNvPr id="16" name="Image 2" descr="preencoded.png">    </p:cNvPr>
          <p:cNvPicPr>
            <a:picLocks noChangeAspect="1"/>
          </p:cNvPicPr>
          <p:nvPr/>
        </p:nvPicPr>
        <p:blipFill>
          <a:blip r:embed="rId3"/>
          <a:stretch>
            <a:fillRect/>
          </a:stretch>
        </p:blipFill>
        <p:spPr>
          <a:xfrm>
            <a:off x="6914693" y="4473245"/>
            <a:ext cx="252374" cy="252374"/>
          </a:xfrm>
          <a:prstGeom prst="rect">
            <a:avLst/>
          </a:prstGeom>
        </p:spPr>
      </p:pic>
      <p:sp>
        <p:nvSpPr>
          <p:cNvPr id="17" name="Text 12"/>
          <p:cNvSpPr/>
          <p:nvPr/>
        </p:nvSpPr>
        <p:spPr>
          <a:xfrm>
            <a:off x="7498080" y="4160520"/>
            <a:ext cx="3886200" cy="868680"/>
          </a:xfrm>
          <a:prstGeom prst="rect">
            <a:avLst/>
          </a:prstGeom>
          <a:noFill/>
          <a:ln/>
        </p:spPr>
        <p:txBody>
          <a:bodyPr wrap="square" lIns="0" tIns="0" rIns="0" bIns="0"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Cán bộ mất thời gian trả lời lặp lại</a:t>
            </a:r>
            <a:endParaRPr lang="en-US" sz="1600" dirty="0"/>
          </a:p>
        </p:txBody>
      </p:sp>
      <p:sp>
        <p:nvSpPr>
          <p:cNvPr id="18" name="Text 13"/>
          <p:cNvSpPr/>
          <p:nvPr/>
        </p:nvSpPr>
        <p:spPr>
          <a:xfrm>
            <a:off x="640080" y="5623560"/>
            <a:ext cx="10881360" cy="640080"/>
          </a:xfrm>
          <a:prstGeom prst="rect">
            <a:avLst/>
          </a:prstGeom>
          <a:noFill/>
          <a:ln/>
        </p:spPr>
        <p:txBody>
          <a:bodyPr wrap="square" lIns="0" tIns="0" rIns="0" bIns="0" rtlCol="0" anchor="ctr"/>
          <a:lstStyle/>
          <a:p>
            <a:pPr indent="0" marL="0">
              <a:buNone/>
            </a:pPr>
            <a:r>
              <a:rPr lang="en-US" sz="1600" i="1" dirty="0">
                <a:solidFill>
                  <a:srgbClr val="DBEAFE"/>
                </a:solidFill>
                <a:latin typeface="Segoe UI" pitchFamily="34" charset="0"/>
                <a:ea typeface="Segoe UI" pitchFamily="34" charset="-122"/>
                <a:cs typeface="Segoe UI" pitchFamily="34" charset="-120"/>
              </a:rPr>
              <a:t>Ghi nhận từ thực tế công tác, chưa có số liệu thống kê chính thức.</a:t>
            </a:r>
            <a:endParaRPr lang="en-US" sz="1600" dirty="0"/>
          </a:p>
        </p:txBody>
      </p:sp>
    </p:spTree>
  </p:cSld>
  <p:clrMapOvr>
    <a:masterClrMapping/>
  </p:clrMapOvr>
  <p:transition xmlns:p14="http://schemas.microsoft.com/office/powerpoint/2010/main" spd="med" p14:dur="450">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286000" y="2286000"/>
            <a:ext cx="91440" cy="1828800"/>
          </a:xfrm>
          <a:prstGeom prst="rect">
            <a:avLst/>
          </a:prstGeom>
          <a:solidFill>
            <a:srgbClr val="1D4ED8"/>
          </a:solidFill>
          <a:ln/>
        </p:spPr>
      </p:sp>
      <p:sp>
        <p:nvSpPr>
          <p:cNvPr id="3" name="Text 1"/>
          <p:cNvSpPr/>
          <p:nvPr/>
        </p:nvSpPr>
        <p:spPr>
          <a:xfrm>
            <a:off x="2743200" y="2286000"/>
            <a:ext cx="8229600" cy="1371600"/>
          </a:xfrm>
          <a:prstGeom prst="rect">
            <a:avLst/>
          </a:prstGeom>
          <a:noFill/>
          <a:ln/>
        </p:spPr>
        <p:txBody>
          <a:bodyPr wrap="square" lIns="0" tIns="0" rIns="0" bIns="0" rtlCol="0" anchor="t"/>
          <a:lstStyle/>
          <a:p>
            <a:pPr indent="0" marL="0">
              <a:buNone/>
            </a:pPr>
            <a:r>
              <a:rPr lang="en-US" sz="3200" i="1" dirty="0">
                <a:solidFill>
                  <a:srgbClr val="0F172A"/>
                </a:solidFill>
                <a:latin typeface="Segoe UI" pitchFamily="34" charset="0"/>
                <a:ea typeface="Segoe UI" pitchFamily="34" charset="-122"/>
                <a:cs typeface="Segoe UI" pitchFamily="34" charset="-120"/>
              </a:rPr>
              <a:t>Người dân cần được hướng dẫn chính xác</a:t>
            </a:r>
            <a:endParaRPr lang="en-US" sz="3200" dirty="0"/>
          </a:p>
          <a:p>
            <a:pPr indent="0" marL="0">
              <a:buNone/>
            </a:pPr>
            <a:r>
              <a:rPr lang="en-US" sz="3200" i="1" dirty="0">
                <a:solidFill>
                  <a:srgbClr val="0F172A"/>
                </a:solidFill>
                <a:latin typeface="Segoe UI" pitchFamily="34" charset="0"/>
                <a:ea typeface="Segoe UI" pitchFamily="34" charset="-122"/>
                <a:cs typeface="Segoe UI" pitchFamily="34" charset="-120"/>
              </a:rPr>
              <a:t>trước khi đến làm thủ tục.</a:t>
            </a:r>
            <a:endParaRPr lang="en-US" sz="3200" dirty="0"/>
          </a:p>
        </p:txBody>
      </p:sp>
      <p:sp>
        <p:nvSpPr>
          <p:cNvPr id="4" name="Text 2"/>
          <p:cNvSpPr/>
          <p:nvPr/>
        </p:nvSpPr>
        <p:spPr>
          <a:xfrm>
            <a:off x="2743200" y="3840480"/>
            <a:ext cx="8229600" cy="457200"/>
          </a:xfrm>
          <a:prstGeom prst="rect">
            <a:avLst/>
          </a:prstGeom>
          <a:noFill/>
          <a:ln/>
        </p:spPr>
        <p:txBody>
          <a:bodyPr wrap="square" lIns="0" tIns="0" rIns="0" bIns="0" rtlCol="0" anchor="ctr"/>
          <a:lstStyle/>
          <a:p>
            <a:pPr indent="0" marL="0">
              <a:buNone/>
            </a:pPr>
            <a:r>
              <a:rPr lang="en-US" sz="2000" b="1" dirty="0">
                <a:solidFill>
                  <a:srgbClr val="334155"/>
                </a:solidFill>
                <a:latin typeface="Segoe UI" pitchFamily="34" charset="0"/>
                <a:ea typeface="Segoe UI" pitchFamily="34" charset="-122"/>
                <a:cs typeface="Segoe UI" pitchFamily="34" charset="-120"/>
              </a:rPr>
              <a:t>Nhu cầu thường gặp của người dân</a:t>
            </a:r>
            <a:endParaRPr lang="en-US" sz="2000" dirty="0"/>
          </a:p>
        </p:txBody>
      </p:sp>
    </p:spTree>
  </p:cSld>
  <p:clrMapOvr>
    <a:masterClrMapping/>
  </p:clrMapOvr>
  <p:transition xmlns:p14="http://schemas.microsoft.com/office/powerpoint/2010/main" spd="med" p14:dur="450">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881360" cy="320040"/>
          </a:xfrm>
          <a:prstGeom prst="rect">
            <a:avLst/>
          </a:prstGeom>
          <a:noFill/>
          <a:ln/>
        </p:spPr>
        <p:txBody>
          <a:bodyPr wrap="square" lIns="0" tIns="0" rIns="0" bIns="0" rtlCol="0" anchor="ctr"/>
          <a:lstStyle/>
          <a:p>
            <a:pPr indent="0" marL="0">
              <a:buNone/>
            </a:pPr>
            <a:r>
              <a:rPr lang="en-US" sz="1300" b="1" spc="200" kern="0" dirty="0">
                <a:solidFill>
                  <a:srgbClr val="1D4ED8"/>
                </a:solidFill>
                <a:latin typeface="Segoe UI" pitchFamily="34" charset="0"/>
                <a:ea typeface="Segoe UI" pitchFamily="34" charset="-122"/>
                <a:cs typeface="Segoe UI" pitchFamily="34" charset="-120"/>
              </a:rPr>
              <a:t>CÚ HÍCH GIẢI PHÁP</a:t>
            </a:r>
            <a:endParaRPr lang="en-US" sz="1300" dirty="0"/>
          </a:p>
        </p:txBody>
      </p:sp>
      <p:sp>
        <p:nvSpPr>
          <p:cNvPr id="3" name="Text 1"/>
          <p:cNvSpPr/>
          <p:nvPr/>
        </p:nvSpPr>
        <p:spPr>
          <a:xfrm>
            <a:off x="640080" y="768096"/>
            <a:ext cx="10881360" cy="777240"/>
          </a:xfrm>
          <a:prstGeom prst="rect">
            <a:avLst/>
          </a:prstGeom>
          <a:noFill/>
          <a:ln/>
        </p:spPr>
        <p:txBody>
          <a:bodyPr wrap="square" lIns="0" tIns="0" rIns="0" bIns="0" rtlCol="0" anchor="t"/>
          <a:lstStyle/>
          <a:p>
            <a:pPr indent="0" marL="0">
              <a:buNone/>
            </a:pPr>
            <a:r>
              <a:rPr lang="en-US" sz="2900" b="1" spc="-50" kern="0" dirty="0">
                <a:solidFill>
                  <a:srgbClr val="0F172A"/>
                </a:solidFill>
                <a:latin typeface="Segoe UI" pitchFamily="34" charset="0"/>
                <a:ea typeface="Segoe UI" pitchFamily="34" charset="-122"/>
                <a:cs typeface="Segoe UI" pitchFamily="34" charset="-120"/>
              </a:rPr>
              <a:t>Bản đồ Công an số</a:t>
            </a:r>
            <a:endParaRPr lang="en-US" sz="2900" dirty="0"/>
          </a:p>
        </p:txBody>
      </p:sp>
      <p:sp>
        <p:nvSpPr>
          <p:cNvPr id="4" name="Text 2"/>
          <p:cNvSpPr/>
          <p:nvPr/>
        </p:nvSpPr>
        <p:spPr>
          <a:xfrm>
            <a:off x="640080" y="1691640"/>
            <a:ext cx="4206240" cy="914400"/>
          </a:xfrm>
          <a:prstGeom prst="rect">
            <a:avLst/>
          </a:prstGeom>
          <a:noFill/>
          <a:ln/>
        </p:spPr>
        <p:txBody>
          <a:bodyPr wrap="square" lIns="0" tIns="0" rIns="0" bIns="0" rtlCol="0" anchor="t"/>
          <a:lstStyle/>
          <a:p>
            <a:pPr indent="0" marL="0">
              <a:buNone/>
            </a:pPr>
            <a:r>
              <a:rPr lang="en-US" sz="2600" b="1" dirty="0">
                <a:solidFill>
                  <a:srgbClr val="0F172A"/>
                </a:solidFill>
                <a:latin typeface="Segoe UI" pitchFamily="34" charset="0"/>
                <a:ea typeface="Segoe UI" pitchFamily="34" charset="-122"/>
                <a:cs typeface="Segoe UI" pitchFamily="34" charset="-120"/>
              </a:rPr>
              <a:t>Một điểm chạm để người dân tra cứu đúng nơi và hỏi đúng thủ tục.</a:t>
            </a:r>
            <a:endParaRPr lang="en-US" sz="2600" dirty="0"/>
          </a:p>
        </p:txBody>
      </p:sp>
      <p:sp>
        <p:nvSpPr>
          <p:cNvPr id="5" name="Shape 3"/>
          <p:cNvSpPr/>
          <p:nvPr/>
        </p:nvSpPr>
        <p:spPr>
          <a:xfrm>
            <a:off x="640080" y="2971800"/>
            <a:ext cx="640080" cy="640080"/>
          </a:xfrm>
          <a:prstGeom prst="ellipse">
            <a:avLst/>
          </a:prstGeom>
          <a:solidFill>
            <a:srgbClr val="1D4ED8"/>
          </a:solidFill>
          <a:ln/>
          <a:effectLst>
            <a:outerShdw sx="100000" sy="100000" kx="0" ky="0" algn="bl" rotWithShape="0" blurRad="114300" dist="38100" dir="8100000">
              <a:srgbClr val="1e40af">
                <a:alpha val="20000"/>
              </a:srgbClr>
            </a:outerShdw>
          </a:effectLst>
        </p:spPr>
      </p:sp>
      <p:pic>
        <p:nvPicPr>
          <p:cNvPr id="6" name="Image 0" descr="preencoded.png">    </p:cNvPr>
          <p:cNvPicPr>
            <a:picLocks noChangeAspect="1"/>
          </p:cNvPicPr>
          <p:nvPr/>
        </p:nvPicPr>
        <p:blipFill>
          <a:blip r:embed="rId1"/>
          <a:stretch>
            <a:fillRect/>
          </a:stretch>
        </p:blipFill>
        <p:spPr>
          <a:xfrm>
            <a:off x="812902" y="3144622"/>
            <a:ext cx="294437" cy="294437"/>
          </a:xfrm>
          <a:prstGeom prst="rect">
            <a:avLst/>
          </a:prstGeom>
        </p:spPr>
      </p:pic>
      <p:sp>
        <p:nvSpPr>
          <p:cNvPr id="7" name="Text 4"/>
          <p:cNvSpPr/>
          <p:nvPr/>
        </p:nvSpPr>
        <p:spPr>
          <a:xfrm>
            <a:off x="1508760" y="2990088"/>
            <a:ext cx="3611880" cy="274320"/>
          </a:xfrm>
          <a:prstGeom prst="rect">
            <a:avLst/>
          </a:prstGeom>
          <a:noFill/>
          <a:ln/>
        </p:spPr>
        <p:txBody>
          <a:bodyPr wrap="square" lIns="0" tIns="0" rIns="0" bIns="0"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Bản đồ tương tác</a:t>
            </a:r>
            <a:endParaRPr lang="en-US" sz="1900" dirty="0"/>
          </a:p>
        </p:txBody>
      </p:sp>
      <p:sp>
        <p:nvSpPr>
          <p:cNvPr id="8" name="Text 5"/>
          <p:cNvSpPr/>
          <p:nvPr/>
        </p:nvSpPr>
        <p:spPr>
          <a:xfrm>
            <a:off x="1508760" y="3355848"/>
            <a:ext cx="3657600" cy="502920"/>
          </a:xfrm>
          <a:prstGeom prst="rect">
            <a:avLst/>
          </a:prstGeom>
          <a:noFill/>
          <a:ln/>
        </p:spPr>
        <p:txBody>
          <a:bodyPr wrap="square" lIns="0" tIns="0" rIns="0" bIns="0" rtlCol="0" anchor="ctr"/>
          <a:lstStyle/>
          <a:p>
            <a:pPr indent="0" marL="0">
              <a:buNone/>
            </a:pPr>
            <a:r>
              <a:rPr lang="en-US" sz="1550" dirty="0">
                <a:solidFill>
                  <a:srgbClr val="334155"/>
                </a:solidFill>
                <a:latin typeface="Segoe UI" pitchFamily="34" charset="0"/>
                <a:ea typeface="Segoe UI" pitchFamily="34" charset="-122"/>
                <a:cs typeface="Segoe UI" pitchFamily="34" charset="-120"/>
              </a:rPr>
              <a:t>Định vị mạng lưới trụ sở trên nền OpenStreetMap.</a:t>
            </a:r>
            <a:endParaRPr lang="en-US" sz="1550" dirty="0"/>
          </a:p>
        </p:txBody>
      </p:sp>
      <p:sp>
        <p:nvSpPr>
          <p:cNvPr id="9" name="Shape 6"/>
          <p:cNvSpPr/>
          <p:nvPr/>
        </p:nvSpPr>
        <p:spPr>
          <a:xfrm>
            <a:off x="640080" y="4206240"/>
            <a:ext cx="640080" cy="640080"/>
          </a:xfrm>
          <a:prstGeom prst="ellipse">
            <a:avLst/>
          </a:prstGeom>
          <a:solidFill>
            <a:srgbClr val="0B7A75"/>
          </a:solidFill>
          <a:ln/>
          <a:effectLst>
            <a:outerShdw sx="100000" sy="100000" kx="0" ky="0" algn="bl" rotWithShape="0" blurRad="114300" dist="38100" dir="8100000">
              <a:srgbClr val="1e40af">
                <a:alpha val="20000"/>
              </a:srgbClr>
            </a:outerShdw>
          </a:effectLst>
        </p:spPr>
      </p:sp>
      <p:sp>
        <p:nvSpPr>
          <p:cNvPr id="10" name="Text 7"/>
          <p:cNvSpPr/>
          <p:nvPr/>
        </p:nvSpPr>
        <p:spPr>
          <a:xfrm>
            <a:off x="1508760" y="4224528"/>
            <a:ext cx="3611880" cy="274320"/>
          </a:xfrm>
          <a:prstGeom prst="rect">
            <a:avLst/>
          </a:prstGeom>
          <a:noFill/>
          <a:ln/>
        </p:spPr>
        <p:txBody>
          <a:bodyPr wrap="square" lIns="0" tIns="0" rIns="0" bIns="0"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Trợ lý ảo AI</a:t>
            </a:r>
            <a:endParaRPr lang="en-US" sz="1900" dirty="0"/>
          </a:p>
        </p:txBody>
      </p:sp>
      <p:sp>
        <p:nvSpPr>
          <p:cNvPr id="11" name="Text 8"/>
          <p:cNvSpPr/>
          <p:nvPr/>
        </p:nvSpPr>
        <p:spPr>
          <a:xfrm>
            <a:off x="1508760" y="4590288"/>
            <a:ext cx="3657600" cy="502920"/>
          </a:xfrm>
          <a:prstGeom prst="rect">
            <a:avLst/>
          </a:prstGeom>
          <a:noFill/>
          <a:ln/>
        </p:spPr>
        <p:txBody>
          <a:bodyPr wrap="square" lIns="0" tIns="0" rIns="0" bIns="0" rtlCol="0" anchor="ctr"/>
          <a:lstStyle/>
          <a:p>
            <a:pPr indent="0" marL="0">
              <a:buNone/>
            </a:pPr>
            <a:r>
              <a:rPr lang="en-US" sz="1550" dirty="0">
                <a:solidFill>
                  <a:srgbClr val="334155"/>
                </a:solidFill>
                <a:latin typeface="Segoe UI" pitchFamily="34" charset="0"/>
                <a:ea typeface="Segoe UI" pitchFamily="34" charset="-122"/>
                <a:cs typeface="Segoe UI" pitchFamily="34" charset="-120"/>
              </a:rPr>
              <a:t>Tư vấn thủ tục hành chính, giải đáp 24/7.</a:t>
            </a:r>
            <a:endParaRPr lang="en-US" sz="1550" dirty="0"/>
          </a:p>
        </p:txBody>
      </p:sp>
      <p:sp>
        <p:nvSpPr>
          <p:cNvPr id="12" name="Shape 9"/>
          <p:cNvSpPr/>
          <p:nvPr/>
        </p:nvSpPr>
        <p:spPr>
          <a:xfrm>
            <a:off x="5202936" y="1819656"/>
            <a:ext cx="6373368" cy="3338408"/>
          </a:xfrm>
          <a:prstGeom prst="roundRect">
            <a:avLst>
              <a:gd name="adj" fmla="val 2191"/>
            </a:avLst>
          </a:prstGeom>
          <a:solidFill>
            <a:srgbClr val="F8FAFC"/>
          </a:solidFill>
          <a:ln w="12700">
            <a:solidFill>
              <a:srgbClr val="E2E8F0"/>
            </a:solidFill>
            <a:prstDash val="solid"/>
          </a:ln>
          <a:effectLst>
            <a:outerShdw sx="100000" sy="100000" kx="0" ky="0" algn="bl" rotWithShape="0" blurRad="88900" dist="25400" dir="8100000">
              <a:srgbClr val="94A3B8">
                <a:alpha val="28000"/>
              </a:srgbClr>
            </a:outerShdw>
          </a:effectLst>
        </p:spPr>
      </p:sp>
      <p:pic>
        <p:nvPicPr>
          <p:cNvPr id="13" name="Image 1" descr="D:\04. Github\bandocapt\presentation\asset\giao dien desktop.png">    </p:cNvPr>
          <p:cNvPicPr>
            <a:picLocks noChangeAspect="1"/>
          </p:cNvPicPr>
          <p:nvPr/>
        </p:nvPicPr>
        <p:blipFill>
          <a:blip r:embed="rId2"/>
          <a:srcRect l="0" r="0" t="0" b="0"/>
          <a:stretch/>
        </p:blipFill>
        <p:spPr>
          <a:xfrm>
            <a:off x="5257800" y="1874520"/>
            <a:ext cx="6263640" cy="3228680"/>
          </a:xfrm>
          <a:prstGeom prst="rect">
            <a:avLst/>
          </a:prstGeom>
        </p:spPr>
      </p:pic>
      <p:sp>
        <p:nvSpPr>
          <p:cNvPr id="14" name="Text 10"/>
          <p:cNvSpPr/>
          <p:nvPr/>
        </p:nvSpPr>
        <p:spPr>
          <a:xfrm>
            <a:off x="5257800" y="5267792"/>
            <a:ext cx="6263640" cy="228600"/>
          </a:xfrm>
          <a:prstGeom prst="rect">
            <a:avLst/>
          </a:prstGeom>
          <a:noFill/>
          <a:ln/>
        </p:spPr>
        <p:txBody>
          <a:bodyPr wrap="square" lIns="0" tIns="0" rIns="0" bIns="0" rtlCol="0" anchor="ctr"/>
          <a:lstStyle/>
          <a:p>
            <a:pPr algn="ctr" indent="0" marL="0">
              <a:buNone/>
            </a:pPr>
            <a:r>
              <a:rPr lang="en-US" sz="1300" i="1" dirty="0">
                <a:solidFill>
                  <a:srgbClr val="64748B"/>
                </a:solidFill>
                <a:latin typeface="Segoe UI" pitchFamily="34" charset="0"/>
                <a:ea typeface="Segoe UI" pitchFamily="34" charset="-122"/>
                <a:cs typeface="Segoe UI" pitchFamily="34" charset="-120"/>
              </a:rPr>
              <a:t>Giao diện thử nghiệm trên máy tính</a:t>
            </a:r>
            <a:endParaRPr lang="en-US" sz="1300" dirty="0"/>
          </a:p>
        </p:txBody>
      </p:sp>
    </p:spTree>
  </p:cSld>
  <p:clrMapOvr>
    <a:masterClrMapping/>
  </p:clrMapOvr>
  <p:transition xmlns:p14="http://schemas.microsoft.com/office/powerpoint/2010/main" spd="med" p14:dur="450">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3A8A"/>
        </a:solidFill>
      </p:bgPr>
    </p:bg>
    <p:spTree>
      <p:nvGrpSpPr>
        <p:cNvPr id="1" name=""/>
        <p:cNvGrpSpPr/>
        <p:nvPr/>
      </p:nvGrpSpPr>
      <p:grpSpPr>
        <a:xfrm>
          <a:off x="0" y="0"/>
          <a:ext cx="0" cy="0"/>
          <a:chOff x="0" y="0"/>
          <a:chExt cx="0" cy="0"/>
        </a:xfrm>
      </p:grpSpPr>
      <p:sp>
        <p:nvSpPr>
          <p:cNvPr id="2" name="Text 0"/>
          <p:cNvSpPr/>
          <p:nvPr/>
        </p:nvSpPr>
        <p:spPr>
          <a:xfrm>
            <a:off x="640080" y="2148840"/>
            <a:ext cx="10881360" cy="2560320"/>
          </a:xfrm>
          <a:prstGeom prst="rect">
            <a:avLst/>
          </a:prstGeom>
          <a:noFill/>
          <a:ln/>
        </p:spPr>
        <p:txBody>
          <a:bodyPr wrap="square" lIns="0" tIns="0" rIns="0" bIns="0" rtlCol="0" anchor="ctr"/>
          <a:lstStyle/>
          <a:p>
            <a:pPr algn="ctr" indent="0" marL="0">
              <a:buNone/>
            </a:pPr>
            <a:r>
              <a:rPr lang="en-US" sz="4400" b="1" spc="-120" kern="0" dirty="0">
                <a:solidFill>
                  <a:srgbClr val="FFFFFF"/>
                </a:solidFill>
                <a:latin typeface="Segoe UI" pitchFamily="34" charset="0"/>
                <a:ea typeface="Segoe UI" pitchFamily="34" charset="-122"/>
                <a:cs typeface="Segoe UI" pitchFamily="34" charset="-120"/>
              </a:rPr>
              <a:t>Giảm rủi ro trả lời sai</a:t>
            </a:r>
            <a:endParaRPr lang="en-US" sz="4400" dirty="0"/>
          </a:p>
          <a:p>
            <a:pPr algn="ctr" indent="0" marL="0">
              <a:buNone/>
            </a:pPr>
            <a:r>
              <a:rPr lang="en-US" sz="4400" b="1" spc="-120" kern="0" dirty="0">
                <a:solidFill>
                  <a:srgbClr val="FFFFFF"/>
                </a:solidFill>
                <a:latin typeface="Segoe UI" pitchFamily="34" charset="0"/>
                <a:ea typeface="Segoe UI" pitchFamily="34" charset="-122"/>
                <a:cs typeface="Segoe UI" pitchFamily="34" charset="-120"/>
              </a:rPr>
              <a:t>bằng dữ liệu có kiểm soát</a:t>
            </a:r>
            <a:endParaRPr lang="en-US" sz="4400" dirty="0"/>
          </a:p>
          <a:p>
            <a:pPr algn="ctr" indent="0" marL="0">
              <a:buNone/>
            </a:pPr>
            <a:r>
              <a:rPr lang="en-US" sz="4400" b="1" spc="-120" kern="0" dirty="0">
                <a:solidFill>
                  <a:srgbClr val="FFFFFF"/>
                </a:solidFill>
                <a:latin typeface="Segoe UI" pitchFamily="34" charset="0"/>
                <a:ea typeface="Segoe UI" pitchFamily="34" charset="-122"/>
                <a:cs typeface="Segoe UI" pitchFamily="34" charset="-120"/>
              </a:rPr>
              <a:t>và hậu kiểm.</a:t>
            </a:r>
            <a:endParaRPr lang="en-US" sz="4400" dirty="0"/>
          </a:p>
        </p:txBody>
      </p:sp>
    </p:spTree>
  </p:cSld>
  <p:clrMapOvr>
    <a:masterClrMapping/>
  </p:clrMapOvr>
  <mc:AlternateContent xmlns:mc="http://schemas.openxmlformats.org/markup-compatibility/2006">
    <mc:Choice xmlns:p159="http://schemas.microsoft.com/office/powerpoint/2015/9/main" Requires="p159">
      <p:transition xmlns:p14="http://schemas.microsoft.com/office/powerpoint/2010/main" spd="med" p14:dur="800">
        <p159:morph option="byObject"/>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881360" cy="320040"/>
          </a:xfrm>
          <a:prstGeom prst="rect">
            <a:avLst/>
          </a:prstGeom>
          <a:noFill/>
          <a:ln/>
        </p:spPr>
        <p:txBody>
          <a:bodyPr wrap="square" lIns="0" tIns="0" rIns="0" bIns="0" rtlCol="0" anchor="ctr"/>
          <a:lstStyle/>
          <a:p>
            <a:pPr indent="0" marL="0">
              <a:buNone/>
            </a:pPr>
            <a:r>
              <a:rPr lang="en-US" sz="1300" b="1" spc="200" kern="0" dirty="0">
                <a:solidFill>
                  <a:srgbClr val="1D4ED8"/>
                </a:solidFill>
                <a:latin typeface="Segoe UI" pitchFamily="34" charset="0"/>
                <a:ea typeface="Segoe UI" pitchFamily="34" charset="-122"/>
                <a:cs typeface="Segoe UI" pitchFamily="34" charset="-120"/>
              </a:rPr>
              <a:t>CÁCH TIẾP CẬN KỸ THUẬT</a:t>
            </a:r>
            <a:endParaRPr lang="en-US" sz="1300" dirty="0"/>
          </a:p>
        </p:txBody>
      </p:sp>
      <p:sp>
        <p:nvSpPr>
          <p:cNvPr id="3" name="Text 1"/>
          <p:cNvSpPr/>
          <p:nvPr/>
        </p:nvSpPr>
        <p:spPr>
          <a:xfrm>
            <a:off x="640080" y="768096"/>
            <a:ext cx="10881360" cy="777240"/>
          </a:xfrm>
          <a:prstGeom prst="rect">
            <a:avLst/>
          </a:prstGeom>
          <a:noFill/>
          <a:ln/>
        </p:spPr>
        <p:txBody>
          <a:bodyPr wrap="square" lIns="0" tIns="0" rIns="0" bIns="0" rtlCol="0" anchor="t"/>
          <a:lstStyle/>
          <a:p>
            <a:pPr indent="0" marL="0">
              <a:buNone/>
            </a:pPr>
            <a:r>
              <a:rPr lang="en-US" sz="2900" b="1" spc="-50" kern="0" dirty="0">
                <a:solidFill>
                  <a:srgbClr val="0F172A"/>
                </a:solidFill>
                <a:latin typeface="Segoe UI" pitchFamily="34" charset="0"/>
                <a:ea typeface="Segoe UI" pitchFamily="34" charset="-122"/>
                <a:cs typeface="Segoe UI" pitchFamily="34" charset="-120"/>
              </a:rPr>
              <a:t>4 lớp kiểm soát giảm rủi ro trả lời sai</a:t>
            </a:r>
            <a:endParaRPr lang="en-US" sz="2900" dirty="0"/>
          </a:p>
        </p:txBody>
      </p:sp>
      <p:sp>
        <p:nvSpPr>
          <p:cNvPr id="4" name="Text 2"/>
          <p:cNvSpPr/>
          <p:nvPr/>
        </p:nvSpPr>
        <p:spPr>
          <a:xfrm>
            <a:off x="640080" y="1600200"/>
            <a:ext cx="10881360" cy="548640"/>
          </a:xfrm>
          <a:prstGeom prst="rect">
            <a:avLst/>
          </a:prstGeom>
          <a:noFill/>
          <a:ln/>
        </p:spPr>
        <p:txBody>
          <a:bodyPr wrap="square" lIns="0" tIns="0" rIns="0" bIns="0" rtlCol="0" anchor="ctr"/>
          <a:lstStyle/>
          <a:p>
            <a:pPr indent="0" marL="0">
              <a:buNone/>
            </a:pPr>
            <a:r>
              <a:rPr lang="en-US" sz="1600" dirty="0">
                <a:solidFill>
                  <a:srgbClr val="334155"/>
                </a:solidFill>
                <a:latin typeface="Segoe UI" pitchFamily="34" charset="0"/>
                <a:ea typeface="Segoe UI" pitchFamily="34" charset="-122"/>
                <a:cs typeface="Segoe UI" pitchFamily="34" charset="-120"/>
              </a:rPr>
              <a:t>Không có phép màu — đây là quy trình kiểm soát gồm 4 lớp, mỗi lớp chặn một kiểu sai khác nhau:</a:t>
            </a:r>
            <a:endParaRPr lang="en-US" sz="1600" dirty="0"/>
          </a:p>
        </p:txBody>
      </p:sp>
      <p:sp>
        <p:nvSpPr>
          <p:cNvPr id="5" name="Shape 3"/>
          <p:cNvSpPr/>
          <p:nvPr/>
        </p:nvSpPr>
        <p:spPr>
          <a:xfrm>
            <a:off x="640080" y="2468880"/>
            <a:ext cx="2103120" cy="3383280"/>
          </a:xfrm>
          <a:prstGeom prst="roundRect">
            <a:avLst>
              <a:gd name="adj" fmla="val 5217"/>
            </a:avLst>
          </a:prstGeom>
          <a:solidFill>
            <a:srgbClr val="F8FAFC"/>
          </a:solidFill>
          <a:ln w="12700">
            <a:solidFill>
              <a:srgbClr val="E2E8F0"/>
            </a:solidFill>
            <a:prstDash val="solid"/>
          </a:ln>
          <a:effectLst>
            <a:outerShdw sx="100000" sy="100000" kx="0" ky="0" algn="bl" rotWithShape="0" blurRad="88900" dist="25400" dir="8100000">
              <a:srgbClr val="94A3B8">
                <a:alpha val="28000"/>
              </a:srgbClr>
            </a:outerShdw>
          </a:effectLst>
        </p:spPr>
      </p:sp>
      <p:sp>
        <p:nvSpPr>
          <p:cNvPr id="6" name="Shape 4"/>
          <p:cNvSpPr/>
          <p:nvPr/>
        </p:nvSpPr>
        <p:spPr>
          <a:xfrm>
            <a:off x="1143000" y="2761488"/>
            <a:ext cx="1097280" cy="1097280"/>
          </a:xfrm>
          <a:prstGeom prst="ellipse">
            <a:avLst/>
          </a:prstGeom>
          <a:solidFill>
            <a:srgbClr val="1D4ED8"/>
          </a:solidFill>
          <a:ln/>
          <a:effectLst>
            <a:outerShdw sx="100000" sy="100000" kx="0" ky="0" algn="bl" rotWithShape="0" blurRad="114300" dist="38100" dir="8100000">
              <a:srgbClr val="1e40af">
                <a:alpha val="20000"/>
              </a:srgbClr>
            </a:outerShdw>
          </a:effectLst>
        </p:spPr>
      </p:sp>
      <p:pic>
        <p:nvPicPr>
          <p:cNvPr id="7" name="Image 0" descr="preencoded.png">    </p:cNvPr>
          <p:cNvPicPr>
            <a:picLocks noChangeAspect="1"/>
          </p:cNvPicPr>
          <p:nvPr/>
        </p:nvPicPr>
        <p:blipFill>
          <a:blip r:embed="rId1"/>
          <a:stretch>
            <a:fillRect/>
          </a:stretch>
        </p:blipFill>
        <p:spPr>
          <a:xfrm>
            <a:off x="1439266" y="3057754"/>
            <a:ext cx="504749" cy="504749"/>
          </a:xfrm>
          <a:prstGeom prst="rect">
            <a:avLst/>
          </a:prstGeom>
        </p:spPr>
      </p:pic>
      <p:sp>
        <p:nvSpPr>
          <p:cNvPr id="8" name="Text 5"/>
          <p:cNvSpPr/>
          <p:nvPr/>
        </p:nvSpPr>
        <p:spPr>
          <a:xfrm>
            <a:off x="868680" y="4023360"/>
            <a:ext cx="1645920" cy="731520"/>
          </a:xfrm>
          <a:prstGeom prst="rect">
            <a:avLst/>
          </a:prstGeom>
          <a:noFill/>
          <a:ln/>
        </p:spPr>
        <p:txBody>
          <a:bodyPr wrap="square" lIns="0" tIns="0" rIns="0" bIns="0" rtlCol="0" anchor="t"/>
          <a:lstStyle/>
          <a:p>
            <a:pPr algn="ctr" indent="0" marL="0">
              <a:buNone/>
            </a:pPr>
            <a:r>
              <a:rPr lang="en-US" sz="1900" b="1" dirty="0">
                <a:solidFill>
                  <a:srgbClr val="0F172A"/>
                </a:solidFill>
                <a:latin typeface="Segoe UI" pitchFamily="34" charset="0"/>
                <a:ea typeface="Segoe UI" pitchFamily="34" charset="-122"/>
                <a:cs typeface="Segoe UI" pitchFamily="34" charset="-120"/>
              </a:rPr>
              <a:t>Truy hồi có kiểm soát</a:t>
            </a:r>
            <a:endParaRPr lang="en-US" sz="1900" dirty="0"/>
          </a:p>
        </p:txBody>
      </p:sp>
      <p:sp>
        <p:nvSpPr>
          <p:cNvPr id="9" name="Text 6"/>
          <p:cNvSpPr/>
          <p:nvPr/>
        </p:nvSpPr>
        <p:spPr>
          <a:xfrm>
            <a:off x="914400" y="4791456"/>
            <a:ext cx="1554480" cy="1005840"/>
          </a:xfrm>
          <a:prstGeom prst="rect">
            <a:avLst/>
          </a:prstGeom>
          <a:noFill/>
          <a:ln/>
        </p:spPr>
        <p:txBody>
          <a:bodyPr wrap="square" lIns="0" tIns="0" rIns="0" bIns="0" rtlCol="0" anchor="t"/>
          <a:lstStyle/>
          <a:p>
            <a:pPr algn="ctr" indent="0" marL="0">
              <a:buNone/>
            </a:pPr>
            <a:r>
              <a:rPr lang="en-US" sz="1550" dirty="0">
                <a:solidFill>
                  <a:srgbClr val="334155"/>
                </a:solidFill>
                <a:latin typeface="Segoe UI" pitchFamily="34" charset="0"/>
                <a:ea typeface="Segoe UI" pitchFamily="34" charset="-122"/>
                <a:cs typeface="Segoe UI" pitchFamily="34" charset="-120"/>
              </a:rPr>
              <a:t>Ưu tiên nguồn đã qua rà soát nội bộ, đúng thẩm quyền và cấp thực hiện.</a:t>
            </a:r>
            <a:endParaRPr lang="en-US" sz="1550" dirty="0"/>
          </a:p>
        </p:txBody>
      </p:sp>
      <p:pic>
        <p:nvPicPr>
          <p:cNvPr id="10" name="Image 1" descr="preencoded.png">    </p:cNvPr>
          <p:cNvPicPr>
            <a:picLocks noChangeAspect="1"/>
          </p:cNvPicPr>
          <p:nvPr/>
        </p:nvPicPr>
        <p:blipFill>
          <a:blip r:embed="rId2"/>
          <a:stretch>
            <a:fillRect/>
          </a:stretch>
        </p:blipFill>
        <p:spPr>
          <a:xfrm>
            <a:off x="2944368" y="3913632"/>
            <a:ext cx="420624" cy="420624"/>
          </a:xfrm>
          <a:prstGeom prst="rect">
            <a:avLst/>
          </a:prstGeom>
        </p:spPr>
      </p:pic>
      <p:sp>
        <p:nvSpPr>
          <p:cNvPr id="11" name="Shape 7"/>
          <p:cNvSpPr/>
          <p:nvPr/>
        </p:nvSpPr>
        <p:spPr>
          <a:xfrm>
            <a:off x="3566160" y="2468880"/>
            <a:ext cx="2103120" cy="3383280"/>
          </a:xfrm>
          <a:prstGeom prst="roundRect">
            <a:avLst>
              <a:gd name="adj" fmla="val 5217"/>
            </a:avLst>
          </a:prstGeom>
          <a:solidFill>
            <a:srgbClr val="F8FAFC"/>
          </a:solidFill>
          <a:ln w="12700">
            <a:solidFill>
              <a:srgbClr val="E2E8F0"/>
            </a:solidFill>
            <a:prstDash val="solid"/>
          </a:ln>
          <a:effectLst>
            <a:outerShdw sx="100000" sy="100000" kx="0" ky="0" algn="bl" rotWithShape="0" blurRad="88900" dist="25400" dir="8100000">
              <a:srgbClr val="94A3B8">
                <a:alpha val="28000"/>
              </a:srgbClr>
            </a:outerShdw>
          </a:effectLst>
        </p:spPr>
      </p:sp>
      <p:sp>
        <p:nvSpPr>
          <p:cNvPr id="12" name="Shape 8"/>
          <p:cNvSpPr/>
          <p:nvPr/>
        </p:nvSpPr>
        <p:spPr>
          <a:xfrm>
            <a:off x="4069080" y="2761488"/>
            <a:ext cx="1097280" cy="1097280"/>
          </a:xfrm>
          <a:prstGeom prst="ellipse">
            <a:avLst/>
          </a:prstGeom>
          <a:solidFill>
            <a:srgbClr val="1D4ED8"/>
          </a:solidFill>
          <a:ln/>
          <a:effectLst>
            <a:outerShdw sx="100000" sy="100000" kx="0" ky="0" algn="bl" rotWithShape="0" blurRad="114300" dist="38100" dir="8100000">
              <a:srgbClr val="1e40af">
                <a:alpha val="20000"/>
              </a:srgbClr>
            </a:outerShdw>
          </a:effectLst>
        </p:spPr>
      </p:sp>
      <p:pic>
        <p:nvPicPr>
          <p:cNvPr id="13" name="Image 2" descr="preencoded.png">    </p:cNvPr>
          <p:cNvPicPr>
            <a:picLocks noChangeAspect="1"/>
          </p:cNvPicPr>
          <p:nvPr/>
        </p:nvPicPr>
        <p:blipFill>
          <a:blip r:embed="rId3"/>
          <a:stretch>
            <a:fillRect/>
          </a:stretch>
        </p:blipFill>
        <p:spPr>
          <a:xfrm>
            <a:off x="4365346" y="3057754"/>
            <a:ext cx="504749" cy="504749"/>
          </a:xfrm>
          <a:prstGeom prst="rect">
            <a:avLst/>
          </a:prstGeom>
        </p:spPr>
      </p:pic>
      <p:sp>
        <p:nvSpPr>
          <p:cNvPr id="14" name="Text 9"/>
          <p:cNvSpPr/>
          <p:nvPr/>
        </p:nvSpPr>
        <p:spPr>
          <a:xfrm>
            <a:off x="3794760" y="4023360"/>
            <a:ext cx="1645920" cy="731520"/>
          </a:xfrm>
          <a:prstGeom prst="rect">
            <a:avLst/>
          </a:prstGeom>
          <a:noFill/>
          <a:ln/>
        </p:spPr>
        <p:txBody>
          <a:bodyPr wrap="square" lIns="0" tIns="0" rIns="0" bIns="0" rtlCol="0" anchor="t"/>
          <a:lstStyle/>
          <a:p>
            <a:pPr algn="ctr" indent="0" marL="0">
              <a:buNone/>
            </a:pPr>
            <a:r>
              <a:rPr lang="en-US" sz="1900" b="1" dirty="0">
                <a:solidFill>
                  <a:srgbClr val="0F172A"/>
                </a:solidFill>
                <a:latin typeface="Segoe UI" pitchFamily="34" charset="0"/>
                <a:ea typeface="Segoe UI" pitchFamily="34" charset="-122"/>
                <a:cs typeface="Segoe UI" pitchFamily="34" charset="-120"/>
              </a:rPr>
              <a:t>AI chấm điểm lại</a:t>
            </a:r>
            <a:endParaRPr lang="en-US" sz="1900" dirty="0"/>
          </a:p>
        </p:txBody>
      </p:sp>
      <p:sp>
        <p:nvSpPr>
          <p:cNvPr id="15" name="Text 10"/>
          <p:cNvSpPr/>
          <p:nvPr/>
        </p:nvSpPr>
        <p:spPr>
          <a:xfrm>
            <a:off x="3840480" y="4791456"/>
            <a:ext cx="1554480" cy="1005840"/>
          </a:xfrm>
          <a:prstGeom prst="rect">
            <a:avLst/>
          </a:prstGeom>
          <a:noFill/>
          <a:ln/>
        </p:spPr>
        <p:txBody>
          <a:bodyPr wrap="square" lIns="0" tIns="0" rIns="0" bIns="0" rtlCol="0" anchor="t"/>
          <a:lstStyle/>
          <a:p>
            <a:pPr algn="ctr" indent="0" marL="0">
              <a:buNone/>
            </a:pPr>
            <a:r>
              <a:rPr lang="en-US" sz="1550" dirty="0">
                <a:solidFill>
                  <a:srgbClr val="334155"/>
                </a:solidFill>
                <a:latin typeface="Segoe UI" pitchFamily="34" charset="0"/>
                <a:ea typeface="Segoe UI" pitchFamily="34" charset="-122"/>
                <a:cs typeface="Segoe UI" pitchFamily="34" charset="-120"/>
              </a:rPr>
              <a:t>Mô hình thứ hai rà soát, loại tài liệu gần giống nhưng sai ngữ cảnh.</a:t>
            </a:r>
            <a:endParaRPr lang="en-US" sz="1550" dirty="0"/>
          </a:p>
        </p:txBody>
      </p:sp>
      <p:pic>
        <p:nvPicPr>
          <p:cNvPr id="16" name="Image 3" descr="preencoded.png">    </p:cNvPr>
          <p:cNvPicPr>
            <a:picLocks noChangeAspect="1"/>
          </p:cNvPicPr>
          <p:nvPr/>
        </p:nvPicPr>
        <p:blipFill>
          <a:blip r:embed="rId4"/>
          <a:stretch>
            <a:fillRect/>
          </a:stretch>
        </p:blipFill>
        <p:spPr>
          <a:xfrm>
            <a:off x="5870448" y="3913632"/>
            <a:ext cx="420624" cy="420624"/>
          </a:xfrm>
          <a:prstGeom prst="rect">
            <a:avLst/>
          </a:prstGeom>
        </p:spPr>
      </p:pic>
      <p:sp>
        <p:nvSpPr>
          <p:cNvPr id="17" name="Shape 11"/>
          <p:cNvSpPr/>
          <p:nvPr/>
        </p:nvSpPr>
        <p:spPr>
          <a:xfrm>
            <a:off x="6492240" y="2468880"/>
            <a:ext cx="2103120" cy="3383280"/>
          </a:xfrm>
          <a:prstGeom prst="roundRect">
            <a:avLst>
              <a:gd name="adj" fmla="val 5217"/>
            </a:avLst>
          </a:prstGeom>
          <a:solidFill>
            <a:srgbClr val="F8FAFC"/>
          </a:solidFill>
          <a:ln w="12700">
            <a:solidFill>
              <a:srgbClr val="E2E8F0"/>
            </a:solidFill>
            <a:prstDash val="solid"/>
          </a:ln>
          <a:effectLst>
            <a:outerShdw sx="100000" sy="100000" kx="0" ky="0" algn="bl" rotWithShape="0" blurRad="88900" dist="25400" dir="8100000">
              <a:srgbClr val="94A3B8">
                <a:alpha val="28000"/>
              </a:srgbClr>
            </a:outerShdw>
          </a:effectLst>
        </p:spPr>
      </p:sp>
      <p:sp>
        <p:nvSpPr>
          <p:cNvPr id="18" name="Shape 12"/>
          <p:cNvSpPr/>
          <p:nvPr/>
        </p:nvSpPr>
        <p:spPr>
          <a:xfrm>
            <a:off x="6995160" y="2761488"/>
            <a:ext cx="1097280" cy="1097280"/>
          </a:xfrm>
          <a:prstGeom prst="ellipse">
            <a:avLst/>
          </a:prstGeom>
          <a:solidFill>
            <a:srgbClr val="1D4ED8"/>
          </a:solidFill>
          <a:ln/>
          <a:effectLst>
            <a:outerShdw sx="100000" sy="100000" kx="0" ky="0" algn="bl" rotWithShape="0" blurRad="114300" dist="38100" dir="8100000">
              <a:srgbClr val="1e40af">
                <a:alpha val="20000"/>
              </a:srgbClr>
            </a:outerShdw>
          </a:effectLst>
        </p:spPr>
      </p:sp>
      <p:pic>
        <p:nvPicPr>
          <p:cNvPr id="19" name="Image 4" descr="preencoded.png">    </p:cNvPr>
          <p:cNvPicPr>
            <a:picLocks noChangeAspect="1"/>
          </p:cNvPicPr>
          <p:nvPr/>
        </p:nvPicPr>
        <p:blipFill>
          <a:blip r:embed="rId5"/>
          <a:stretch>
            <a:fillRect/>
          </a:stretch>
        </p:blipFill>
        <p:spPr>
          <a:xfrm>
            <a:off x="7291426" y="3057754"/>
            <a:ext cx="504749" cy="504749"/>
          </a:xfrm>
          <a:prstGeom prst="rect">
            <a:avLst/>
          </a:prstGeom>
        </p:spPr>
      </p:pic>
      <p:sp>
        <p:nvSpPr>
          <p:cNvPr id="20" name="Text 13"/>
          <p:cNvSpPr/>
          <p:nvPr/>
        </p:nvSpPr>
        <p:spPr>
          <a:xfrm>
            <a:off x="6720840" y="4023360"/>
            <a:ext cx="1645920" cy="731520"/>
          </a:xfrm>
          <a:prstGeom prst="rect">
            <a:avLst/>
          </a:prstGeom>
          <a:noFill/>
          <a:ln/>
        </p:spPr>
        <p:txBody>
          <a:bodyPr wrap="square" lIns="0" tIns="0" rIns="0" bIns="0" rtlCol="0" anchor="t"/>
          <a:lstStyle/>
          <a:p>
            <a:pPr algn="ctr" indent="0" marL="0">
              <a:buNone/>
            </a:pPr>
            <a:r>
              <a:rPr lang="en-US" sz="1900" b="1" dirty="0">
                <a:solidFill>
                  <a:srgbClr val="0F172A"/>
                </a:solidFill>
                <a:latin typeface="Segoe UI" pitchFamily="34" charset="0"/>
                <a:ea typeface="Segoe UI" pitchFamily="34" charset="-122"/>
                <a:cs typeface="Segoe UI" pitchFamily="34" charset="-120"/>
              </a:rPr>
              <a:t>Bám theo căn cứ</a:t>
            </a:r>
            <a:endParaRPr lang="en-US" sz="1900" dirty="0"/>
          </a:p>
        </p:txBody>
      </p:sp>
      <p:sp>
        <p:nvSpPr>
          <p:cNvPr id="21" name="Text 14"/>
          <p:cNvSpPr/>
          <p:nvPr/>
        </p:nvSpPr>
        <p:spPr>
          <a:xfrm>
            <a:off x="6766560" y="4791456"/>
            <a:ext cx="1554480" cy="1005840"/>
          </a:xfrm>
          <a:prstGeom prst="rect">
            <a:avLst/>
          </a:prstGeom>
          <a:noFill/>
          <a:ln/>
        </p:spPr>
        <p:txBody>
          <a:bodyPr wrap="square" lIns="0" tIns="0" rIns="0" bIns="0" rtlCol="0" anchor="t"/>
          <a:lstStyle/>
          <a:p>
            <a:pPr algn="ctr" indent="0" marL="0">
              <a:buNone/>
            </a:pPr>
            <a:r>
              <a:rPr lang="en-US" sz="1550" dirty="0">
                <a:solidFill>
                  <a:srgbClr val="334155"/>
                </a:solidFill>
                <a:latin typeface="Segoe UI" pitchFamily="34" charset="0"/>
                <a:ea typeface="Segoe UI" pitchFamily="34" charset="-122"/>
                <a:cs typeface="Segoe UI" pitchFamily="34" charset="-120"/>
              </a:rPr>
              <a:t>Bám tài liệu truy hồi được; thiếu căn cứ thì báo không đủ cơ sở.</a:t>
            </a:r>
            <a:endParaRPr lang="en-US" sz="1550" dirty="0"/>
          </a:p>
        </p:txBody>
      </p:sp>
      <p:pic>
        <p:nvPicPr>
          <p:cNvPr id="22" name="Image 5" descr="preencoded.png">    </p:cNvPr>
          <p:cNvPicPr>
            <a:picLocks noChangeAspect="1"/>
          </p:cNvPicPr>
          <p:nvPr/>
        </p:nvPicPr>
        <p:blipFill>
          <a:blip r:embed="rId6"/>
          <a:stretch>
            <a:fillRect/>
          </a:stretch>
        </p:blipFill>
        <p:spPr>
          <a:xfrm>
            <a:off x="8796528" y="3913632"/>
            <a:ext cx="420624" cy="420624"/>
          </a:xfrm>
          <a:prstGeom prst="rect">
            <a:avLst/>
          </a:prstGeom>
        </p:spPr>
      </p:pic>
      <p:sp>
        <p:nvSpPr>
          <p:cNvPr id="23" name="Shape 15"/>
          <p:cNvSpPr/>
          <p:nvPr/>
        </p:nvSpPr>
        <p:spPr>
          <a:xfrm>
            <a:off x="9418320" y="2468880"/>
            <a:ext cx="2103120" cy="3383280"/>
          </a:xfrm>
          <a:prstGeom prst="roundRect">
            <a:avLst>
              <a:gd name="adj" fmla="val 5217"/>
            </a:avLst>
          </a:prstGeom>
          <a:solidFill>
            <a:srgbClr val="1E3A8A"/>
          </a:solidFill>
          <a:ln w="12700">
            <a:solidFill>
              <a:srgbClr val="E2E8F0"/>
            </a:solidFill>
            <a:prstDash val="solid"/>
          </a:ln>
          <a:effectLst>
            <a:outerShdw sx="100000" sy="100000" kx="0" ky="0" algn="bl" rotWithShape="0" blurRad="88900" dist="25400" dir="8100000">
              <a:srgbClr val="94A3B8">
                <a:alpha val="28000"/>
              </a:srgbClr>
            </a:outerShdw>
          </a:effectLst>
        </p:spPr>
      </p:sp>
      <p:sp>
        <p:nvSpPr>
          <p:cNvPr id="24" name="Shape 16"/>
          <p:cNvSpPr/>
          <p:nvPr/>
        </p:nvSpPr>
        <p:spPr>
          <a:xfrm>
            <a:off x="9921240" y="2761488"/>
            <a:ext cx="1097280" cy="1097280"/>
          </a:xfrm>
          <a:prstGeom prst="ellipse">
            <a:avLst/>
          </a:prstGeom>
          <a:solidFill>
            <a:srgbClr val="0B7A75"/>
          </a:solidFill>
          <a:ln/>
          <a:effectLst>
            <a:outerShdw sx="100000" sy="100000" kx="0" ky="0" algn="bl" rotWithShape="0" blurRad="114300" dist="38100" dir="8100000">
              <a:srgbClr val="1e40af">
                <a:alpha val="20000"/>
              </a:srgbClr>
            </a:outerShdw>
          </a:effectLst>
        </p:spPr>
      </p:sp>
      <p:pic>
        <p:nvPicPr>
          <p:cNvPr id="25" name="Image 6" descr="preencoded.png">    </p:cNvPr>
          <p:cNvPicPr>
            <a:picLocks noChangeAspect="1"/>
          </p:cNvPicPr>
          <p:nvPr/>
        </p:nvPicPr>
        <p:blipFill>
          <a:blip r:embed="rId7"/>
          <a:stretch>
            <a:fillRect/>
          </a:stretch>
        </p:blipFill>
        <p:spPr>
          <a:xfrm>
            <a:off x="10217506" y="3057754"/>
            <a:ext cx="504749" cy="504749"/>
          </a:xfrm>
          <a:prstGeom prst="rect">
            <a:avLst/>
          </a:prstGeom>
        </p:spPr>
      </p:pic>
      <p:sp>
        <p:nvSpPr>
          <p:cNvPr id="26" name="Text 17"/>
          <p:cNvSpPr/>
          <p:nvPr/>
        </p:nvSpPr>
        <p:spPr>
          <a:xfrm>
            <a:off x="9646920" y="4023360"/>
            <a:ext cx="1645920" cy="731520"/>
          </a:xfrm>
          <a:prstGeom prst="rect">
            <a:avLst/>
          </a:prstGeom>
          <a:noFill/>
          <a:ln/>
        </p:spPr>
        <p:txBody>
          <a:bodyPr wrap="square" lIns="0" tIns="0" rIns="0" bIns="0" rtlCol="0" anchor="t"/>
          <a:lstStyle/>
          <a:p>
            <a:pPr algn="ctr" indent="0" marL="0">
              <a:buNone/>
            </a:pPr>
            <a:r>
              <a:rPr lang="en-US" sz="1900" b="1" dirty="0">
                <a:solidFill>
                  <a:srgbClr val="FFFFFF"/>
                </a:solidFill>
                <a:latin typeface="Segoe UI" pitchFamily="34" charset="0"/>
                <a:ea typeface="Segoe UI" pitchFamily="34" charset="-122"/>
                <a:cs typeface="Segoe UI" pitchFamily="34" charset="-120"/>
              </a:rPr>
              <a:t>Hậu kiểm</a:t>
            </a:r>
            <a:endParaRPr lang="en-US" sz="1900" dirty="0"/>
          </a:p>
        </p:txBody>
      </p:sp>
      <p:sp>
        <p:nvSpPr>
          <p:cNvPr id="27" name="Text 18"/>
          <p:cNvSpPr/>
          <p:nvPr/>
        </p:nvSpPr>
        <p:spPr>
          <a:xfrm>
            <a:off x="9692640" y="4791456"/>
            <a:ext cx="1554480" cy="1005840"/>
          </a:xfrm>
          <a:prstGeom prst="rect">
            <a:avLst/>
          </a:prstGeom>
          <a:noFill/>
          <a:ln/>
        </p:spPr>
        <p:txBody>
          <a:bodyPr wrap="square" lIns="0" tIns="0" rIns="0" bIns="0" rtlCol="0" anchor="t"/>
          <a:lstStyle/>
          <a:p>
            <a:pPr algn="ctr" indent="0" marL="0">
              <a:buNone/>
            </a:pPr>
            <a:r>
              <a:rPr lang="en-US" sz="1550" dirty="0">
                <a:solidFill>
                  <a:srgbClr val="EFF6FF"/>
                </a:solidFill>
                <a:latin typeface="Segoe UI" pitchFamily="34" charset="0"/>
                <a:ea typeface="Segoe UI" pitchFamily="34" charset="-122"/>
                <a:cs typeface="Segoe UI" pitchFamily="34" charset="-120"/>
              </a:rPr>
              <a:t>Đối chiếu số điện thoại, địa chỉ, căn cứ pháp lý với nguồn.</a:t>
            </a:r>
            <a:endParaRPr lang="en-US" sz="1550" dirty="0"/>
          </a:p>
        </p:txBody>
      </p:sp>
      <p:sp>
        <p:nvSpPr>
          <p:cNvPr id="28" name="Shape 19"/>
          <p:cNvSpPr/>
          <p:nvPr/>
        </p:nvSpPr>
        <p:spPr>
          <a:xfrm>
            <a:off x="640080" y="5989320"/>
            <a:ext cx="10881360" cy="548640"/>
          </a:xfrm>
          <a:prstGeom prst="roundRect">
            <a:avLst>
              <a:gd name="adj" fmla="val 13333"/>
            </a:avLst>
          </a:prstGeom>
          <a:solidFill>
            <a:srgbClr val="EAF6F5"/>
          </a:solidFill>
          <a:ln w="12700">
            <a:solidFill>
              <a:srgbClr val="0B7A75"/>
            </a:solidFill>
            <a:prstDash val="solid"/>
          </a:ln>
        </p:spPr>
      </p:sp>
      <p:sp>
        <p:nvSpPr>
          <p:cNvPr id="29" name="Text 20"/>
          <p:cNvSpPr/>
          <p:nvPr/>
        </p:nvSpPr>
        <p:spPr>
          <a:xfrm>
            <a:off x="868680" y="5989320"/>
            <a:ext cx="10424160" cy="548640"/>
          </a:xfrm>
          <a:prstGeom prst="rect">
            <a:avLst/>
          </a:prstGeom>
          <a:noFill/>
          <a:ln/>
        </p:spPr>
        <p:txBody>
          <a:bodyPr wrap="square" lIns="0" tIns="0" rIns="0" bIns="0" rtlCol="0" anchor="ctr"/>
          <a:lstStyle/>
          <a:p>
            <a:pPr indent="0" marL="0">
              <a:buNone/>
            </a:pPr>
            <a:r>
              <a:rPr lang="en-US" sz="1400" dirty="0">
                <a:solidFill>
                  <a:srgbClr val="0F172A"/>
                </a:solidFill>
                <a:latin typeface="Segoe UI" pitchFamily="34" charset="0"/>
                <a:ea typeface="Segoe UI" pitchFamily="34" charset="-122"/>
                <a:cs typeface="Segoe UI" pitchFamily="34" charset="-120"/>
              </a:rPr>
              <a:t>Hiện trạng: lớp 2, 4 đang hoạt động; lớp 1, 3 đã kiểm thử đạt trên bản thử nghiệm, sẵn sàng áp dụng, đang chờ phê duyệt.</a:t>
            </a:r>
            <a:endParaRPr lang="en-US" sz="1400" dirty="0"/>
          </a:p>
        </p:txBody>
      </p:sp>
    </p:spTree>
  </p:cSld>
  <p:clrMapOvr>
    <a:masterClrMapping/>
  </p:clrMapOvr>
  <p:transition xmlns:p14="http://schemas.microsoft.com/office/powerpoint/2010/main" spd="med" p14:dur="450">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881360" cy="320040"/>
          </a:xfrm>
          <a:prstGeom prst="rect">
            <a:avLst/>
          </a:prstGeom>
          <a:noFill/>
          <a:ln/>
        </p:spPr>
        <p:txBody>
          <a:bodyPr wrap="square" lIns="0" tIns="0" rIns="0" bIns="0" rtlCol="0" anchor="ctr"/>
          <a:lstStyle/>
          <a:p>
            <a:pPr indent="0" marL="0">
              <a:buNone/>
            </a:pPr>
            <a:r>
              <a:rPr lang="en-US" sz="1300" b="1" spc="200" kern="0" dirty="0">
                <a:solidFill>
                  <a:srgbClr val="1D4ED8"/>
                </a:solidFill>
                <a:latin typeface="Segoe UI" pitchFamily="34" charset="0"/>
                <a:ea typeface="Segoe UI" pitchFamily="34" charset="-122"/>
                <a:cs typeface="Segoe UI" pitchFamily="34" charset="-120"/>
              </a:rPr>
              <a:t>MINH HOẠ</a:t>
            </a:r>
            <a:endParaRPr lang="en-US" sz="1300" dirty="0"/>
          </a:p>
        </p:txBody>
      </p:sp>
      <p:sp>
        <p:nvSpPr>
          <p:cNvPr id="3" name="Text 1"/>
          <p:cNvSpPr/>
          <p:nvPr/>
        </p:nvSpPr>
        <p:spPr>
          <a:xfrm>
            <a:off x="640080" y="768096"/>
            <a:ext cx="10881360" cy="777240"/>
          </a:xfrm>
          <a:prstGeom prst="rect">
            <a:avLst/>
          </a:prstGeom>
          <a:noFill/>
          <a:ln/>
        </p:spPr>
        <p:txBody>
          <a:bodyPr wrap="square" lIns="0" tIns="0" rIns="0" bIns="0" rtlCol="0" anchor="t"/>
          <a:lstStyle/>
          <a:p>
            <a:pPr indent="0" marL="0">
              <a:buNone/>
            </a:pPr>
            <a:r>
              <a:rPr lang="en-US" sz="2900" b="1" spc="-50" kern="0" dirty="0">
                <a:solidFill>
                  <a:srgbClr val="0F172A"/>
                </a:solidFill>
                <a:latin typeface="Segoe UI" pitchFamily="34" charset="0"/>
                <a:ea typeface="Segoe UI" pitchFamily="34" charset="-122"/>
                <a:cs typeface="Segoe UI" pitchFamily="34" charset="-120"/>
              </a:rPr>
              <a:t>Quy trình xử lý một câu hỏi</a:t>
            </a:r>
            <a:endParaRPr lang="en-US" sz="2900" dirty="0"/>
          </a:p>
        </p:txBody>
      </p:sp>
      <p:sp>
        <p:nvSpPr>
          <p:cNvPr id="4" name="Shape 2"/>
          <p:cNvSpPr/>
          <p:nvPr/>
        </p:nvSpPr>
        <p:spPr>
          <a:xfrm>
            <a:off x="2025396" y="1609344"/>
            <a:ext cx="8110728" cy="4610291"/>
          </a:xfrm>
          <a:prstGeom prst="roundRect">
            <a:avLst>
              <a:gd name="adj" fmla="val 1983"/>
            </a:avLst>
          </a:prstGeom>
          <a:solidFill>
            <a:srgbClr val="F8FAFC"/>
          </a:solidFill>
          <a:ln w="12700">
            <a:solidFill>
              <a:srgbClr val="E2E8F0"/>
            </a:solidFill>
            <a:prstDash val="solid"/>
          </a:ln>
          <a:effectLst>
            <a:outerShdw sx="100000" sy="100000" kx="0" ky="0" algn="bl" rotWithShape="0" blurRad="88900" dist="25400" dir="8100000">
              <a:srgbClr val="94A3B8">
                <a:alpha val="28000"/>
              </a:srgbClr>
            </a:outerShdw>
          </a:effectLst>
        </p:spPr>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2080260" y="1664208"/>
            <a:ext cx="8001000" cy="4500563"/>
          </a:xfrm>
          <a:prstGeom prst="rect">
            <a:avLst/>
          </a:prstGeom>
        </p:spPr>
      </p:pic>
      <p:sp>
        <p:nvSpPr>
          <p:cNvPr id="6" name="Shape 3"/>
          <p:cNvSpPr/>
          <p:nvPr/>
        </p:nvSpPr>
        <p:spPr>
          <a:xfrm>
            <a:off x="2080260" y="6365939"/>
            <a:ext cx="8001000" cy="475488"/>
          </a:xfrm>
          <a:prstGeom prst="roundRect">
            <a:avLst>
              <a:gd name="adj" fmla="val 15385"/>
            </a:avLst>
          </a:prstGeom>
          <a:solidFill>
            <a:srgbClr val="EAF6F5"/>
          </a:solidFill>
          <a:ln w="12700">
            <a:solidFill>
              <a:srgbClr val="0B7A75"/>
            </a:solidFill>
            <a:prstDash val="solid"/>
          </a:ln>
        </p:spPr>
      </p:sp>
      <p:sp>
        <p:nvSpPr>
          <p:cNvPr id="7" name="Text 4"/>
          <p:cNvSpPr/>
          <p:nvPr/>
        </p:nvSpPr>
        <p:spPr>
          <a:xfrm>
            <a:off x="2263140" y="6365939"/>
            <a:ext cx="7635240" cy="475488"/>
          </a:xfrm>
          <a:prstGeom prst="rect">
            <a:avLst/>
          </a:prstGeom>
          <a:noFill/>
          <a:ln/>
        </p:spPr>
        <p:txBody>
          <a:bodyPr wrap="square" lIns="0" tIns="0" rIns="0" bIns="0" rtlCol="0" anchor="ctr"/>
          <a:lstStyle/>
          <a:p>
            <a:pPr algn="ctr" indent="0" marL="0">
              <a:buNone/>
            </a:pPr>
            <a:r>
              <a:rPr lang="en-US" sz="1400" dirty="0">
                <a:solidFill>
                  <a:srgbClr val="0F172A"/>
                </a:solidFill>
                <a:latin typeface="Segoe UI" pitchFamily="34" charset="0"/>
                <a:ea typeface="Segoe UI" pitchFamily="34" charset="-122"/>
                <a:cs typeface="Segoe UI" pitchFamily="34" charset="-120"/>
              </a:rPr>
              <a:t>Video minh hoạ — nội dung câu hỏi và câu trả lời là ví dụ, không phải tư vấn chính thức.</a:t>
            </a:r>
            <a:endParaRPr lang="en-US" sz="1400" dirty="0"/>
          </a:p>
        </p:txBody>
      </p:sp>
    </p:spTree>
  </p:cSld>
  <p:clrMapOvr>
    <a:masterClrMapping/>
  </p:clrMapOvr>
  <p:transition xmlns:p14="http://schemas.microsoft.com/office/powerpoint/2010/main" spd="med" p14:dur="450">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881360" cy="320040"/>
          </a:xfrm>
          <a:prstGeom prst="rect">
            <a:avLst/>
          </a:prstGeom>
          <a:noFill/>
          <a:ln/>
        </p:spPr>
        <p:txBody>
          <a:bodyPr wrap="square" lIns="0" tIns="0" rIns="0" bIns="0" rtlCol="0" anchor="ctr"/>
          <a:lstStyle/>
          <a:p>
            <a:pPr indent="0" marL="0">
              <a:buNone/>
            </a:pPr>
            <a:r>
              <a:rPr lang="en-US" sz="1300" b="1" spc="200" kern="0" dirty="0">
                <a:solidFill>
                  <a:srgbClr val="1D4ED8"/>
                </a:solidFill>
                <a:latin typeface="Segoe UI" pitchFamily="34" charset="0"/>
                <a:ea typeface="Segoe UI" pitchFamily="34" charset="-122"/>
                <a:cs typeface="Segoe UI" pitchFamily="34" charset="-120"/>
              </a:rPr>
              <a:t>TÍNH NĂNG VƯỢT TRỘI</a:t>
            </a:r>
            <a:endParaRPr lang="en-US" sz="1300" dirty="0"/>
          </a:p>
        </p:txBody>
      </p:sp>
      <p:sp>
        <p:nvSpPr>
          <p:cNvPr id="3" name="Text 1"/>
          <p:cNvSpPr/>
          <p:nvPr/>
        </p:nvSpPr>
        <p:spPr>
          <a:xfrm>
            <a:off x="640080" y="768096"/>
            <a:ext cx="10881360" cy="777240"/>
          </a:xfrm>
          <a:prstGeom prst="rect">
            <a:avLst/>
          </a:prstGeom>
          <a:noFill/>
          <a:ln/>
        </p:spPr>
        <p:txBody>
          <a:bodyPr wrap="square" lIns="0" tIns="0" rIns="0" bIns="0" rtlCol="0" anchor="t"/>
          <a:lstStyle/>
          <a:p>
            <a:pPr indent="0" marL="0">
              <a:buNone/>
            </a:pPr>
            <a:r>
              <a:rPr lang="en-US" sz="2900" b="1" spc="-50" kern="0" dirty="0">
                <a:solidFill>
                  <a:srgbClr val="0F172A"/>
                </a:solidFill>
                <a:latin typeface="Segoe UI" pitchFamily="34" charset="0"/>
                <a:ea typeface="Segoe UI" pitchFamily="34" charset="-122"/>
                <a:cs typeface="Segoe UI" pitchFamily="34" charset="-120"/>
              </a:rPr>
              <a:t>Phục vụ nhân dân địa phương</a:t>
            </a:r>
            <a:endParaRPr lang="en-US" sz="2900" dirty="0"/>
          </a:p>
        </p:txBody>
      </p:sp>
      <p:sp>
        <p:nvSpPr>
          <p:cNvPr id="4" name="Shape 2"/>
          <p:cNvSpPr/>
          <p:nvPr/>
        </p:nvSpPr>
        <p:spPr>
          <a:xfrm>
            <a:off x="813816" y="1819656"/>
            <a:ext cx="2103120" cy="3062901"/>
          </a:xfrm>
          <a:prstGeom prst="roundRect">
            <a:avLst>
              <a:gd name="adj" fmla="val 5217"/>
            </a:avLst>
          </a:prstGeom>
          <a:solidFill>
            <a:srgbClr val="F8FAFC"/>
          </a:solidFill>
          <a:ln w="12700">
            <a:solidFill>
              <a:srgbClr val="E2E8F0"/>
            </a:solidFill>
            <a:prstDash val="solid"/>
          </a:ln>
          <a:effectLst>
            <a:outerShdw sx="100000" sy="100000" kx="0" ky="0" algn="bl" rotWithShape="0" blurRad="88900" dist="25400" dir="8100000">
              <a:srgbClr val="94A3B8">
                <a:alpha val="28000"/>
              </a:srgbClr>
            </a:outerShdw>
          </a:effectLst>
        </p:spPr>
      </p:sp>
      <p:pic>
        <p:nvPicPr>
          <p:cNvPr id="5" name="Image 0" descr="D:\04. Github\bandocapt\presentation\asset\chat bot tra loi.png">    </p:cNvPr>
          <p:cNvPicPr>
            <a:picLocks noChangeAspect="1"/>
          </p:cNvPicPr>
          <p:nvPr/>
        </p:nvPicPr>
        <p:blipFill>
          <a:blip r:embed="rId1"/>
          <a:srcRect l="0" r="0" t="0" b="0"/>
          <a:stretch/>
        </p:blipFill>
        <p:spPr>
          <a:xfrm>
            <a:off x="868680" y="1874520"/>
            <a:ext cx="1993392" cy="2953173"/>
          </a:xfrm>
          <a:prstGeom prst="rect">
            <a:avLst/>
          </a:prstGeom>
        </p:spPr>
      </p:pic>
      <p:sp>
        <p:nvSpPr>
          <p:cNvPr id="6" name="Shape 3"/>
          <p:cNvSpPr/>
          <p:nvPr/>
        </p:nvSpPr>
        <p:spPr>
          <a:xfrm>
            <a:off x="2980944" y="2093976"/>
            <a:ext cx="2103120" cy="3062901"/>
          </a:xfrm>
          <a:prstGeom prst="roundRect">
            <a:avLst>
              <a:gd name="adj" fmla="val 5217"/>
            </a:avLst>
          </a:prstGeom>
          <a:solidFill>
            <a:srgbClr val="F8FAFC"/>
          </a:solidFill>
          <a:ln w="12700">
            <a:solidFill>
              <a:srgbClr val="E2E8F0"/>
            </a:solidFill>
            <a:prstDash val="solid"/>
          </a:ln>
          <a:effectLst>
            <a:outerShdw sx="100000" sy="100000" kx="0" ky="0" algn="bl" rotWithShape="0" blurRad="88900" dist="25400" dir="8100000">
              <a:srgbClr val="94A3B8">
                <a:alpha val="28000"/>
              </a:srgbClr>
            </a:outerShdw>
          </a:effectLst>
        </p:spPr>
      </p:sp>
      <p:pic>
        <p:nvPicPr>
          <p:cNvPr id="7" name="Image 1" descr="D:\04. Github\bandocapt\presentation\asset\tra cuu thu tục tren dien thoai.png">    </p:cNvPr>
          <p:cNvPicPr>
            <a:picLocks noChangeAspect="1"/>
          </p:cNvPicPr>
          <p:nvPr/>
        </p:nvPicPr>
        <p:blipFill>
          <a:blip r:embed="rId2"/>
          <a:srcRect l="0" r="0" t="0" b="0"/>
          <a:stretch/>
        </p:blipFill>
        <p:spPr>
          <a:xfrm>
            <a:off x="3035808" y="2148840"/>
            <a:ext cx="1993392" cy="2953173"/>
          </a:xfrm>
          <a:prstGeom prst="rect">
            <a:avLst/>
          </a:prstGeom>
        </p:spPr>
      </p:pic>
      <p:sp>
        <p:nvSpPr>
          <p:cNvPr id="8" name="Text 4"/>
          <p:cNvSpPr/>
          <p:nvPr/>
        </p:nvSpPr>
        <p:spPr>
          <a:xfrm>
            <a:off x="5212080" y="1810512"/>
            <a:ext cx="5212080" cy="822960"/>
          </a:xfrm>
          <a:prstGeom prst="rect">
            <a:avLst/>
          </a:prstGeom>
          <a:noFill/>
          <a:ln/>
        </p:spPr>
        <p:txBody>
          <a:bodyPr wrap="square" lIns="0" tIns="0" rIns="0" bIns="0" rtlCol="0" anchor="ctr"/>
          <a:lstStyle/>
          <a:p>
            <a:pPr indent="0" marL="0">
              <a:buNone/>
            </a:pPr>
            <a:r>
              <a:rPr lang="en-US" sz="2600" b="1" dirty="0">
                <a:solidFill>
                  <a:srgbClr val="0F172A"/>
                </a:solidFill>
                <a:latin typeface="Segoe UI" pitchFamily="34" charset="0"/>
                <a:ea typeface="Segoe UI" pitchFamily="34" charset="-122"/>
                <a:cs typeface="Segoe UI" pitchFamily="34" charset="-120"/>
              </a:rPr>
              <a:t>Thiết kế để dễ dùng</a:t>
            </a:r>
            <a:endParaRPr lang="en-US" sz="2600" dirty="0"/>
          </a:p>
          <a:p>
            <a:pPr indent="0" marL="0">
              <a:buNone/>
            </a:pPr>
            <a:r>
              <a:rPr lang="en-US" sz="2600" b="1" dirty="0">
                <a:solidFill>
                  <a:srgbClr val="0F172A"/>
                </a:solidFill>
                <a:latin typeface="Segoe UI" pitchFamily="34" charset="0"/>
                <a:ea typeface="Segoe UI" pitchFamily="34" charset="-122"/>
                <a:cs typeface="Segoe UI" pitchFamily="34" charset="-120"/>
              </a:rPr>
              <a:t>trên điện thoại</a:t>
            </a:r>
            <a:endParaRPr lang="en-US" sz="2600" dirty="0"/>
          </a:p>
        </p:txBody>
      </p:sp>
      <p:sp>
        <p:nvSpPr>
          <p:cNvPr id="9" name="Shape 5"/>
          <p:cNvSpPr/>
          <p:nvPr/>
        </p:nvSpPr>
        <p:spPr>
          <a:xfrm>
            <a:off x="5230368" y="2743200"/>
            <a:ext cx="493776" cy="493776"/>
          </a:xfrm>
          <a:prstGeom prst="ellipse">
            <a:avLst/>
          </a:prstGeom>
          <a:solidFill>
            <a:srgbClr val="1D4ED8"/>
          </a:solidFill>
          <a:ln/>
          <a:effectLst>
            <a:outerShdw sx="100000" sy="100000" kx="0" ky="0" algn="bl" rotWithShape="0" blurRad="114300" dist="38100" dir="8100000">
              <a:srgbClr val="1e40af">
                <a:alpha val="20000"/>
              </a:srgbClr>
            </a:outerShdw>
          </a:effectLst>
        </p:spPr>
      </p:sp>
      <p:pic>
        <p:nvPicPr>
          <p:cNvPr id="10" name="Image 2" descr="preencoded.png">    </p:cNvPr>
          <p:cNvPicPr>
            <a:picLocks noChangeAspect="1"/>
          </p:cNvPicPr>
          <p:nvPr/>
        </p:nvPicPr>
        <p:blipFill>
          <a:blip r:embed="rId3"/>
          <a:stretch>
            <a:fillRect/>
          </a:stretch>
        </p:blipFill>
        <p:spPr>
          <a:xfrm>
            <a:off x="5363688" y="2876520"/>
            <a:ext cx="227137" cy="227137"/>
          </a:xfrm>
          <a:prstGeom prst="rect">
            <a:avLst/>
          </a:prstGeom>
        </p:spPr>
      </p:pic>
      <p:sp>
        <p:nvSpPr>
          <p:cNvPr id="11" name="Text 6"/>
          <p:cNvSpPr/>
          <p:nvPr/>
        </p:nvSpPr>
        <p:spPr>
          <a:xfrm>
            <a:off x="5897880" y="2734056"/>
            <a:ext cx="3566160" cy="228600"/>
          </a:xfrm>
          <a:prstGeom prst="rect">
            <a:avLst/>
          </a:prstGeom>
          <a:noFill/>
          <a:ln/>
        </p:spPr>
        <p:txBody>
          <a:bodyPr wrap="square" lIns="0" tIns="0" rIns="0" bIns="0" rtlCol="0" anchor="ctr"/>
          <a:lstStyle/>
          <a:p>
            <a:pPr indent="0" marL="0">
              <a:buNone/>
            </a:pPr>
            <a:r>
              <a:rPr lang="en-US" sz="1700" b="1" dirty="0">
                <a:solidFill>
                  <a:srgbClr val="0F172A"/>
                </a:solidFill>
                <a:latin typeface="Segoe UI" pitchFamily="34" charset="0"/>
                <a:ea typeface="Segoe UI" pitchFamily="34" charset="-122"/>
                <a:cs typeface="Segoe UI" pitchFamily="34" charset="-120"/>
              </a:rPr>
              <a:t>Thân thiện dễ dùng</a:t>
            </a:r>
            <a:endParaRPr lang="en-US" sz="1700" dirty="0"/>
          </a:p>
        </p:txBody>
      </p:sp>
      <p:sp>
        <p:nvSpPr>
          <p:cNvPr id="12" name="Text 7"/>
          <p:cNvSpPr/>
          <p:nvPr/>
        </p:nvSpPr>
        <p:spPr>
          <a:xfrm>
            <a:off x="5897880" y="3035808"/>
            <a:ext cx="4846320" cy="384048"/>
          </a:xfrm>
          <a:prstGeom prst="rect">
            <a:avLst/>
          </a:prstGeom>
          <a:noFill/>
          <a:ln/>
        </p:spPr>
        <p:txBody>
          <a:bodyPr wrap="square" lIns="0" tIns="0" rIns="0" bIns="0" rtlCol="0" anchor="ctr"/>
          <a:lstStyle/>
          <a:p>
            <a:pPr indent="0" marL="0">
              <a:buNone/>
            </a:pPr>
            <a:r>
              <a:rPr lang="en-US" sz="1450" dirty="0">
                <a:solidFill>
                  <a:srgbClr val="334155"/>
                </a:solidFill>
                <a:latin typeface="Segoe UI" pitchFamily="34" charset="0"/>
                <a:ea typeface="Segoe UI" pitchFamily="34" charset="-122"/>
                <a:cs typeface="Segoe UI" pitchFamily="34" charset="-120"/>
              </a:rPr>
              <a:t>Giao diện tối giản, tối ưu cho điện thoại di động.</a:t>
            </a:r>
            <a:endParaRPr lang="en-US" sz="1450" dirty="0"/>
          </a:p>
        </p:txBody>
      </p:sp>
      <p:sp>
        <p:nvSpPr>
          <p:cNvPr id="13" name="Shape 8"/>
          <p:cNvSpPr/>
          <p:nvPr/>
        </p:nvSpPr>
        <p:spPr>
          <a:xfrm>
            <a:off x="5230368" y="3584448"/>
            <a:ext cx="493776" cy="493776"/>
          </a:xfrm>
          <a:prstGeom prst="ellipse">
            <a:avLst/>
          </a:prstGeom>
          <a:solidFill>
            <a:srgbClr val="1D4ED8"/>
          </a:solidFill>
          <a:ln/>
          <a:effectLst>
            <a:outerShdw sx="100000" sy="100000" kx="0" ky="0" algn="bl" rotWithShape="0" blurRad="114300" dist="38100" dir="8100000">
              <a:srgbClr val="1e40af">
                <a:alpha val="20000"/>
              </a:srgbClr>
            </a:outerShdw>
          </a:effectLst>
        </p:spPr>
      </p:sp>
      <p:pic>
        <p:nvPicPr>
          <p:cNvPr id="14" name="Image 3" descr="preencoded.png">    </p:cNvPr>
          <p:cNvPicPr>
            <a:picLocks noChangeAspect="1"/>
          </p:cNvPicPr>
          <p:nvPr/>
        </p:nvPicPr>
        <p:blipFill>
          <a:blip r:embed="rId4"/>
          <a:stretch>
            <a:fillRect/>
          </a:stretch>
        </p:blipFill>
        <p:spPr>
          <a:xfrm>
            <a:off x="5363688" y="3717768"/>
            <a:ext cx="227137" cy="227137"/>
          </a:xfrm>
          <a:prstGeom prst="rect">
            <a:avLst/>
          </a:prstGeom>
        </p:spPr>
      </p:pic>
      <p:sp>
        <p:nvSpPr>
          <p:cNvPr id="15" name="Text 9"/>
          <p:cNvSpPr/>
          <p:nvPr/>
        </p:nvSpPr>
        <p:spPr>
          <a:xfrm>
            <a:off x="5897880" y="3575304"/>
            <a:ext cx="3566160" cy="228600"/>
          </a:xfrm>
          <a:prstGeom prst="rect">
            <a:avLst/>
          </a:prstGeom>
          <a:noFill/>
          <a:ln/>
        </p:spPr>
        <p:txBody>
          <a:bodyPr wrap="square" lIns="0" tIns="0" rIns="0" bIns="0" rtlCol="0" anchor="ctr"/>
          <a:lstStyle/>
          <a:p>
            <a:pPr indent="0" marL="0">
              <a:buNone/>
            </a:pPr>
            <a:r>
              <a:rPr lang="en-US" sz="1700" b="1" dirty="0">
                <a:solidFill>
                  <a:srgbClr val="0F172A"/>
                </a:solidFill>
                <a:latin typeface="Segoe UI" pitchFamily="34" charset="0"/>
                <a:ea typeface="Segoe UI" pitchFamily="34" charset="-122"/>
                <a:cs typeface="Segoe UI" pitchFamily="34" charset="-120"/>
              </a:rPr>
              <a:t>Hỗ trợ Ngoại ngữ</a:t>
            </a:r>
            <a:endParaRPr lang="en-US" sz="1700" dirty="0"/>
          </a:p>
        </p:txBody>
      </p:sp>
      <p:sp>
        <p:nvSpPr>
          <p:cNvPr id="16" name="Text 10"/>
          <p:cNvSpPr/>
          <p:nvPr/>
        </p:nvSpPr>
        <p:spPr>
          <a:xfrm>
            <a:off x="5897880" y="3877056"/>
            <a:ext cx="4846320" cy="384048"/>
          </a:xfrm>
          <a:prstGeom prst="rect">
            <a:avLst/>
          </a:prstGeom>
          <a:noFill/>
          <a:ln/>
        </p:spPr>
        <p:txBody>
          <a:bodyPr wrap="square" lIns="0" tIns="0" rIns="0" bIns="0" rtlCol="0" anchor="ctr"/>
          <a:lstStyle/>
          <a:p>
            <a:pPr indent="0" marL="0">
              <a:buNone/>
            </a:pPr>
            <a:r>
              <a:rPr lang="en-US" sz="1450" dirty="0">
                <a:solidFill>
                  <a:srgbClr val="334155"/>
                </a:solidFill>
                <a:latin typeface="Segoe UI" pitchFamily="34" charset="0"/>
                <a:ea typeface="Segoe UI" pitchFamily="34" charset="-122"/>
                <a:cs typeface="Segoe UI" pitchFamily="34" charset="-120"/>
              </a:rPr>
              <a:t>Dịch Tiếng Anh/Trung/Hàn cho người nước ngoài.</a:t>
            </a:r>
            <a:endParaRPr lang="en-US" sz="1450" dirty="0"/>
          </a:p>
        </p:txBody>
      </p:sp>
      <p:sp>
        <p:nvSpPr>
          <p:cNvPr id="17" name="Shape 11"/>
          <p:cNvSpPr/>
          <p:nvPr/>
        </p:nvSpPr>
        <p:spPr>
          <a:xfrm>
            <a:off x="5230368" y="4425696"/>
            <a:ext cx="493776" cy="493776"/>
          </a:xfrm>
          <a:prstGeom prst="ellipse">
            <a:avLst/>
          </a:prstGeom>
          <a:solidFill>
            <a:srgbClr val="1D4ED8"/>
          </a:solidFill>
          <a:ln/>
          <a:effectLst>
            <a:outerShdw sx="100000" sy="100000" kx="0" ky="0" algn="bl" rotWithShape="0" blurRad="114300" dist="38100" dir="8100000">
              <a:srgbClr val="1e40af">
                <a:alpha val="20000"/>
              </a:srgbClr>
            </a:outerShdw>
          </a:effectLst>
        </p:spPr>
      </p:sp>
      <p:pic>
        <p:nvPicPr>
          <p:cNvPr id="18" name="Image 4" descr="preencoded.png">    </p:cNvPr>
          <p:cNvPicPr>
            <a:picLocks noChangeAspect="1"/>
          </p:cNvPicPr>
          <p:nvPr/>
        </p:nvPicPr>
        <p:blipFill>
          <a:blip r:embed="rId5"/>
          <a:stretch>
            <a:fillRect/>
          </a:stretch>
        </p:blipFill>
        <p:spPr>
          <a:xfrm>
            <a:off x="5363688" y="4559016"/>
            <a:ext cx="227137" cy="227137"/>
          </a:xfrm>
          <a:prstGeom prst="rect">
            <a:avLst/>
          </a:prstGeom>
        </p:spPr>
      </p:pic>
      <p:sp>
        <p:nvSpPr>
          <p:cNvPr id="19" name="Text 12"/>
          <p:cNvSpPr/>
          <p:nvPr/>
        </p:nvSpPr>
        <p:spPr>
          <a:xfrm>
            <a:off x="5897880" y="4416552"/>
            <a:ext cx="3566160" cy="228600"/>
          </a:xfrm>
          <a:prstGeom prst="rect">
            <a:avLst/>
          </a:prstGeom>
          <a:noFill/>
          <a:ln/>
        </p:spPr>
        <p:txBody>
          <a:bodyPr wrap="square" lIns="0" tIns="0" rIns="0" bIns="0" rtlCol="0" anchor="ctr"/>
          <a:lstStyle/>
          <a:p>
            <a:pPr indent="0" marL="0">
              <a:buNone/>
            </a:pPr>
            <a:r>
              <a:rPr lang="en-US" sz="1700" b="1" dirty="0">
                <a:solidFill>
                  <a:srgbClr val="0F172A"/>
                </a:solidFill>
                <a:latin typeface="Segoe UI" pitchFamily="34" charset="0"/>
                <a:ea typeface="Segoe UI" pitchFamily="34" charset="-122"/>
                <a:cs typeface="Segoe UI" pitchFamily="34" charset="-120"/>
              </a:rPr>
              <a:t>Quản trị linh hoạt</a:t>
            </a:r>
            <a:endParaRPr lang="en-US" sz="1700" dirty="0"/>
          </a:p>
        </p:txBody>
      </p:sp>
      <p:sp>
        <p:nvSpPr>
          <p:cNvPr id="20" name="Text 13"/>
          <p:cNvSpPr/>
          <p:nvPr/>
        </p:nvSpPr>
        <p:spPr>
          <a:xfrm>
            <a:off x="5897880" y="4718304"/>
            <a:ext cx="4846320" cy="384048"/>
          </a:xfrm>
          <a:prstGeom prst="rect">
            <a:avLst/>
          </a:prstGeom>
          <a:noFill/>
          <a:ln/>
        </p:spPr>
        <p:txBody>
          <a:bodyPr wrap="square" lIns="0" tIns="0" rIns="0" bIns="0" rtlCol="0" anchor="ctr"/>
          <a:lstStyle/>
          <a:p>
            <a:pPr indent="0" marL="0">
              <a:buNone/>
            </a:pPr>
            <a:r>
              <a:rPr lang="en-US" sz="1450" dirty="0">
                <a:solidFill>
                  <a:srgbClr val="334155"/>
                </a:solidFill>
                <a:latin typeface="Segoe UI" pitchFamily="34" charset="0"/>
                <a:ea typeface="Segoe UI" pitchFamily="34" charset="-122"/>
                <a:cs typeface="Segoe UI" pitchFamily="34" charset="-120"/>
              </a:rPr>
              <a:t>Cán bộ cập nhật dữ liệu tự động qua Google Sheets.</a:t>
            </a:r>
            <a:endParaRPr lang="en-US" sz="1450" dirty="0"/>
          </a:p>
        </p:txBody>
      </p:sp>
      <p:sp>
        <p:nvSpPr>
          <p:cNvPr id="21" name="Shape 14"/>
          <p:cNvSpPr/>
          <p:nvPr/>
        </p:nvSpPr>
        <p:spPr>
          <a:xfrm>
            <a:off x="5230368" y="5266944"/>
            <a:ext cx="493776" cy="493776"/>
          </a:xfrm>
          <a:prstGeom prst="ellipse">
            <a:avLst/>
          </a:prstGeom>
          <a:solidFill>
            <a:srgbClr val="0B7A75"/>
          </a:solidFill>
          <a:ln/>
          <a:effectLst>
            <a:outerShdw sx="100000" sy="100000" kx="0" ky="0" algn="bl" rotWithShape="0" blurRad="114300" dist="38100" dir="8100000">
              <a:srgbClr val="1e40af">
                <a:alpha val="20000"/>
              </a:srgbClr>
            </a:outerShdw>
          </a:effectLst>
        </p:spPr>
      </p:sp>
      <p:pic>
        <p:nvPicPr>
          <p:cNvPr id="22" name="Image 5" descr="preencoded.png">    </p:cNvPr>
          <p:cNvPicPr>
            <a:picLocks noChangeAspect="1"/>
          </p:cNvPicPr>
          <p:nvPr/>
        </p:nvPicPr>
        <p:blipFill>
          <a:blip r:embed="rId6"/>
          <a:stretch>
            <a:fillRect/>
          </a:stretch>
        </p:blipFill>
        <p:spPr>
          <a:xfrm>
            <a:off x="5363688" y="5400264"/>
            <a:ext cx="227137" cy="227137"/>
          </a:xfrm>
          <a:prstGeom prst="rect">
            <a:avLst/>
          </a:prstGeom>
        </p:spPr>
      </p:pic>
      <p:sp>
        <p:nvSpPr>
          <p:cNvPr id="23" name="Text 15"/>
          <p:cNvSpPr/>
          <p:nvPr/>
        </p:nvSpPr>
        <p:spPr>
          <a:xfrm>
            <a:off x="5897880" y="5257800"/>
            <a:ext cx="3566160" cy="228600"/>
          </a:xfrm>
          <a:prstGeom prst="rect">
            <a:avLst/>
          </a:prstGeom>
          <a:noFill/>
          <a:ln/>
        </p:spPr>
        <p:txBody>
          <a:bodyPr wrap="square" lIns="0" tIns="0" rIns="0" bIns="0" rtlCol="0" anchor="ctr"/>
          <a:lstStyle/>
          <a:p>
            <a:pPr indent="0" marL="0">
              <a:buNone/>
            </a:pPr>
            <a:r>
              <a:rPr lang="en-US" sz="1700" b="1" dirty="0">
                <a:solidFill>
                  <a:srgbClr val="0F172A"/>
                </a:solidFill>
                <a:latin typeface="Segoe UI" pitchFamily="34" charset="0"/>
                <a:ea typeface="Segoe UI" pitchFamily="34" charset="-122"/>
                <a:cs typeface="Segoe UI" pitchFamily="34" charset="-120"/>
              </a:rPr>
              <a:t>Bảo mật</a:t>
            </a:r>
            <a:endParaRPr lang="en-US" sz="1700" dirty="0"/>
          </a:p>
        </p:txBody>
      </p:sp>
      <p:sp>
        <p:nvSpPr>
          <p:cNvPr id="24" name="Text 16"/>
          <p:cNvSpPr/>
          <p:nvPr/>
        </p:nvSpPr>
        <p:spPr>
          <a:xfrm>
            <a:off x="5897880" y="5559552"/>
            <a:ext cx="4846320" cy="384048"/>
          </a:xfrm>
          <a:prstGeom prst="rect">
            <a:avLst/>
          </a:prstGeom>
          <a:noFill/>
          <a:ln/>
        </p:spPr>
        <p:txBody>
          <a:bodyPr wrap="square" lIns="0" tIns="0" rIns="0" bIns="0" rtlCol="0" anchor="ctr"/>
          <a:lstStyle/>
          <a:p>
            <a:pPr indent="0" marL="0">
              <a:buNone/>
            </a:pPr>
            <a:r>
              <a:rPr lang="en-US" sz="1450" dirty="0">
                <a:solidFill>
                  <a:srgbClr val="334155"/>
                </a:solidFill>
                <a:latin typeface="Segoe UI" pitchFamily="34" charset="0"/>
                <a:ea typeface="Segoe UI" pitchFamily="34" charset="-122"/>
                <a:cs typeface="Segoe UI" pitchFamily="34" charset="-120"/>
              </a:rPr>
              <a:t>Ngăn chặn tấn công bằng hệ thống Cloudflare Turnstile.</a:t>
            </a:r>
            <a:endParaRPr lang="en-US" sz="1450" dirty="0"/>
          </a:p>
        </p:txBody>
      </p:sp>
    </p:spTree>
  </p:cSld>
  <p:clrMapOvr>
    <a:masterClrMapping/>
  </p:clrMapOvr>
  <p:transition xmlns:p14="http://schemas.microsoft.com/office/powerpoint/2010/main" spd="med" p14:dur="450">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3A8A"/>
        </a:solidFill>
      </p:bgPr>
    </p:bg>
    <p:spTree>
      <p:nvGrpSpPr>
        <p:cNvPr id="1" name=""/>
        <p:cNvGrpSpPr/>
        <p:nvPr/>
      </p:nvGrpSpPr>
      <p:grpSpPr>
        <a:xfrm>
          <a:off x="0" y="0"/>
          <a:ext cx="0" cy="0"/>
          <a:chOff x="0" y="0"/>
          <a:chExt cx="0" cy="0"/>
        </a:xfrm>
      </p:grpSpPr>
      <p:sp>
        <p:nvSpPr>
          <p:cNvPr id="2" name="Text 0"/>
          <p:cNvSpPr/>
          <p:nvPr/>
        </p:nvSpPr>
        <p:spPr>
          <a:xfrm>
            <a:off x="640080" y="548640"/>
            <a:ext cx="9144000" cy="365760"/>
          </a:xfrm>
          <a:prstGeom prst="rect">
            <a:avLst/>
          </a:prstGeom>
          <a:noFill/>
          <a:ln/>
        </p:spPr>
        <p:txBody>
          <a:bodyPr wrap="square" lIns="0" tIns="0" rIns="0" bIns="0" rtlCol="0" anchor="ctr"/>
          <a:lstStyle/>
          <a:p>
            <a:pPr indent="0" marL="0">
              <a:buNone/>
            </a:pPr>
            <a:r>
              <a:rPr lang="en-US" sz="1400" b="1" spc="200" kern="0" dirty="0">
                <a:solidFill>
                  <a:srgbClr val="DBEAFE"/>
                </a:solidFill>
                <a:latin typeface="Segoe UI" pitchFamily="34" charset="0"/>
                <a:ea typeface="Segoe UI" pitchFamily="34" charset="-122"/>
                <a:cs typeface="Segoe UI" pitchFamily="34" charset="-120"/>
              </a:rPr>
              <a:t>GIÁ TRỊ MANG LẠI</a:t>
            </a:r>
            <a:endParaRPr lang="en-US" sz="1400" dirty="0"/>
          </a:p>
        </p:txBody>
      </p:sp>
      <p:sp>
        <p:nvSpPr>
          <p:cNvPr id="3" name="Text 1"/>
          <p:cNvSpPr/>
          <p:nvPr/>
        </p:nvSpPr>
        <p:spPr>
          <a:xfrm>
            <a:off x="640080" y="896112"/>
            <a:ext cx="10515600" cy="731520"/>
          </a:xfrm>
          <a:prstGeom prst="rect">
            <a:avLst/>
          </a:prstGeom>
          <a:noFill/>
          <a:ln/>
        </p:spPr>
        <p:txBody>
          <a:bodyPr wrap="square" lIns="0" tIns="0" rIns="0" bIns="0" rtlCol="0" anchor="ctr"/>
          <a:lstStyle/>
          <a:p>
            <a:pPr indent="0" marL="0">
              <a:buNone/>
            </a:pPr>
            <a:r>
              <a:rPr lang="en-US" sz="3000" b="1" spc="-50" kern="0" dirty="0">
                <a:solidFill>
                  <a:srgbClr val="FFFFFF"/>
                </a:solidFill>
                <a:latin typeface="Segoe UI" pitchFamily="34" charset="0"/>
                <a:ea typeface="Segoe UI" pitchFamily="34" charset="-122"/>
                <a:cs typeface="Segoe UI" pitchFamily="34" charset="-120"/>
              </a:rPr>
              <a:t>Giá trị có thể đo kiểm</a:t>
            </a:r>
            <a:endParaRPr lang="en-US" sz="3000" dirty="0"/>
          </a:p>
        </p:txBody>
      </p:sp>
      <p:sp>
        <p:nvSpPr>
          <p:cNvPr id="4" name="Shape 2"/>
          <p:cNvSpPr/>
          <p:nvPr/>
        </p:nvSpPr>
        <p:spPr>
          <a:xfrm>
            <a:off x="640080" y="1920240"/>
            <a:ext cx="5486400" cy="3200400"/>
          </a:xfrm>
          <a:prstGeom prst="roundRect">
            <a:avLst>
              <a:gd name="adj" fmla="val 3429"/>
            </a:avLst>
          </a:prstGeom>
          <a:solidFill>
            <a:srgbClr val="16306E"/>
          </a:solidFill>
          <a:ln w="15240">
            <a:solidFill>
              <a:srgbClr val="0B7A75"/>
            </a:solidFill>
            <a:prstDash val="solid"/>
          </a:ln>
          <a:effectLst>
            <a:outerShdw sx="100000" sy="100000" kx="0" ky="0" algn="bl" rotWithShape="0" blurRad="114300" dist="38100" dir="8100000">
              <a:srgbClr val="1e40af">
                <a:alpha val="20000"/>
              </a:srgbClr>
            </a:outerShdw>
          </a:effectLst>
        </p:spPr>
      </p:sp>
      <p:pic>
        <p:nvPicPr>
          <p:cNvPr id="5" name="Image 0" descr="preencoded.png">    </p:cNvPr>
          <p:cNvPicPr>
            <a:picLocks noChangeAspect="1"/>
          </p:cNvPicPr>
          <p:nvPr/>
        </p:nvPicPr>
        <p:blipFill>
          <a:blip r:embed="rId1">
            <a:alphaModFix amt="14000"/>
          </a:blip>
          <a:stretch>
            <a:fillRect/>
          </a:stretch>
        </p:blipFill>
        <p:spPr>
          <a:xfrm>
            <a:off x="1051560" y="2029968"/>
            <a:ext cx="960120" cy="960120"/>
          </a:xfrm>
          <a:prstGeom prst="rect">
            <a:avLst/>
          </a:prstGeom>
        </p:spPr>
      </p:pic>
      <p:sp>
        <p:nvSpPr>
          <p:cNvPr id="6" name="Text 3"/>
          <p:cNvSpPr/>
          <p:nvPr/>
        </p:nvSpPr>
        <p:spPr>
          <a:xfrm>
            <a:off x="914400" y="2084832"/>
            <a:ext cx="4937760" cy="868680"/>
          </a:xfrm>
          <a:prstGeom prst="rect">
            <a:avLst/>
          </a:prstGeom>
          <a:noFill/>
          <a:ln/>
        </p:spPr>
        <p:txBody>
          <a:bodyPr wrap="square" lIns="0" tIns="0" rIns="0" bIns="0" rtlCol="0" anchor="ctr"/>
          <a:lstStyle/>
          <a:p>
            <a:pPr indent="0" marL="0">
              <a:buNone/>
            </a:pPr>
            <a:r>
              <a:rPr lang="en-US" sz="4400" b="1" spc="-100" kern="0" dirty="0">
                <a:solidFill>
                  <a:srgbClr val="DBEAFE"/>
                </a:solidFill>
                <a:latin typeface="Segoe UI" pitchFamily="34" charset="0"/>
                <a:ea typeface="Segoe UI" pitchFamily="34" charset="-122"/>
                <a:cs typeface="Segoe UI" pitchFamily="34" charset="-120"/>
              </a:rPr>
              <a:t>24/7</a:t>
            </a:r>
            <a:endParaRPr lang="en-US" sz="4400" dirty="0"/>
          </a:p>
        </p:txBody>
      </p:sp>
      <p:sp>
        <p:nvSpPr>
          <p:cNvPr id="7" name="Text 4"/>
          <p:cNvSpPr/>
          <p:nvPr/>
        </p:nvSpPr>
        <p:spPr>
          <a:xfrm>
            <a:off x="914400" y="3017520"/>
            <a:ext cx="4937760" cy="1920240"/>
          </a:xfrm>
          <a:prstGeom prst="rect">
            <a:avLst/>
          </a:prstGeom>
          <a:noFill/>
          <a:ln/>
        </p:spPr>
        <p:txBody>
          <a:bodyPr wrap="square" lIns="0" tIns="0" rIns="0" bIns="0" rtlCol="0" anchor="ctr"/>
          <a:lstStyle/>
          <a:p>
            <a:pPr indent="0" marL="0">
              <a:buNone/>
            </a:pPr>
            <a:r>
              <a:rPr lang="en-US" sz="1450" dirty="0">
                <a:solidFill>
                  <a:srgbClr val="FFFFFF"/>
                </a:solidFill>
                <a:latin typeface="Segoe UI" pitchFamily="34" charset="0"/>
                <a:ea typeface="Segoe UI" pitchFamily="34" charset="-122"/>
                <a:cs typeface="Segoe UI" pitchFamily="34" charset="-120"/>
              </a:rPr>
              <a:t>Tra cứu được ngoài giờ hành chính, không phải chờ tới lượt.</a:t>
            </a:r>
            <a:endParaRPr lang="en-US" sz="1450" dirty="0"/>
          </a:p>
        </p:txBody>
      </p:sp>
      <p:sp>
        <p:nvSpPr>
          <p:cNvPr id="8" name="Shape 5"/>
          <p:cNvSpPr/>
          <p:nvPr/>
        </p:nvSpPr>
        <p:spPr>
          <a:xfrm>
            <a:off x="6400800" y="1920240"/>
            <a:ext cx="5120640" cy="3200400"/>
          </a:xfrm>
          <a:prstGeom prst="roundRect">
            <a:avLst>
              <a:gd name="adj" fmla="val 3429"/>
            </a:avLst>
          </a:prstGeom>
          <a:solidFill>
            <a:srgbClr val="16306E"/>
          </a:solidFill>
          <a:ln w="15240">
            <a:solidFill>
              <a:srgbClr val="0B7A75"/>
            </a:solidFill>
            <a:prstDash val="solid"/>
          </a:ln>
          <a:effectLst>
            <a:outerShdw sx="100000" sy="100000" kx="0" ky="0" algn="bl" rotWithShape="0" blurRad="114300" dist="38100" dir="8100000">
              <a:srgbClr val="1e40af">
                <a:alpha val="20000"/>
              </a:srgbClr>
            </a:outerShdw>
          </a:effectLst>
        </p:spPr>
      </p:sp>
      <p:pic>
        <p:nvPicPr>
          <p:cNvPr id="9" name="Image 1" descr="preencoded.png">    </p:cNvPr>
          <p:cNvPicPr>
            <a:picLocks noChangeAspect="1"/>
          </p:cNvPicPr>
          <p:nvPr/>
        </p:nvPicPr>
        <p:blipFill>
          <a:blip r:embed="rId2">
            <a:alphaModFix amt="14000"/>
          </a:blip>
          <a:stretch>
            <a:fillRect/>
          </a:stretch>
        </p:blipFill>
        <p:spPr>
          <a:xfrm>
            <a:off x="6812280" y="2029968"/>
            <a:ext cx="960120" cy="960120"/>
          </a:xfrm>
          <a:prstGeom prst="rect">
            <a:avLst/>
          </a:prstGeom>
        </p:spPr>
      </p:pic>
      <p:sp>
        <p:nvSpPr>
          <p:cNvPr id="10" name="Text 6"/>
          <p:cNvSpPr/>
          <p:nvPr/>
        </p:nvSpPr>
        <p:spPr>
          <a:xfrm>
            <a:off x="6675120" y="2084832"/>
            <a:ext cx="4572000" cy="868680"/>
          </a:xfrm>
          <a:prstGeom prst="rect">
            <a:avLst/>
          </a:prstGeom>
          <a:noFill/>
          <a:ln/>
        </p:spPr>
        <p:txBody>
          <a:bodyPr wrap="square" lIns="0" tIns="0" rIns="0" bIns="0" rtlCol="0" anchor="ctr"/>
          <a:lstStyle/>
          <a:p>
            <a:pPr indent="0" marL="0">
              <a:buNone/>
            </a:pPr>
            <a:r>
              <a:rPr lang="en-US" sz="4400" b="1" spc="-100" kern="0" dirty="0">
                <a:solidFill>
                  <a:srgbClr val="DBEAFE"/>
                </a:solidFill>
                <a:latin typeface="Segoe UI" pitchFamily="34" charset="0"/>
                <a:ea typeface="Segoe UI" pitchFamily="34" charset="-122"/>
                <a:cs typeface="Segoe UI" pitchFamily="34" charset="-120"/>
              </a:rPr>
              <a:t>17–28 GIÂY</a:t>
            </a:r>
            <a:endParaRPr lang="en-US" sz="4400" dirty="0"/>
          </a:p>
        </p:txBody>
      </p:sp>
      <p:sp>
        <p:nvSpPr>
          <p:cNvPr id="11" name="Text 7"/>
          <p:cNvSpPr/>
          <p:nvPr/>
        </p:nvSpPr>
        <p:spPr>
          <a:xfrm>
            <a:off x="6675120" y="3017520"/>
            <a:ext cx="4572000" cy="1920240"/>
          </a:xfrm>
          <a:prstGeom prst="rect">
            <a:avLst/>
          </a:prstGeom>
          <a:noFill/>
          <a:ln/>
        </p:spPr>
        <p:txBody>
          <a:bodyPr wrap="square" lIns="0" tIns="0" rIns="0" bIns="0" rtlCol="0" anchor="ctr"/>
          <a:lstStyle/>
          <a:p>
            <a:pPr indent="0" marL="0">
              <a:buNone/>
            </a:pPr>
            <a:r>
              <a:rPr lang="en-US" sz="1450" dirty="0">
                <a:solidFill>
                  <a:srgbClr val="FFFFFF"/>
                </a:solidFill>
                <a:latin typeface="Segoe UI" pitchFamily="34" charset="0"/>
                <a:ea typeface="Segoe UI" pitchFamily="34" charset="-122"/>
                <a:cs typeface="Segoe UI" pitchFamily="34" charset="-120"/>
              </a:rPr>
              <a:t>Thời gian phản hồi p95 đo trong kiểm thử nội bộ, tuỳ nhà cung cấp AI.</a:t>
            </a:r>
            <a:endParaRPr lang="en-US" sz="1450" dirty="0"/>
          </a:p>
        </p:txBody>
      </p:sp>
      <p:sp>
        <p:nvSpPr>
          <p:cNvPr id="12" name="Shape 8"/>
          <p:cNvSpPr/>
          <p:nvPr/>
        </p:nvSpPr>
        <p:spPr>
          <a:xfrm>
            <a:off x="640080" y="5394960"/>
            <a:ext cx="10881360" cy="868680"/>
          </a:xfrm>
          <a:prstGeom prst="roundRect">
            <a:avLst>
              <a:gd name="adj" fmla="val 10526"/>
            </a:avLst>
          </a:prstGeom>
          <a:solidFill>
            <a:srgbClr val="1D4ED8"/>
          </a:solidFill>
          <a:ln/>
        </p:spPr>
      </p:sp>
      <p:sp>
        <p:nvSpPr>
          <p:cNvPr id="13" name="Text 9"/>
          <p:cNvSpPr/>
          <p:nvPr/>
        </p:nvSpPr>
        <p:spPr>
          <a:xfrm>
            <a:off x="640080" y="5394960"/>
            <a:ext cx="10881360" cy="868680"/>
          </a:xfrm>
          <a:prstGeom prst="rect">
            <a:avLst/>
          </a:prstGeom>
          <a:noFill/>
          <a:ln/>
        </p:spPr>
        <p:txBody>
          <a:bodyPr wrap="square" lIns="0" tIns="0" rIns="0" bIns="0" rtlCol="0" anchor="ctr"/>
          <a:lstStyle/>
          <a:p>
            <a:pPr algn="ctr" indent="0" marL="0">
              <a:buNone/>
            </a:pPr>
            <a:r>
              <a:rPr lang="en-US" sz="1700" b="1" dirty="0">
                <a:solidFill>
                  <a:srgbClr val="FFFFFF"/>
                </a:solidFill>
                <a:latin typeface="Segoe UI" pitchFamily="34" charset="0"/>
                <a:ea typeface="Segoe UI" pitchFamily="34" charset="-122"/>
                <a:cs typeface="Segoe UI" pitchFamily="34" charset="-120"/>
              </a:rPr>
              <a:t>Số liệu từ kiểm thử nội bộ, chưa phải số liệu vận hành thực tế trên diện rộng.</a:t>
            </a:r>
            <a:endParaRPr lang="en-US" sz="1700" dirty="0"/>
          </a:p>
        </p:txBody>
      </p:sp>
    </p:spTree>
  </p:cSld>
  <p:clrMapOvr>
    <a:masterClrMapping/>
  </p:clrMapOvr>
  <mc:AlternateContent xmlns:mc="http://schemas.openxmlformats.org/markup-compatibility/2006">
    <mc:Choice xmlns:p159="http://schemas.microsoft.com/office/powerpoint/2015/9/main" Requires="p159">
      <p:transition xmlns:p14="http://schemas.microsoft.com/office/powerpoint/2010/main" spd="med" p14:dur="800">
        <p159:morph option="byObject"/>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881360" cy="320040"/>
          </a:xfrm>
          <a:prstGeom prst="rect">
            <a:avLst/>
          </a:prstGeom>
          <a:noFill/>
          <a:ln/>
        </p:spPr>
        <p:txBody>
          <a:bodyPr wrap="square" lIns="0" tIns="0" rIns="0" bIns="0" rtlCol="0" anchor="ctr"/>
          <a:lstStyle/>
          <a:p>
            <a:pPr indent="0" marL="0">
              <a:buNone/>
            </a:pPr>
            <a:r>
              <a:rPr lang="en-US" sz="1300" b="1" spc="200" kern="0" dirty="0">
                <a:solidFill>
                  <a:srgbClr val="1D4ED8"/>
                </a:solidFill>
                <a:latin typeface="Segoe UI" pitchFamily="34" charset="0"/>
                <a:ea typeface="Segoe UI" pitchFamily="34" charset="-122"/>
                <a:cs typeface="Segoe UI" pitchFamily="34" charset="-120"/>
              </a:rPr>
              <a:t>ĐIỀU KIỆN TRIỂN KHAI</a:t>
            </a:r>
            <a:endParaRPr lang="en-US" sz="1300" dirty="0"/>
          </a:p>
        </p:txBody>
      </p:sp>
      <p:sp>
        <p:nvSpPr>
          <p:cNvPr id="3" name="Text 1"/>
          <p:cNvSpPr/>
          <p:nvPr/>
        </p:nvSpPr>
        <p:spPr>
          <a:xfrm>
            <a:off x="640080" y="768096"/>
            <a:ext cx="10881360" cy="777240"/>
          </a:xfrm>
          <a:prstGeom prst="rect">
            <a:avLst/>
          </a:prstGeom>
          <a:noFill/>
          <a:ln/>
        </p:spPr>
        <p:txBody>
          <a:bodyPr wrap="square" lIns="0" tIns="0" rIns="0" bIns="0" rtlCol="0" anchor="t"/>
          <a:lstStyle/>
          <a:p>
            <a:pPr indent="0" marL="0">
              <a:buNone/>
            </a:pPr>
            <a:r>
              <a:rPr lang="en-US" sz="2900" b="1" spc="-50" kern="0" dirty="0">
                <a:solidFill>
                  <a:srgbClr val="0F172A"/>
                </a:solidFill>
                <a:latin typeface="Segoe UI" pitchFamily="34" charset="0"/>
                <a:ea typeface="Segoe UI" pitchFamily="34" charset="-122"/>
                <a:cs typeface="Segoe UI" pitchFamily="34" charset="-120"/>
              </a:rPr>
              <a:t>Ba điều kiện để vận hành hiệu quả</a:t>
            </a:r>
            <a:endParaRPr lang="en-US" sz="2900" dirty="0"/>
          </a:p>
        </p:txBody>
      </p:sp>
      <p:sp>
        <p:nvSpPr>
          <p:cNvPr id="4" name="Text 2"/>
          <p:cNvSpPr/>
          <p:nvPr/>
        </p:nvSpPr>
        <p:spPr>
          <a:xfrm>
            <a:off x="640080" y="1536192"/>
            <a:ext cx="10881360" cy="411480"/>
          </a:xfrm>
          <a:prstGeom prst="rect">
            <a:avLst/>
          </a:prstGeom>
          <a:noFill/>
          <a:ln/>
        </p:spPr>
        <p:txBody>
          <a:bodyPr wrap="square" lIns="0" tIns="0" rIns="0" bIns="0" rtlCol="0" anchor="ctr"/>
          <a:lstStyle/>
          <a:p>
            <a:pPr indent="0" marL="0">
              <a:buNone/>
            </a:pPr>
            <a:r>
              <a:rPr lang="en-US" sz="1450" dirty="0">
                <a:solidFill>
                  <a:srgbClr val="334155"/>
                </a:solidFill>
                <a:latin typeface="Segoe UI" pitchFamily="34" charset="0"/>
                <a:ea typeface="Segoe UI" pitchFamily="34" charset="-122"/>
                <a:cs typeface="Segoe UI" pitchFamily="34" charset="-120"/>
              </a:rPr>
              <a:t>Sản phẩm đã hoạt động. Để vận hành hiệu quả và bền vững, công trình cần ba sự phối hợp rõ ràng.</a:t>
            </a:r>
            <a:endParaRPr lang="en-US" sz="1450" dirty="0"/>
          </a:p>
        </p:txBody>
      </p:sp>
      <p:sp>
        <p:nvSpPr>
          <p:cNvPr id="5" name="Text 3"/>
          <p:cNvSpPr/>
          <p:nvPr/>
        </p:nvSpPr>
        <p:spPr>
          <a:xfrm>
            <a:off x="640080" y="2011680"/>
            <a:ext cx="5029200" cy="274320"/>
          </a:xfrm>
          <a:prstGeom prst="rect">
            <a:avLst/>
          </a:prstGeom>
          <a:noFill/>
          <a:ln/>
        </p:spPr>
        <p:txBody>
          <a:bodyPr wrap="square" lIns="0" tIns="0" rIns="0" bIns="0" rtlCol="0" anchor="ctr"/>
          <a:lstStyle/>
          <a:p>
            <a:pPr indent="0" marL="0">
              <a:buNone/>
            </a:pPr>
            <a:r>
              <a:rPr lang="en-US" sz="1200" b="1" spc="150" kern="0" dirty="0">
                <a:solidFill>
                  <a:srgbClr val="64748B"/>
                </a:solidFill>
                <a:latin typeface="Segoe UI" pitchFamily="34" charset="0"/>
                <a:ea typeface="Segoe UI" pitchFamily="34" charset="-122"/>
                <a:cs typeface="Segoe UI" pitchFamily="34" charset="-120"/>
              </a:rPr>
              <a:t>BÊN PHỐI HỢP</a:t>
            </a:r>
            <a:endParaRPr lang="en-US" sz="1200" dirty="0"/>
          </a:p>
        </p:txBody>
      </p:sp>
      <p:sp>
        <p:nvSpPr>
          <p:cNvPr id="6" name="Text 4"/>
          <p:cNvSpPr/>
          <p:nvPr/>
        </p:nvSpPr>
        <p:spPr>
          <a:xfrm>
            <a:off x="6309360" y="2011680"/>
            <a:ext cx="5212080" cy="274320"/>
          </a:xfrm>
          <a:prstGeom prst="rect">
            <a:avLst/>
          </a:prstGeom>
          <a:noFill/>
          <a:ln/>
        </p:spPr>
        <p:txBody>
          <a:bodyPr wrap="square" lIns="0" tIns="0" rIns="0" bIns="0" rtlCol="0" anchor="ctr"/>
          <a:lstStyle/>
          <a:p>
            <a:pPr indent="0" marL="0">
              <a:buNone/>
            </a:pPr>
            <a:r>
              <a:rPr lang="en-US" sz="1200" b="1" spc="150" kern="0" dirty="0">
                <a:solidFill>
                  <a:srgbClr val="0B7A75"/>
                </a:solidFill>
                <a:latin typeface="Segoe UI" pitchFamily="34" charset="0"/>
                <a:ea typeface="Segoe UI" pitchFamily="34" charset="-122"/>
                <a:cs typeface="Segoe UI" pitchFamily="34" charset="-120"/>
              </a:rPr>
              <a:t>NỘI DUNG PHỐI HỢP</a:t>
            </a:r>
            <a:endParaRPr lang="en-US" sz="1200" dirty="0"/>
          </a:p>
        </p:txBody>
      </p:sp>
      <p:sp>
        <p:nvSpPr>
          <p:cNvPr id="7" name="Shape 5"/>
          <p:cNvSpPr/>
          <p:nvPr/>
        </p:nvSpPr>
        <p:spPr>
          <a:xfrm>
            <a:off x="640080" y="2395728"/>
            <a:ext cx="5029200" cy="749808"/>
          </a:xfrm>
          <a:prstGeom prst="roundRect">
            <a:avLst>
              <a:gd name="adj" fmla="val 9756"/>
            </a:avLst>
          </a:prstGeom>
          <a:solidFill>
            <a:srgbClr val="F8FAFC"/>
          </a:solidFill>
          <a:ln w="12700">
            <a:solidFill>
              <a:srgbClr val="E2E8F0"/>
            </a:solidFill>
            <a:prstDash val="solid"/>
          </a:ln>
        </p:spPr>
      </p:sp>
      <p:sp>
        <p:nvSpPr>
          <p:cNvPr id="8" name="Shape 6"/>
          <p:cNvSpPr/>
          <p:nvPr/>
        </p:nvSpPr>
        <p:spPr>
          <a:xfrm>
            <a:off x="841248" y="2596896"/>
            <a:ext cx="347472" cy="347472"/>
          </a:xfrm>
          <a:prstGeom prst="ellipse">
            <a:avLst/>
          </a:prstGeom>
          <a:solidFill>
            <a:srgbClr val="334155"/>
          </a:solidFill>
          <a:ln/>
        </p:spPr>
      </p:sp>
      <p:sp>
        <p:nvSpPr>
          <p:cNvPr id="9" name="Text 7"/>
          <p:cNvSpPr/>
          <p:nvPr/>
        </p:nvSpPr>
        <p:spPr>
          <a:xfrm>
            <a:off x="841248" y="2596896"/>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1</a:t>
            </a:r>
            <a:endParaRPr lang="en-US" sz="1400" dirty="0"/>
          </a:p>
        </p:txBody>
      </p:sp>
      <p:sp>
        <p:nvSpPr>
          <p:cNvPr id="10" name="Text 8"/>
          <p:cNvSpPr/>
          <p:nvPr/>
        </p:nvSpPr>
        <p:spPr>
          <a:xfrm>
            <a:off x="1325880" y="2395728"/>
            <a:ext cx="4160520" cy="749808"/>
          </a:xfrm>
          <a:prstGeom prst="rect">
            <a:avLst/>
          </a:prstGeom>
          <a:noFill/>
          <a:ln/>
        </p:spPr>
        <p:txBody>
          <a:bodyPr wrap="square" lIns="0" tIns="0" rIns="0" bIns="0" rtlCol="0" anchor="ctr"/>
          <a:lstStyle/>
          <a:p>
            <a:pPr indent="0" marL="0">
              <a:buNone/>
            </a:pPr>
            <a:r>
              <a:rPr lang="en-US" sz="1450" b="1" dirty="0">
                <a:solidFill>
                  <a:srgbClr val="0F172A"/>
                </a:solidFill>
                <a:latin typeface="Segoe UI" pitchFamily="34" charset="0"/>
                <a:ea typeface="Segoe UI" pitchFamily="34" charset="-122"/>
                <a:cs typeface="Segoe UI" pitchFamily="34" charset="-120"/>
              </a:rPr>
              <a:t>Câu lạc bộ Sáng tạo</a:t>
            </a:r>
            <a:endParaRPr lang="en-US" sz="1450" dirty="0"/>
          </a:p>
        </p:txBody>
      </p:sp>
      <p:pic>
        <p:nvPicPr>
          <p:cNvPr id="11" name="Image 0" descr="preencoded.png">    </p:cNvPr>
          <p:cNvPicPr>
            <a:picLocks noChangeAspect="1"/>
          </p:cNvPicPr>
          <p:nvPr/>
        </p:nvPicPr>
        <p:blipFill>
          <a:blip r:embed="rId1"/>
          <a:stretch>
            <a:fillRect/>
          </a:stretch>
        </p:blipFill>
        <p:spPr>
          <a:xfrm>
            <a:off x="5797296" y="2642616"/>
            <a:ext cx="256032" cy="256032"/>
          </a:xfrm>
          <a:prstGeom prst="rect">
            <a:avLst/>
          </a:prstGeom>
        </p:spPr>
      </p:pic>
      <p:sp>
        <p:nvSpPr>
          <p:cNvPr id="12" name="Shape 9"/>
          <p:cNvSpPr/>
          <p:nvPr/>
        </p:nvSpPr>
        <p:spPr>
          <a:xfrm>
            <a:off x="6309360" y="2395728"/>
            <a:ext cx="5212080" cy="749808"/>
          </a:xfrm>
          <a:prstGeom prst="roundRect">
            <a:avLst>
              <a:gd name="adj" fmla="val 9756"/>
            </a:avLst>
          </a:prstGeom>
          <a:solidFill>
            <a:srgbClr val="EAF6F5"/>
          </a:solidFill>
          <a:ln w="12700">
            <a:solidFill>
              <a:srgbClr val="0B7A75"/>
            </a:solidFill>
            <a:prstDash val="solid"/>
          </a:ln>
        </p:spPr>
      </p:sp>
      <p:pic>
        <p:nvPicPr>
          <p:cNvPr id="13" name="Image 1" descr="preencoded.png">    </p:cNvPr>
          <p:cNvPicPr>
            <a:picLocks noChangeAspect="1"/>
          </p:cNvPicPr>
          <p:nvPr/>
        </p:nvPicPr>
        <p:blipFill>
          <a:blip r:embed="rId2"/>
          <a:stretch>
            <a:fillRect/>
          </a:stretch>
        </p:blipFill>
        <p:spPr>
          <a:xfrm>
            <a:off x="6510528" y="2642616"/>
            <a:ext cx="256032" cy="256032"/>
          </a:xfrm>
          <a:prstGeom prst="rect">
            <a:avLst/>
          </a:prstGeom>
        </p:spPr>
      </p:pic>
      <p:sp>
        <p:nvSpPr>
          <p:cNvPr id="14" name="Text 10"/>
          <p:cNvSpPr/>
          <p:nvPr/>
        </p:nvSpPr>
        <p:spPr>
          <a:xfrm>
            <a:off x="6876288" y="2395728"/>
            <a:ext cx="4462272" cy="749808"/>
          </a:xfrm>
          <a:prstGeom prst="rect">
            <a:avLst/>
          </a:prstGeom>
          <a:noFill/>
          <a:ln/>
        </p:spPr>
        <p:txBody>
          <a:bodyPr wrap="square" lIns="0" tIns="0" rIns="0" bIns="0" rtlCol="0" anchor="ctr"/>
          <a:lstStyle/>
          <a:p>
            <a:pPr indent="0" marL="0">
              <a:buNone/>
            </a:pPr>
            <a:r>
              <a:rPr lang="en-US" sz="1400" dirty="0">
                <a:solidFill>
                  <a:srgbClr val="0F172A"/>
                </a:solidFill>
                <a:latin typeface="Segoe UI" pitchFamily="34" charset="0"/>
                <a:ea typeface="Segoe UI" pitchFamily="34" charset="-122"/>
                <a:cs typeface="Segoe UI" pitchFamily="34" charset="-120"/>
              </a:rPr>
              <a:t>Trực tiếp phụ trách kỹ thuật và vận hành; đề nghị đơn vị CNTT hỗ trợ khi có việc chuyên sâu.</a:t>
            </a:r>
            <a:endParaRPr lang="en-US" sz="1400" dirty="0"/>
          </a:p>
        </p:txBody>
      </p:sp>
      <p:sp>
        <p:nvSpPr>
          <p:cNvPr id="15" name="Shape 11"/>
          <p:cNvSpPr/>
          <p:nvPr/>
        </p:nvSpPr>
        <p:spPr>
          <a:xfrm>
            <a:off x="640080" y="3255264"/>
            <a:ext cx="5029200" cy="749808"/>
          </a:xfrm>
          <a:prstGeom prst="roundRect">
            <a:avLst>
              <a:gd name="adj" fmla="val 9756"/>
            </a:avLst>
          </a:prstGeom>
          <a:solidFill>
            <a:srgbClr val="F8FAFC"/>
          </a:solidFill>
          <a:ln w="12700">
            <a:solidFill>
              <a:srgbClr val="E2E8F0"/>
            </a:solidFill>
            <a:prstDash val="solid"/>
          </a:ln>
        </p:spPr>
      </p:sp>
      <p:sp>
        <p:nvSpPr>
          <p:cNvPr id="16" name="Shape 12"/>
          <p:cNvSpPr/>
          <p:nvPr/>
        </p:nvSpPr>
        <p:spPr>
          <a:xfrm>
            <a:off x="841248" y="3456432"/>
            <a:ext cx="347472" cy="347472"/>
          </a:xfrm>
          <a:prstGeom prst="ellipse">
            <a:avLst/>
          </a:prstGeom>
          <a:solidFill>
            <a:srgbClr val="334155"/>
          </a:solidFill>
          <a:ln/>
        </p:spPr>
      </p:sp>
      <p:sp>
        <p:nvSpPr>
          <p:cNvPr id="17" name="Text 13"/>
          <p:cNvSpPr/>
          <p:nvPr/>
        </p:nvSpPr>
        <p:spPr>
          <a:xfrm>
            <a:off x="841248" y="3456432"/>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2</a:t>
            </a:r>
            <a:endParaRPr lang="en-US" sz="1400" dirty="0"/>
          </a:p>
        </p:txBody>
      </p:sp>
      <p:sp>
        <p:nvSpPr>
          <p:cNvPr id="18" name="Text 14"/>
          <p:cNvSpPr/>
          <p:nvPr/>
        </p:nvSpPr>
        <p:spPr>
          <a:xfrm>
            <a:off x="1325880" y="3255264"/>
            <a:ext cx="4160520" cy="749808"/>
          </a:xfrm>
          <a:prstGeom prst="rect">
            <a:avLst/>
          </a:prstGeom>
          <a:noFill/>
          <a:ln/>
        </p:spPr>
        <p:txBody>
          <a:bodyPr wrap="square" lIns="0" tIns="0" rIns="0" bIns="0" rtlCol="0" anchor="ctr"/>
          <a:lstStyle/>
          <a:p>
            <a:pPr indent="0" marL="0">
              <a:buNone/>
            </a:pPr>
            <a:r>
              <a:rPr lang="en-US" sz="1450" b="1" dirty="0">
                <a:solidFill>
                  <a:srgbClr val="0F172A"/>
                </a:solidFill>
                <a:latin typeface="Segoe UI" pitchFamily="34" charset="0"/>
                <a:ea typeface="Segoe UI" pitchFamily="34" charset="-122"/>
                <a:cs typeface="Segoe UI" pitchFamily="34" charset="-120"/>
              </a:rPr>
              <a:t>Đơn vị nghiệp vụ</a:t>
            </a:r>
            <a:endParaRPr lang="en-US" sz="1450" dirty="0"/>
          </a:p>
        </p:txBody>
      </p:sp>
      <p:pic>
        <p:nvPicPr>
          <p:cNvPr id="19" name="Image 2" descr="preencoded.png">    </p:cNvPr>
          <p:cNvPicPr>
            <a:picLocks noChangeAspect="1"/>
          </p:cNvPicPr>
          <p:nvPr/>
        </p:nvPicPr>
        <p:blipFill>
          <a:blip r:embed="rId3"/>
          <a:stretch>
            <a:fillRect/>
          </a:stretch>
        </p:blipFill>
        <p:spPr>
          <a:xfrm>
            <a:off x="5797296" y="3502152"/>
            <a:ext cx="256032" cy="256032"/>
          </a:xfrm>
          <a:prstGeom prst="rect">
            <a:avLst/>
          </a:prstGeom>
        </p:spPr>
      </p:pic>
      <p:sp>
        <p:nvSpPr>
          <p:cNvPr id="20" name="Shape 15"/>
          <p:cNvSpPr/>
          <p:nvPr/>
        </p:nvSpPr>
        <p:spPr>
          <a:xfrm>
            <a:off x="6309360" y="3255264"/>
            <a:ext cx="5212080" cy="749808"/>
          </a:xfrm>
          <a:prstGeom prst="roundRect">
            <a:avLst>
              <a:gd name="adj" fmla="val 9756"/>
            </a:avLst>
          </a:prstGeom>
          <a:solidFill>
            <a:srgbClr val="EAF6F5"/>
          </a:solidFill>
          <a:ln w="12700">
            <a:solidFill>
              <a:srgbClr val="0B7A75"/>
            </a:solidFill>
            <a:prstDash val="solid"/>
          </a:ln>
        </p:spPr>
      </p:sp>
      <p:pic>
        <p:nvPicPr>
          <p:cNvPr id="21" name="Image 3" descr="preencoded.png">    </p:cNvPr>
          <p:cNvPicPr>
            <a:picLocks noChangeAspect="1"/>
          </p:cNvPicPr>
          <p:nvPr/>
        </p:nvPicPr>
        <p:blipFill>
          <a:blip r:embed="rId4"/>
          <a:stretch>
            <a:fillRect/>
          </a:stretch>
        </p:blipFill>
        <p:spPr>
          <a:xfrm>
            <a:off x="6510528" y="3502152"/>
            <a:ext cx="256032" cy="256032"/>
          </a:xfrm>
          <a:prstGeom prst="rect">
            <a:avLst/>
          </a:prstGeom>
        </p:spPr>
      </p:pic>
      <p:sp>
        <p:nvSpPr>
          <p:cNvPr id="22" name="Text 16"/>
          <p:cNvSpPr/>
          <p:nvPr/>
        </p:nvSpPr>
        <p:spPr>
          <a:xfrm>
            <a:off x="6876288" y="3255264"/>
            <a:ext cx="4462272" cy="749808"/>
          </a:xfrm>
          <a:prstGeom prst="rect">
            <a:avLst/>
          </a:prstGeom>
          <a:noFill/>
          <a:ln/>
        </p:spPr>
        <p:txBody>
          <a:bodyPr wrap="square" lIns="0" tIns="0" rIns="0" bIns="0" rtlCol="0" anchor="ctr"/>
          <a:lstStyle/>
          <a:p>
            <a:pPr indent="0" marL="0">
              <a:buNone/>
            </a:pPr>
            <a:r>
              <a:rPr lang="en-US" sz="1400" dirty="0">
                <a:solidFill>
                  <a:srgbClr val="0F172A"/>
                </a:solidFill>
                <a:latin typeface="Segoe UI" pitchFamily="34" charset="0"/>
                <a:ea typeface="Segoe UI" pitchFamily="34" charset="-122"/>
                <a:cs typeface="Segoe UI" pitchFamily="34" charset="-120"/>
              </a:rPr>
              <a:t>Rà soát, phê duyệt và cập nhật nội dung; hậu kiểm chuyên môn vì AI vẫn có thể trả lời sai.</a:t>
            </a:r>
            <a:endParaRPr lang="en-US" sz="1400" dirty="0"/>
          </a:p>
        </p:txBody>
      </p:sp>
      <p:sp>
        <p:nvSpPr>
          <p:cNvPr id="23" name="Shape 17"/>
          <p:cNvSpPr/>
          <p:nvPr/>
        </p:nvSpPr>
        <p:spPr>
          <a:xfrm>
            <a:off x="640080" y="4114800"/>
            <a:ext cx="5029200" cy="749808"/>
          </a:xfrm>
          <a:prstGeom prst="roundRect">
            <a:avLst>
              <a:gd name="adj" fmla="val 9756"/>
            </a:avLst>
          </a:prstGeom>
          <a:solidFill>
            <a:srgbClr val="F8FAFC"/>
          </a:solidFill>
          <a:ln w="12700">
            <a:solidFill>
              <a:srgbClr val="E2E8F0"/>
            </a:solidFill>
            <a:prstDash val="solid"/>
          </a:ln>
        </p:spPr>
      </p:sp>
      <p:sp>
        <p:nvSpPr>
          <p:cNvPr id="24" name="Shape 18"/>
          <p:cNvSpPr/>
          <p:nvPr/>
        </p:nvSpPr>
        <p:spPr>
          <a:xfrm>
            <a:off x="841248" y="4315968"/>
            <a:ext cx="347472" cy="347472"/>
          </a:xfrm>
          <a:prstGeom prst="ellipse">
            <a:avLst/>
          </a:prstGeom>
          <a:solidFill>
            <a:srgbClr val="334155"/>
          </a:solidFill>
          <a:ln/>
        </p:spPr>
      </p:sp>
      <p:sp>
        <p:nvSpPr>
          <p:cNvPr id="25" name="Text 19"/>
          <p:cNvSpPr/>
          <p:nvPr/>
        </p:nvSpPr>
        <p:spPr>
          <a:xfrm>
            <a:off x="841248" y="4315968"/>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3</a:t>
            </a:r>
            <a:endParaRPr lang="en-US" sz="1400" dirty="0"/>
          </a:p>
        </p:txBody>
      </p:sp>
      <p:sp>
        <p:nvSpPr>
          <p:cNvPr id="26" name="Text 20"/>
          <p:cNvSpPr/>
          <p:nvPr/>
        </p:nvSpPr>
        <p:spPr>
          <a:xfrm>
            <a:off x="1325880" y="4114800"/>
            <a:ext cx="4160520" cy="749808"/>
          </a:xfrm>
          <a:prstGeom prst="rect">
            <a:avLst/>
          </a:prstGeom>
          <a:noFill/>
          <a:ln/>
        </p:spPr>
        <p:txBody>
          <a:bodyPr wrap="square" lIns="0" tIns="0" rIns="0" bIns="0" rtlCol="0" anchor="ctr"/>
          <a:lstStyle/>
          <a:p>
            <a:pPr indent="0" marL="0">
              <a:buNone/>
            </a:pPr>
            <a:r>
              <a:rPr lang="en-US" sz="1450" b="1" dirty="0">
                <a:solidFill>
                  <a:srgbClr val="0F172A"/>
                </a:solidFill>
                <a:latin typeface="Segoe UI" pitchFamily="34" charset="0"/>
                <a:ea typeface="Segoe UI" pitchFamily="34" charset="-122"/>
                <a:cs typeface="Segoe UI" pitchFamily="34" charset="-120"/>
              </a:rPr>
              <a:t>Cán bộ tiếp công dân</a:t>
            </a:r>
            <a:endParaRPr lang="en-US" sz="1450" dirty="0"/>
          </a:p>
        </p:txBody>
      </p:sp>
      <p:pic>
        <p:nvPicPr>
          <p:cNvPr id="27" name="Image 4" descr="preencoded.png">    </p:cNvPr>
          <p:cNvPicPr>
            <a:picLocks noChangeAspect="1"/>
          </p:cNvPicPr>
          <p:nvPr/>
        </p:nvPicPr>
        <p:blipFill>
          <a:blip r:embed="rId5"/>
          <a:stretch>
            <a:fillRect/>
          </a:stretch>
        </p:blipFill>
        <p:spPr>
          <a:xfrm>
            <a:off x="5797296" y="4361688"/>
            <a:ext cx="256032" cy="256032"/>
          </a:xfrm>
          <a:prstGeom prst="rect">
            <a:avLst/>
          </a:prstGeom>
        </p:spPr>
      </p:pic>
      <p:sp>
        <p:nvSpPr>
          <p:cNvPr id="28" name="Shape 21"/>
          <p:cNvSpPr/>
          <p:nvPr/>
        </p:nvSpPr>
        <p:spPr>
          <a:xfrm>
            <a:off x="6309360" y="4114800"/>
            <a:ext cx="5212080" cy="749808"/>
          </a:xfrm>
          <a:prstGeom prst="roundRect">
            <a:avLst>
              <a:gd name="adj" fmla="val 9756"/>
            </a:avLst>
          </a:prstGeom>
          <a:solidFill>
            <a:srgbClr val="EAF6F5"/>
          </a:solidFill>
          <a:ln w="12700">
            <a:solidFill>
              <a:srgbClr val="0B7A75"/>
            </a:solidFill>
            <a:prstDash val="solid"/>
          </a:ln>
        </p:spPr>
      </p:sp>
      <p:pic>
        <p:nvPicPr>
          <p:cNvPr id="29" name="Image 5" descr="preencoded.png">    </p:cNvPr>
          <p:cNvPicPr>
            <a:picLocks noChangeAspect="1"/>
          </p:cNvPicPr>
          <p:nvPr/>
        </p:nvPicPr>
        <p:blipFill>
          <a:blip r:embed="rId6"/>
          <a:stretch>
            <a:fillRect/>
          </a:stretch>
        </p:blipFill>
        <p:spPr>
          <a:xfrm>
            <a:off x="6510528" y="4361688"/>
            <a:ext cx="256032" cy="256032"/>
          </a:xfrm>
          <a:prstGeom prst="rect">
            <a:avLst/>
          </a:prstGeom>
        </p:spPr>
      </p:pic>
      <p:sp>
        <p:nvSpPr>
          <p:cNvPr id="30" name="Text 22"/>
          <p:cNvSpPr/>
          <p:nvPr/>
        </p:nvSpPr>
        <p:spPr>
          <a:xfrm>
            <a:off x="6876288" y="4114800"/>
            <a:ext cx="4462272" cy="749808"/>
          </a:xfrm>
          <a:prstGeom prst="rect">
            <a:avLst/>
          </a:prstGeom>
          <a:noFill/>
          <a:ln/>
        </p:spPr>
        <p:txBody>
          <a:bodyPr wrap="square" lIns="0" tIns="0" rIns="0" bIns="0" rtlCol="0" anchor="ctr"/>
          <a:lstStyle/>
          <a:p>
            <a:pPr indent="0" marL="0">
              <a:buNone/>
            </a:pPr>
            <a:r>
              <a:rPr lang="en-US" sz="1400" dirty="0">
                <a:solidFill>
                  <a:srgbClr val="0F172A"/>
                </a:solidFill>
                <a:latin typeface="Segoe UI" pitchFamily="34" charset="0"/>
                <a:ea typeface="Segoe UI" pitchFamily="34" charset="-122"/>
                <a:cs typeface="Segoe UI" pitchFamily="34" charset="-120"/>
              </a:rPr>
              <a:t>Bổ sung tình huống thực tế và những câu hỏi người dân thường gặp ngay tại quầy.</a:t>
            </a:r>
            <a:endParaRPr lang="en-US" sz="1400" dirty="0"/>
          </a:p>
        </p:txBody>
      </p:sp>
    </p:spTree>
  </p:cSld>
  <p:clrMapOvr>
    <a:masterClrMapping/>
  </p:clrMapOvr>
  <p:transition xmlns:p14="http://schemas.microsoft.com/office/powerpoint/2010/main" spd="med" p14:dur="450">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3A8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12000"/>
          </a:blip>
          <a:stretch>
            <a:fillRect/>
          </a:stretch>
        </p:blipFill>
        <p:spPr>
          <a:xfrm>
            <a:off x="9052560" y="1097280"/>
            <a:ext cx="4389120" cy="4389120"/>
          </a:xfrm>
          <a:prstGeom prst="rect">
            <a:avLst/>
          </a:prstGeom>
        </p:spPr>
      </p:pic>
      <p:sp>
        <p:nvSpPr>
          <p:cNvPr id="3" name="Text 0"/>
          <p:cNvSpPr/>
          <p:nvPr/>
        </p:nvSpPr>
        <p:spPr>
          <a:xfrm>
            <a:off x="640080" y="548640"/>
            <a:ext cx="9144000" cy="365760"/>
          </a:xfrm>
          <a:prstGeom prst="rect">
            <a:avLst/>
          </a:prstGeom>
          <a:noFill/>
          <a:ln/>
        </p:spPr>
        <p:txBody>
          <a:bodyPr wrap="square" lIns="0" tIns="0" rIns="0" bIns="0" rtlCol="0" anchor="ctr"/>
          <a:lstStyle/>
          <a:p>
            <a:pPr indent="0" marL="0">
              <a:buNone/>
            </a:pPr>
            <a:r>
              <a:rPr lang="en-US" sz="1400" b="1" spc="200" kern="0" dirty="0">
                <a:solidFill>
                  <a:srgbClr val="DBEAFE"/>
                </a:solidFill>
                <a:latin typeface="Segoe UI" pitchFamily="34" charset="0"/>
                <a:ea typeface="Segoe UI" pitchFamily="34" charset="-122"/>
                <a:cs typeface="Segoe UI" pitchFamily="34" charset="-120"/>
              </a:rPr>
              <a:t>TẦM NHÌN THIẾT THỰC</a:t>
            </a:r>
            <a:endParaRPr lang="en-US" sz="1400" dirty="0"/>
          </a:p>
        </p:txBody>
      </p:sp>
      <p:sp>
        <p:nvSpPr>
          <p:cNvPr id="4" name="Text 1"/>
          <p:cNvSpPr/>
          <p:nvPr/>
        </p:nvSpPr>
        <p:spPr>
          <a:xfrm>
            <a:off x="640080" y="896112"/>
            <a:ext cx="10515600" cy="731520"/>
          </a:xfrm>
          <a:prstGeom prst="rect">
            <a:avLst/>
          </a:prstGeom>
          <a:noFill/>
          <a:ln/>
        </p:spPr>
        <p:txBody>
          <a:bodyPr wrap="square" lIns="0" tIns="0" rIns="0" bIns="0" rtlCol="0" anchor="ctr"/>
          <a:lstStyle/>
          <a:p>
            <a:pPr indent="0" marL="0">
              <a:buNone/>
            </a:pPr>
            <a:r>
              <a:rPr lang="en-US" sz="3000" b="1" spc="-50" kern="0" dirty="0">
                <a:solidFill>
                  <a:srgbClr val="FFFFFF"/>
                </a:solidFill>
                <a:latin typeface="Segoe UI" pitchFamily="34" charset="0"/>
                <a:ea typeface="Segoe UI" pitchFamily="34" charset="-122"/>
                <a:cs typeface="Segoe UI" pitchFamily="34" charset="-120"/>
              </a:rPr>
              <a:t>Một chính quyền số gần dân</a:t>
            </a:r>
            <a:endParaRPr lang="en-US" sz="3000" dirty="0"/>
          </a:p>
        </p:txBody>
      </p:sp>
      <p:pic>
        <p:nvPicPr>
          <p:cNvPr id="5" name="Image 1" descr="preencoded.png">    </p:cNvPr>
          <p:cNvPicPr>
            <a:picLocks noChangeAspect="1"/>
          </p:cNvPicPr>
          <p:nvPr/>
        </p:nvPicPr>
        <p:blipFill>
          <a:blip r:embed="rId2"/>
          <a:stretch>
            <a:fillRect/>
          </a:stretch>
        </p:blipFill>
        <p:spPr>
          <a:xfrm>
            <a:off x="640080" y="1920240"/>
            <a:ext cx="411480" cy="411480"/>
          </a:xfrm>
          <a:prstGeom prst="rect">
            <a:avLst/>
          </a:prstGeom>
        </p:spPr>
      </p:pic>
      <p:sp>
        <p:nvSpPr>
          <p:cNvPr id="6" name="Text 2"/>
          <p:cNvSpPr/>
          <p:nvPr/>
        </p:nvSpPr>
        <p:spPr>
          <a:xfrm>
            <a:off x="1234440" y="1874520"/>
            <a:ext cx="8046720" cy="548640"/>
          </a:xfrm>
          <a:prstGeom prst="rect">
            <a:avLst/>
          </a:prstGeom>
          <a:noFill/>
          <a:ln/>
        </p:spPr>
        <p:txBody>
          <a:bodyPr wrap="square" lIns="0" tIns="0" rIns="0" bIns="0" rtlCol="0" anchor="ctr"/>
          <a:lstStyle/>
          <a:p>
            <a:pPr indent="0" marL="0">
              <a:buNone/>
            </a:pPr>
            <a:r>
              <a:rPr lang="en-US" sz="1700" dirty="0">
                <a:solidFill>
                  <a:srgbClr val="EFF6FF"/>
                </a:solidFill>
                <a:latin typeface="Segoe UI" pitchFamily="34" charset="0"/>
                <a:ea typeface="Segoe UI" pitchFamily="34" charset="-122"/>
                <a:cs typeface="Segoe UI" pitchFamily="34" charset="-120"/>
              </a:rPr>
              <a:t>Hoàn thiện hệ sinh thái dịch vụ công thông minh.</a:t>
            </a:r>
            <a:endParaRPr lang="en-US" sz="1700" dirty="0"/>
          </a:p>
        </p:txBody>
      </p:sp>
      <p:pic>
        <p:nvPicPr>
          <p:cNvPr id="7" name="Image 2" descr="preencoded.png">    </p:cNvPr>
          <p:cNvPicPr>
            <a:picLocks noChangeAspect="1"/>
          </p:cNvPicPr>
          <p:nvPr/>
        </p:nvPicPr>
        <p:blipFill>
          <a:blip r:embed="rId3"/>
          <a:stretch>
            <a:fillRect/>
          </a:stretch>
        </p:blipFill>
        <p:spPr>
          <a:xfrm>
            <a:off x="640080" y="2697480"/>
            <a:ext cx="411480" cy="411480"/>
          </a:xfrm>
          <a:prstGeom prst="rect">
            <a:avLst/>
          </a:prstGeom>
        </p:spPr>
      </p:pic>
      <p:sp>
        <p:nvSpPr>
          <p:cNvPr id="8" name="Text 3"/>
          <p:cNvSpPr/>
          <p:nvPr/>
        </p:nvSpPr>
        <p:spPr>
          <a:xfrm>
            <a:off x="1234440" y="2651760"/>
            <a:ext cx="8046720" cy="548640"/>
          </a:xfrm>
          <a:prstGeom prst="rect">
            <a:avLst/>
          </a:prstGeom>
          <a:noFill/>
          <a:ln/>
        </p:spPr>
        <p:txBody>
          <a:bodyPr wrap="square" lIns="0" tIns="0" rIns="0" bIns="0" rtlCol="0" anchor="ctr"/>
          <a:lstStyle/>
          <a:p>
            <a:pPr indent="0" marL="0">
              <a:buNone/>
            </a:pPr>
            <a:r>
              <a:rPr lang="en-US" sz="1700" dirty="0">
                <a:solidFill>
                  <a:srgbClr val="EFF6FF"/>
                </a:solidFill>
                <a:latin typeface="Segoe UI" pitchFamily="34" charset="0"/>
                <a:ea typeface="Segoe UI" pitchFamily="34" charset="-122"/>
                <a:cs typeface="Segoe UI" pitchFamily="34" charset="-120"/>
              </a:rPr>
              <a:t>Xây dựng hình ảnh Công an Phú Thọ hiện đại, tận tụy.</a:t>
            </a:r>
            <a:endParaRPr lang="en-US" sz="1700" dirty="0"/>
          </a:p>
        </p:txBody>
      </p:sp>
      <p:sp>
        <p:nvSpPr>
          <p:cNvPr id="9" name="Shape 4"/>
          <p:cNvSpPr/>
          <p:nvPr/>
        </p:nvSpPr>
        <p:spPr>
          <a:xfrm>
            <a:off x="640080" y="4315968"/>
            <a:ext cx="10881360" cy="1783080"/>
          </a:xfrm>
          <a:prstGeom prst="roundRect">
            <a:avLst>
              <a:gd name="adj" fmla="val 6154"/>
            </a:avLst>
          </a:prstGeom>
          <a:solidFill>
            <a:srgbClr val="16306E"/>
          </a:solidFill>
          <a:ln w="16510">
            <a:solidFill>
              <a:srgbClr val="0B7A75"/>
            </a:solidFill>
            <a:prstDash val="solid"/>
          </a:ln>
          <a:effectLst>
            <a:outerShdw sx="100000" sy="100000" kx="0" ky="0" algn="bl" rotWithShape="0" blurRad="114300" dist="38100" dir="8100000">
              <a:srgbClr val="1e40af">
                <a:alpha val="20000"/>
              </a:srgbClr>
            </a:outerShdw>
          </a:effectLst>
        </p:spPr>
      </p:sp>
      <p:sp>
        <p:nvSpPr>
          <p:cNvPr id="10" name="Text 5"/>
          <p:cNvSpPr/>
          <p:nvPr/>
        </p:nvSpPr>
        <p:spPr>
          <a:xfrm>
            <a:off x="1097280" y="4480560"/>
            <a:ext cx="10058400" cy="411480"/>
          </a:xfrm>
          <a:prstGeom prst="rect">
            <a:avLst/>
          </a:prstGeom>
          <a:noFill/>
          <a:ln/>
        </p:spPr>
        <p:txBody>
          <a:bodyPr wrap="square" lIns="0" tIns="0" rIns="0" bIns="0" rtlCol="0" anchor="ctr"/>
          <a:lstStyle/>
          <a:p>
            <a:pPr indent="0" marL="0">
              <a:buNone/>
            </a:pPr>
            <a:r>
              <a:rPr lang="en-US" sz="1400" b="1" spc="150" kern="0" dirty="0">
                <a:solidFill>
                  <a:srgbClr val="DBEAFE"/>
                </a:solidFill>
                <a:latin typeface="Segoe UI" pitchFamily="34" charset="0"/>
                <a:ea typeface="Segoe UI" pitchFamily="34" charset="-122"/>
                <a:cs typeface="Segoe UI" pitchFamily="34" charset="-120"/>
              </a:rPr>
              <a:t>KÍNH ĐỀ NGHỊ LÃNH ĐẠO CÔNG AN TỈNH</a:t>
            </a:r>
            <a:endParaRPr lang="en-US" sz="1400" dirty="0"/>
          </a:p>
        </p:txBody>
      </p:sp>
      <p:sp>
        <p:nvSpPr>
          <p:cNvPr id="11" name="Text 6"/>
          <p:cNvSpPr/>
          <p:nvPr/>
        </p:nvSpPr>
        <p:spPr>
          <a:xfrm>
            <a:off x="1143000" y="4864608"/>
            <a:ext cx="10058400" cy="1143000"/>
          </a:xfrm>
          <a:prstGeom prst="rect">
            <a:avLst/>
          </a:prstGeom>
          <a:noFill/>
          <a:ln/>
        </p:spPr>
        <p:txBody>
          <a:bodyPr wrap="square" lIns="0" tIns="0" rIns="0" bIns="0" rtlCol="0" anchor="ctr"/>
          <a:lstStyle/>
          <a:p>
            <a:pPr marL="342900" indent="-342900">
              <a:spcAft>
                <a:spcPts val="500"/>
              </a:spcAft>
              <a:buSzPct val="100000"/>
              <a:buChar char="•"/>
            </a:pPr>
            <a:r>
              <a:rPr lang="en-US" sz="1700" b="1" dirty="0">
                <a:solidFill>
                  <a:srgbClr val="FFFFFF"/>
                </a:solidFill>
                <a:latin typeface="Segoe UI" pitchFamily="34" charset="0"/>
                <a:ea typeface="Segoe UI" pitchFamily="34" charset="-122"/>
                <a:cs typeface="Segoe UI" pitchFamily="34" charset="-120"/>
              </a:rPr>
              <a:t>Cho phép thí điểm với cấu hình kiểm soát đã kiểm thử</a:t>
            </a:r>
            <a:endParaRPr lang="en-US" sz="1700" dirty="0"/>
          </a:p>
          <a:p>
            <a:pPr marL="342900" indent="-342900">
              <a:spcAft>
                <a:spcPts val="500"/>
              </a:spcAft>
              <a:buSzPct val="100000"/>
              <a:buChar char="•"/>
            </a:pPr>
            <a:r>
              <a:rPr lang="en-US" sz="1700" b="1" dirty="0">
                <a:solidFill>
                  <a:srgbClr val="FFFFFF"/>
                </a:solidFill>
                <a:latin typeface="Segoe UI" pitchFamily="34" charset="0"/>
                <a:ea typeface="Segoe UI" pitchFamily="34" charset="-122"/>
                <a:cs typeface="Segoe UI" pitchFamily="34" charset="-120"/>
              </a:rPr>
              <a:t>Giao đơn vị nghiệp vụ thẩm định nội dung kho dữ liệu</a:t>
            </a:r>
            <a:endParaRPr lang="en-US" sz="1700" dirty="0"/>
          </a:p>
          <a:p>
            <a:pPr marL="342900" indent="-342900">
              <a:spcAft>
                <a:spcPts val="500"/>
              </a:spcAft>
              <a:buSzPct val="100000"/>
              <a:buChar char="•"/>
            </a:pPr>
            <a:r>
              <a:rPr lang="en-US" sz="1700" b="1" dirty="0">
                <a:solidFill>
                  <a:srgbClr val="FFFFFF"/>
                </a:solidFill>
                <a:latin typeface="Segoe UI" pitchFamily="34" charset="0"/>
                <a:ea typeface="Segoe UI" pitchFamily="34" charset="-122"/>
                <a:cs typeface="Segoe UI" pitchFamily="34" charset="-120"/>
              </a:rPr>
              <a:t>Bố trí cán bộ CNTT và kinh phí duy trì hạ tầng hằng năm</a:t>
            </a:r>
            <a:endParaRPr lang="en-US" sz="1700" dirty="0"/>
          </a:p>
        </p:txBody>
      </p:sp>
      <p:sp>
        <p:nvSpPr>
          <p:cNvPr id="12" name="Text 7"/>
          <p:cNvSpPr/>
          <p:nvPr/>
        </p:nvSpPr>
        <p:spPr>
          <a:xfrm>
            <a:off x="640080" y="6263640"/>
            <a:ext cx="10881360" cy="365760"/>
          </a:xfrm>
          <a:prstGeom prst="rect">
            <a:avLst/>
          </a:prstGeom>
          <a:noFill/>
          <a:ln/>
        </p:spPr>
        <p:txBody>
          <a:bodyPr wrap="square" lIns="0" tIns="0" rIns="0" bIns="0" rtlCol="0" anchor="ctr"/>
          <a:lstStyle/>
          <a:p>
            <a:pPr algn="r" indent="0" marL="0">
              <a:buNone/>
            </a:pPr>
            <a:r>
              <a:rPr lang="en-US" sz="1600" i="1" dirty="0">
                <a:solidFill>
                  <a:srgbClr val="DBEAFE"/>
                </a:solidFill>
                <a:latin typeface="Segoe UI" pitchFamily="34" charset="0"/>
                <a:ea typeface="Segoe UI" pitchFamily="34" charset="-122"/>
                <a:cs typeface="Segoe UI" pitchFamily="34" charset="-120"/>
              </a:rPr>
              <a:t>Xin trân trọng cảm ơn các đồng chí Lãnh đạo!</a:t>
            </a:r>
            <a:endParaRPr lang="en-US" sz="1600" dirty="0"/>
          </a:p>
        </p:txBody>
      </p:sp>
    </p:spTree>
  </p:cSld>
  <p:clrMapOvr>
    <a:masterClrMapping/>
  </p:clrMapOvr>
  <p:transition xmlns:p14="http://schemas.microsoft.com/office/powerpoint/2010/main" spd="med" p14:dur="45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Bản đồ Công an số tỉnh Phú Thọ</dc:title>
  <dc:subject>PptxGenJS Presentation</dc:subject>
  <dc:creator>Câu lạc bộ sáng tạo</dc:creator>
  <cp:lastModifiedBy>Câu lạc bộ sáng tạo</cp:lastModifiedBy>
  <cp:revision>1</cp:revision>
  <dcterms:created xsi:type="dcterms:W3CDTF">2026-07-21T02:05:59Z</dcterms:created>
  <dcterms:modified xsi:type="dcterms:W3CDTF">2026-07-21T02:05:59Z</dcterms:modified>
</cp:coreProperties>
</file>