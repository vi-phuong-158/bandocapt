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các đồng chí Lãnh đạo Công an tỉnh, hôm nay tôi xin đại diện trình bày công trình ra mắt Câu lạc bộ sáng tạo: Bản đồ Công an số tỉnh Phú Thọ. Xin phép bắt đầu bài trình bày bằng một thực tế hằng ngày mà tất cả chúng ta đều gặp.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Hàng ngàn giờ bị lãng phí mỗi năm. Người dân thì loay hoay tìm đúng trụ sở, mòn mỏi đi lại vì chuẩn bị sai thủ tục. Còn cán bộ thì quá tải vì phải trả lời những câu hỏi giống hệt nhau ngày này qua ngày khác. Đó là nỗi đau thực sự.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Chúng tôi thường xuyên nghe người dân than phiền: Giá như có ai đó hướng dẫn chính xác trước khi đến. Chính lời than phiền này đã thôi thúc Câu lạc bộ Sáng tạo hành động.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Và đó là lý do Bản đồ Công an số ra đời. Nó không chỉ là một cái bản đồ khô khan. Nó là sự kết hợp giữa bản đồ định vị chính xác mọi trụ sở, và một Trợ lý ảo AI hiểu luật, túc trực 24/7 để tư vấn thủ tục cho dân.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Nhưng thưa các đồng chí, dùng AI thì sợ nhất là AI bịa chuyện. Tôi xin khẳng định: AI của chúng tôi KHÔNG BAO GIỜ nói dối. Nó được xây dựng trên công nghệ RAG, chỉ được phép trả lời dựa trên văn bản quy phạm pháp luật và luôn có trích dẫn nguồn rõ ràng.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cực kỳ thân thiện với người dân địa phương qua giao diện điện thoại. Ngoài ra, để hỗ trợ hội nhập, nó còn bổ sung tính năng đa ngôn ngữ. Về phía cán bộ, việc quản trị cũng cực kỳ đơn giản qua Google Sheets.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vận hành, dự án đòi hỏi chi phí đầu tư hạ tầng máy chủ và API. Tuy nhiên, sự đánh đổi này là hoàn toàn xứng đáng. Một khoản đầu tư mang lại lợi ích cho hàng vạn người, giúp người dân tiết kiệm thời gian, giảm áp lực cực lớn cho cán bộ trực 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các đồng chí Lãnh đạo, đây không chỉ là một phần mềm, đây là viên gạch góp phần xây dựng hình ảnh chính quyền số gần dân. Chúng tôi kính đề nghị Lãnh đạo Công an tỉnh cho phép nhân rộng toàn tỉnh và cấp kinh phí duy trì hạ tầng để phục vụ nhân dân lâu dài. Xin trân trọng cảm 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A8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14000"/>
          </a:blip>
          <a:stretch>
            <a:fillRect/>
          </a:stretch>
        </p:blipFill>
        <p:spPr>
          <a:xfrm>
            <a:off x="8869680" y="914400"/>
            <a:ext cx="4754880" cy="4754880"/>
          </a:xfrm>
          <a:prstGeom prst="rect">
            <a:avLst/>
          </a:prstGeom>
        </p:spPr>
      </p:pic>
      <p:sp>
        <p:nvSpPr>
          <p:cNvPr id="3" name="Text 0"/>
          <p:cNvSpPr/>
          <p:nvPr/>
        </p:nvSpPr>
        <p:spPr>
          <a:xfrm>
            <a:off x="640080" y="1051560"/>
            <a:ext cx="8686800" cy="365760"/>
          </a:xfrm>
          <a:prstGeom prst="rect">
            <a:avLst/>
          </a:prstGeom>
          <a:noFill/>
          <a:ln/>
        </p:spPr>
        <p:txBody>
          <a:bodyPr wrap="square" lIns="0" tIns="0" rIns="0" bIns="0" rtlCol="0" anchor="ctr"/>
          <a:lstStyle/>
          <a:p>
            <a:pPr indent="0" marL="0">
              <a:buNone/>
            </a:pPr>
            <a:r>
              <a:rPr lang="en-US" sz="1400" b="1" spc="150" kern="0" dirty="0">
                <a:solidFill>
                  <a:srgbClr val="DBEAFE"/>
                </a:solidFill>
                <a:latin typeface="Segoe UI" pitchFamily="34" charset="0"/>
                <a:ea typeface="Segoe UI" pitchFamily="34" charset="-122"/>
                <a:cs typeface="Segoe UI" pitchFamily="34" charset="-120"/>
              </a:rPr>
              <a:t>CÔNG TRÌNH CÂU LẠC BỘ SÁNG TẠO</a:t>
            </a:r>
            <a:endParaRPr lang="en-US" sz="1400" dirty="0"/>
          </a:p>
        </p:txBody>
      </p:sp>
      <p:sp>
        <p:nvSpPr>
          <p:cNvPr id="4" name="Text 1"/>
          <p:cNvSpPr/>
          <p:nvPr/>
        </p:nvSpPr>
        <p:spPr>
          <a:xfrm>
            <a:off x="640080" y="1600200"/>
            <a:ext cx="10058400" cy="1097280"/>
          </a:xfrm>
          <a:prstGeom prst="rect">
            <a:avLst/>
          </a:prstGeom>
          <a:noFill/>
          <a:ln/>
        </p:spPr>
        <p:txBody>
          <a:bodyPr wrap="square" lIns="0" tIns="0" rIns="0" bIns="0" rtlCol="0" anchor="ctr"/>
          <a:lstStyle/>
          <a:p>
            <a:pPr indent="0" marL="0">
              <a:buNone/>
            </a:pPr>
            <a:r>
              <a:rPr lang="en-US" sz="5400" b="1" dirty="0">
                <a:solidFill>
                  <a:srgbClr val="FFFFFF"/>
                </a:solidFill>
                <a:latin typeface="Segoe UI" pitchFamily="34" charset="0"/>
                <a:ea typeface="Segoe UI" pitchFamily="34" charset="-122"/>
                <a:cs typeface="Segoe UI" pitchFamily="34" charset="-120"/>
              </a:rPr>
              <a:t>BẢN ĐỒ CÔNG AN SỐ</a:t>
            </a:r>
            <a:endParaRPr lang="en-US" sz="5400" dirty="0"/>
          </a:p>
        </p:txBody>
      </p:sp>
      <p:sp>
        <p:nvSpPr>
          <p:cNvPr id="5" name="Text 2"/>
          <p:cNvSpPr/>
          <p:nvPr/>
        </p:nvSpPr>
        <p:spPr>
          <a:xfrm>
            <a:off x="640080" y="2880360"/>
            <a:ext cx="10058400" cy="640080"/>
          </a:xfrm>
          <a:prstGeom prst="rect">
            <a:avLst/>
          </a:prstGeom>
          <a:noFill/>
          <a:ln/>
        </p:spPr>
        <p:txBody>
          <a:bodyPr wrap="square" lIns="0" tIns="0" rIns="0" bIns="0" rtlCol="0" anchor="ctr"/>
          <a:lstStyle/>
          <a:p>
            <a:pPr indent="0" marL="0">
              <a:buNone/>
            </a:pPr>
            <a:r>
              <a:rPr lang="en-US" sz="2300" dirty="0">
                <a:solidFill>
                  <a:srgbClr val="EFF6FF"/>
                </a:solidFill>
                <a:latin typeface="Segoe UI" pitchFamily="34" charset="0"/>
                <a:ea typeface="Segoe UI" pitchFamily="34" charset="-122"/>
                <a:cs typeface="Segoe UI" pitchFamily="34" charset="-120"/>
              </a:rPr>
              <a:t>Tỉnh Phú Thọ</a:t>
            </a:r>
            <a:endParaRPr lang="en-US" sz="2300" dirty="0"/>
          </a:p>
        </p:txBody>
      </p:sp>
      <p:sp>
        <p:nvSpPr>
          <p:cNvPr id="6" name="Shape 3"/>
          <p:cNvSpPr/>
          <p:nvPr/>
        </p:nvSpPr>
        <p:spPr>
          <a:xfrm>
            <a:off x="640080" y="3749040"/>
            <a:ext cx="2171700" cy="475488"/>
          </a:xfrm>
          <a:prstGeom prst="roundRect">
            <a:avLst>
              <a:gd name="adj" fmla="val 50000"/>
            </a:avLst>
          </a:prstGeom>
          <a:solidFill>
            <a:srgbClr val="1D4ED8"/>
          </a:solidFill>
          <a:ln/>
        </p:spPr>
      </p:sp>
      <p:sp>
        <p:nvSpPr>
          <p:cNvPr id="7" name="Text 4"/>
          <p:cNvSpPr/>
          <p:nvPr/>
        </p:nvSpPr>
        <p:spPr>
          <a:xfrm>
            <a:off x="640080" y="3749040"/>
            <a:ext cx="2171700"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Dành cho công dân</a:t>
            </a:r>
            <a:endParaRPr lang="en-US" sz="1400" dirty="0"/>
          </a:p>
        </p:txBody>
      </p:sp>
      <p:sp>
        <p:nvSpPr>
          <p:cNvPr id="8" name="Shape 5"/>
          <p:cNvSpPr/>
          <p:nvPr/>
        </p:nvSpPr>
        <p:spPr>
          <a:xfrm>
            <a:off x="3040380" y="3749040"/>
            <a:ext cx="2171700" cy="475488"/>
          </a:xfrm>
          <a:prstGeom prst="roundRect">
            <a:avLst>
              <a:gd name="adj" fmla="val 50000"/>
            </a:avLst>
          </a:prstGeom>
          <a:solidFill>
            <a:srgbClr val="1D4ED8"/>
          </a:solidFill>
          <a:ln/>
        </p:spPr>
      </p:sp>
      <p:sp>
        <p:nvSpPr>
          <p:cNvPr id="9" name="Text 6"/>
          <p:cNvSpPr/>
          <p:nvPr/>
        </p:nvSpPr>
        <p:spPr>
          <a:xfrm>
            <a:off x="3040380" y="3749040"/>
            <a:ext cx="2171700"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AI Tư vấn tự động</a:t>
            </a:r>
            <a:endParaRPr lang="en-US" sz="1400" dirty="0"/>
          </a:p>
        </p:txBody>
      </p:sp>
      <p:sp>
        <p:nvSpPr>
          <p:cNvPr id="10" name="Shape 7"/>
          <p:cNvSpPr/>
          <p:nvPr/>
        </p:nvSpPr>
        <p:spPr>
          <a:xfrm>
            <a:off x="5440680" y="3749040"/>
            <a:ext cx="2066544" cy="475488"/>
          </a:xfrm>
          <a:prstGeom prst="roundRect">
            <a:avLst>
              <a:gd name="adj" fmla="val 50000"/>
            </a:avLst>
          </a:prstGeom>
          <a:solidFill>
            <a:srgbClr val="1D4ED8"/>
          </a:solidFill>
          <a:ln/>
        </p:spPr>
      </p:sp>
      <p:sp>
        <p:nvSpPr>
          <p:cNvPr id="11" name="Text 8"/>
          <p:cNvSpPr/>
          <p:nvPr/>
        </p:nvSpPr>
        <p:spPr>
          <a:xfrm>
            <a:off x="5440680" y="3749040"/>
            <a:ext cx="2066544"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Bản đồ tương tác</a:t>
            </a:r>
            <a:endParaRPr lang="en-US" sz="1400" dirty="0"/>
          </a:p>
        </p:txBody>
      </p:sp>
      <p:sp>
        <p:nvSpPr>
          <p:cNvPr id="12" name="Text 9"/>
          <p:cNvSpPr/>
          <p:nvPr/>
        </p:nvSpPr>
        <p:spPr>
          <a:xfrm>
            <a:off x="640080" y="5806440"/>
            <a:ext cx="10058400" cy="365760"/>
          </a:xfrm>
          <a:prstGeom prst="rect">
            <a:avLst/>
          </a:prstGeom>
          <a:noFill/>
          <a:ln/>
        </p:spPr>
        <p:txBody>
          <a:bodyPr wrap="square" lIns="0" tIns="0" rIns="0" bIns="0" rtlCol="0" anchor="ctr"/>
          <a:lstStyle/>
          <a:p>
            <a:pPr indent="0" marL="0">
              <a:buNone/>
            </a:pPr>
            <a:r>
              <a:rPr lang="en-US" sz="1500" dirty="0">
                <a:solidFill>
                  <a:srgbClr val="DBEAFE"/>
                </a:solidFill>
                <a:latin typeface="Segoe UI" pitchFamily="34" charset="0"/>
                <a:ea typeface="Segoe UI" pitchFamily="34" charset="-122"/>
                <a:cs typeface="Segoe UI" pitchFamily="34" charset="-120"/>
              </a:rPr>
              <a:t>Tác giả: </a:t>
            </a:r>
            <a:pPr indent="0" marL="0">
              <a:buNone/>
            </a:pPr>
            <a:r>
              <a:rPr lang="en-US" sz="1500" b="1" dirty="0">
                <a:solidFill>
                  <a:srgbClr val="FFFFFF"/>
                </a:solidFill>
                <a:latin typeface="Segoe UI" pitchFamily="34" charset="0"/>
                <a:ea typeface="Segoe UI" pitchFamily="34" charset="-122"/>
                <a:cs typeface="Segoe UI" pitchFamily="34" charset="-120"/>
              </a:rPr>
              <a:t>Câu lạc bộ sáng tạo</a:t>
            </a:r>
            <a:endParaRPr lang="en-US" sz="1500" dirty="0"/>
          </a:p>
        </p:txBody>
      </p:sp>
    </p:spTree>
  </p:cSld>
  <p:clrMapOvr>
    <a:masterClrMapping/>
  </p:clrMapOvr>
  <p:transition xmlns:p14="http://schemas.microsoft.com/office/powerpoint/2010/main" spd="med" p14:dur="450">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3A8A"/>
        </a:solidFill>
      </p:bgPr>
    </p:bg>
    <p:spTree>
      <p:nvGrpSpPr>
        <p:cNvPr id="1" name=""/>
        <p:cNvGrpSpPr/>
        <p:nvPr/>
      </p:nvGrpSpPr>
      <p:grpSpPr>
        <a:xfrm>
          <a:off x="0" y="0"/>
          <a:ext cx="0" cy="0"/>
          <a:chOff x="0" y="0"/>
          <a:chExt cx="0" cy="0"/>
        </a:xfrm>
      </p:grpSpPr>
      <p:sp>
        <p:nvSpPr>
          <p:cNvPr id="2" name="Text 0"/>
          <p:cNvSpPr/>
          <p:nvPr/>
        </p:nvSpPr>
        <p:spPr>
          <a:xfrm>
            <a:off x="640080" y="457200"/>
            <a:ext cx="10881360" cy="320040"/>
          </a:xfrm>
          <a:prstGeom prst="rect">
            <a:avLst/>
          </a:prstGeom>
          <a:noFill/>
          <a:ln/>
        </p:spPr>
        <p:txBody>
          <a:bodyPr wrap="square" lIns="0" tIns="0" rIns="0" bIns="0" rtlCol="0" anchor="ctr"/>
          <a:lstStyle/>
          <a:p>
            <a:pPr indent="0" marL="0">
              <a:buNone/>
            </a:pPr>
            <a:r>
              <a:rPr lang="en-US" sz="1300" b="1" spc="200" kern="0" dirty="0">
                <a:solidFill>
                  <a:srgbClr val="DBEAFE"/>
                </a:solidFill>
                <a:latin typeface="Segoe UI" pitchFamily="34" charset="0"/>
                <a:ea typeface="Segoe UI" pitchFamily="34" charset="-122"/>
                <a:cs typeface="Segoe UI" pitchFamily="34" charset="-120"/>
              </a:rPr>
              <a:t>THỰC TRẠNG</a:t>
            </a:r>
            <a:endParaRPr lang="en-US" sz="1300" dirty="0"/>
          </a:p>
        </p:txBody>
      </p:sp>
      <p:sp>
        <p:nvSpPr>
          <p:cNvPr id="3" name="Text 1"/>
          <p:cNvSpPr/>
          <p:nvPr/>
        </p:nvSpPr>
        <p:spPr>
          <a:xfrm>
            <a:off x="640080" y="768096"/>
            <a:ext cx="10881360" cy="777240"/>
          </a:xfrm>
          <a:prstGeom prst="rect">
            <a:avLst/>
          </a:prstGeom>
          <a:noFill/>
          <a:ln/>
        </p:spPr>
        <p:txBody>
          <a:bodyPr wrap="square" lIns="0" tIns="0" rIns="0" bIns="0" rtlCol="0" anchor="t"/>
          <a:lstStyle/>
          <a:p>
            <a:pPr indent="0" marL="0">
              <a:buNone/>
            </a:pPr>
            <a:endParaRPr lang="en-US" sz="2900" dirty="0"/>
          </a:p>
        </p:txBody>
      </p:sp>
      <p:sp>
        <p:nvSpPr>
          <p:cNvPr id="4" name="Text 2"/>
          <p:cNvSpPr/>
          <p:nvPr/>
        </p:nvSpPr>
        <p:spPr>
          <a:xfrm>
            <a:off x="548640" y="1828800"/>
            <a:ext cx="5852160" cy="1554480"/>
          </a:xfrm>
          <a:prstGeom prst="rect">
            <a:avLst/>
          </a:prstGeom>
          <a:noFill/>
          <a:ln/>
        </p:spPr>
        <p:txBody>
          <a:bodyPr wrap="square" lIns="0" tIns="0" rIns="0" bIns="0" rtlCol="0" anchor="ctr"/>
          <a:lstStyle/>
          <a:p>
            <a:pPr algn="ctr" indent="0" marL="0">
              <a:buNone/>
            </a:pPr>
            <a:r>
              <a:rPr lang="en-US" sz="9000" b="1" dirty="0">
                <a:solidFill>
                  <a:srgbClr val="DBEAFE"/>
                </a:solidFill>
                <a:latin typeface="Segoe UI" pitchFamily="34" charset="0"/>
                <a:ea typeface="Segoe UI" pitchFamily="34" charset="-122"/>
                <a:cs typeface="Segoe UI" pitchFamily="34" charset="-120"/>
              </a:rPr>
              <a:t>Hàng ngàn</a:t>
            </a:r>
            <a:endParaRPr lang="en-US" sz="9000" dirty="0"/>
          </a:p>
        </p:txBody>
      </p:sp>
      <p:sp>
        <p:nvSpPr>
          <p:cNvPr id="5" name="Text 3"/>
          <p:cNvSpPr/>
          <p:nvPr/>
        </p:nvSpPr>
        <p:spPr>
          <a:xfrm>
            <a:off x="640080" y="3383280"/>
            <a:ext cx="5669280" cy="822960"/>
          </a:xfrm>
          <a:prstGeom prst="rect">
            <a:avLst/>
          </a:prstGeom>
          <a:noFill/>
          <a:ln/>
        </p:spPr>
        <p:txBody>
          <a:bodyPr wrap="square" lIns="0" tIns="0" rIns="0" bIns="0" rtlCol="0" anchor="ctr"/>
          <a:lstStyle/>
          <a:p>
            <a:pPr algn="ctr" indent="0" marL="0">
              <a:buNone/>
            </a:pPr>
            <a:r>
              <a:rPr lang="en-US" sz="1800" dirty="0">
                <a:solidFill>
                  <a:srgbClr val="EFF6FF"/>
                </a:solidFill>
                <a:latin typeface="Segoe UI" pitchFamily="34" charset="0"/>
                <a:ea typeface="Segoe UI" pitchFamily="34" charset="-122"/>
                <a:cs typeface="Segoe UI" pitchFamily="34" charset="-120"/>
              </a:rPr>
              <a:t>Giờ bị lãng phí mỗi năm</a:t>
            </a:r>
            <a:endParaRPr lang="en-US" sz="1800" dirty="0"/>
          </a:p>
        </p:txBody>
      </p:sp>
      <p:sp>
        <p:nvSpPr>
          <p:cNvPr id="6" name="Shape 4"/>
          <p:cNvSpPr/>
          <p:nvPr/>
        </p:nvSpPr>
        <p:spPr>
          <a:xfrm>
            <a:off x="6492240" y="2057400"/>
            <a:ext cx="5029200" cy="868680"/>
          </a:xfrm>
          <a:prstGeom prst="roundRect">
            <a:avLst>
              <a:gd name="adj" fmla="val 10526"/>
            </a:avLst>
          </a:prstGeom>
          <a:solidFill>
            <a:srgbClr val="0E4A44"/>
          </a:solidFill>
          <a:ln w="12700">
            <a:solidFill>
              <a:srgbClr val="059669"/>
            </a:solidFill>
            <a:prstDash val="solid"/>
          </a:ln>
        </p:spPr>
      </p:sp>
      <p:sp>
        <p:nvSpPr>
          <p:cNvPr id="7" name="Shape 5"/>
          <p:cNvSpPr/>
          <p:nvPr/>
        </p:nvSpPr>
        <p:spPr>
          <a:xfrm>
            <a:off x="6766560" y="2221992"/>
            <a:ext cx="548640" cy="548640"/>
          </a:xfrm>
          <a:prstGeom prst="ellipse">
            <a:avLst/>
          </a:prstGeom>
          <a:solidFill>
            <a:srgbClr val="059669"/>
          </a:solidFill>
          <a:ln/>
          <a:effectLst>
            <a:outerShdw sx="100000" sy="100000" kx="0" ky="0" algn="bl" rotWithShape="0" blurRad="114300" dist="38100" dir="8100000">
              <a:srgbClr val="1e40af">
                <a:alpha val="20000"/>
              </a:srgbClr>
            </a:outerShdw>
          </a:effectLst>
        </p:spPr>
      </p:sp>
      <p:pic>
        <p:nvPicPr>
          <p:cNvPr id="8" name="Image 0" descr="preencoded.png">    </p:cNvPr>
          <p:cNvPicPr>
            <a:picLocks noChangeAspect="1"/>
          </p:cNvPicPr>
          <p:nvPr/>
        </p:nvPicPr>
        <p:blipFill>
          <a:blip r:embed="rId1"/>
          <a:stretch>
            <a:fillRect/>
          </a:stretch>
        </p:blipFill>
        <p:spPr>
          <a:xfrm>
            <a:off x="6914693" y="2370125"/>
            <a:ext cx="252374" cy="252374"/>
          </a:xfrm>
          <a:prstGeom prst="rect">
            <a:avLst/>
          </a:prstGeom>
        </p:spPr>
      </p:pic>
      <p:sp>
        <p:nvSpPr>
          <p:cNvPr id="9" name="Text 6"/>
          <p:cNvSpPr/>
          <p:nvPr/>
        </p:nvSpPr>
        <p:spPr>
          <a:xfrm>
            <a:off x="7498080" y="2057400"/>
            <a:ext cx="3886200" cy="868680"/>
          </a:xfrm>
          <a:prstGeom prst="rect">
            <a:avLst/>
          </a:prstGeom>
          <a:noFill/>
          <a:ln/>
        </p:spPr>
        <p:txBody>
          <a:bodyPr wrap="square" lIns="0" tIns="0" rIns="0" bIns="0"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Người dân loay hoay tìm địa chỉ đúng</a:t>
            </a:r>
            <a:endParaRPr lang="en-US" sz="1600" dirty="0"/>
          </a:p>
        </p:txBody>
      </p:sp>
      <p:sp>
        <p:nvSpPr>
          <p:cNvPr id="10" name="Shape 7"/>
          <p:cNvSpPr/>
          <p:nvPr/>
        </p:nvSpPr>
        <p:spPr>
          <a:xfrm>
            <a:off x="6492240" y="3108960"/>
            <a:ext cx="5029200" cy="868680"/>
          </a:xfrm>
          <a:prstGeom prst="roundRect">
            <a:avLst>
              <a:gd name="adj" fmla="val 10526"/>
            </a:avLst>
          </a:prstGeom>
          <a:solidFill>
            <a:srgbClr val="0E4A44"/>
          </a:solidFill>
          <a:ln w="12700">
            <a:solidFill>
              <a:srgbClr val="059669"/>
            </a:solidFill>
            <a:prstDash val="solid"/>
          </a:ln>
        </p:spPr>
      </p:sp>
      <p:sp>
        <p:nvSpPr>
          <p:cNvPr id="11" name="Shape 8"/>
          <p:cNvSpPr/>
          <p:nvPr/>
        </p:nvSpPr>
        <p:spPr>
          <a:xfrm>
            <a:off x="6766560" y="3273552"/>
            <a:ext cx="548640" cy="548640"/>
          </a:xfrm>
          <a:prstGeom prst="ellipse">
            <a:avLst/>
          </a:prstGeom>
          <a:solidFill>
            <a:srgbClr val="059669"/>
          </a:solidFill>
          <a:ln/>
          <a:effectLst>
            <a:outerShdw sx="100000" sy="100000" kx="0" ky="0" algn="bl" rotWithShape="0" blurRad="114300" dist="38100" dir="8100000">
              <a:srgbClr val="1e40af">
                <a:alpha val="20000"/>
              </a:srgbClr>
            </a:outerShdw>
          </a:effectLst>
        </p:spPr>
      </p:sp>
      <p:pic>
        <p:nvPicPr>
          <p:cNvPr id="12" name="Image 1" descr="preencoded.png">    </p:cNvPr>
          <p:cNvPicPr>
            <a:picLocks noChangeAspect="1"/>
          </p:cNvPicPr>
          <p:nvPr/>
        </p:nvPicPr>
        <p:blipFill>
          <a:blip r:embed="rId2"/>
          <a:stretch>
            <a:fillRect/>
          </a:stretch>
        </p:blipFill>
        <p:spPr>
          <a:xfrm>
            <a:off x="6914693" y="3421685"/>
            <a:ext cx="252374" cy="252374"/>
          </a:xfrm>
          <a:prstGeom prst="rect">
            <a:avLst/>
          </a:prstGeom>
        </p:spPr>
      </p:pic>
      <p:sp>
        <p:nvSpPr>
          <p:cNvPr id="13" name="Text 9"/>
          <p:cNvSpPr/>
          <p:nvPr/>
        </p:nvSpPr>
        <p:spPr>
          <a:xfrm>
            <a:off x="7498080" y="3108960"/>
            <a:ext cx="3886200" cy="868680"/>
          </a:xfrm>
          <a:prstGeom prst="rect">
            <a:avLst/>
          </a:prstGeom>
          <a:noFill/>
          <a:ln/>
        </p:spPr>
        <p:txBody>
          <a:bodyPr wrap="square" lIns="0" tIns="0" rIns="0" bIns="0"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Đi lại nhiều lần vì sai thủ tục</a:t>
            </a:r>
            <a:endParaRPr lang="en-US" sz="1600" dirty="0"/>
          </a:p>
        </p:txBody>
      </p:sp>
      <p:sp>
        <p:nvSpPr>
          <p:cNvPr id="14" name="Shape 10"/>
          <p:cNvSpPr/>
          <p:nvPr/>
        </p:nvSpPr>
        <p:spPr>
          <a:xfrm>
            <a:off x="6492240" y="4160520"/>
            <a:ext cx="5029200" cy="868680"/>
          </a:xfrm>
          <a:prstGeom prst="roundRect">
            <a:avLst>
              <a:gd name="adj" fmla="val 10526"/>
            </a:avLst>
          </a:prstGeom>
          <a:solidFill>
            <a:srgbClr val="0E4A44"/>
          </a:solidFill>
          <a:ln w="12700">
            <a:solidFill>
              <a:srgbClr val="059669"/>
            </a:solidFill>
            <a:prstDash val="solid"/>
          </a:ln>
        </p:spPr>
      </p:sp>
      <p:sp>
        <p:nvSpPr>
          <p:cNvPr id="15" name="Shape 11"/>
          <p:cNvSpPr/>
          <p:nvPr/>
        </p:nvSpPr>
        <p:spPr>
          <a:xfrm>
            <a:off x="6766560" y="4325112"/>
            <a:ext cx="548640" cy="548640"/>
          </a:xfrm>
          <a:prstGeom prst="ellipse">
            <a:avLst/>
          </a:prstGeom>
          <a:solidFill>
            <a:srgbClr val="059669"/>
          </a:solidFill>
          <a:ln/>
          <a:effectLst>
            <a:outerShdw sx="100000" sy="100000" kx="0" ky="0" algn="bl" rotWithShape="0" blurRad="114300" dist="38100" dir="8100000">
              <a:srgbClr val="1e40af">
                <a:alpha val="20000"/>
              </a:srgbClr>
            </a:outerShdw>
          </a:effectLst>
        </p:spPr>
      </p:sp>
      <p:pic>
        <p:nvPicPr>
          <p:cNvPr id="16" name="Image 2" descr="preencoded.png">    </p:cNvPr>
          <p:cNvPicPr>
            <a:picLocks noChangeAspect="1"/>
          </p:cNvPicPr>
          <p:nvPr/>
        </p:nvPicPr>
        <p:blipFill>
          <a:blip r:embed="rId3"/>
          <a:stretch>
            <a:fillRect/>
          </a:stretch>
        </p:blipFill>
        <p:spPr>
          <a:xfrm>
            <a:off x="6914693" y="4473245"/>
            <a:ext cx="252374" cy="252374"/>
          </a:xfrm>
          <a:prstGeom prst="rect">
            <a:avLst/>
          </a:prstGeom>
        </p:spPr>
      </p:pic>
      <p:sp>
        <p:nvSpPr>
          <p:cNvPr id="17" name="Text 12"/>
          <p:cNvSpPr/>
          <p:nvPr/>
        </p:nvSpPr>
        <p:spPr>
          <a:xfrm>
            <a:off x="7498080" y="4160520"/>
            <a:ext cx="3886200" cy="868680"/>
          </a:xfrm>
          <a:prstGeom prst="rect">
            <a:avLst/>
          </a:prstGeom>
          <a:noFill/>
          <a:ln/>
        </p:spPr>
        <p:txBody>
          <a:bodyPr wrap="square" lIns="0" tIns="0" rIns="0" bIns="0"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Cán bộ quá tải vì trả lời lặp lại</a:t>
            </a:r>
            <a:endParaRPr lang="en-US" sz="1600" dirty="0"/>
          </a:p>
        </p:txBody>
      </p:sp>
      <p:sp>
        <p:nvSpPr>
          <p:cNvPr id="18" name="Text 13"/>
          <p:cNvSpPr/>
          <p:nvPr/>
        </p:nvSpPr>
        <p:spPr>
          <a:xfrm>
            <a:off x="640080" y="5623560"/>
            <a:ext cx="10881360" cy="640080"/>
          </a:xfrm>
          <a:prstGeom prst="rect">
            <a:avLst/>
          </a:prstGeom>
          <a:noFill/>
          <a:ln/>
        </p:spPr>
        <p:txBody>
          <a:bodyPr wrap="square" lIns="0" tIns="0" rIns="0" bIns="0" rtlCol="0" anchor="ctr"/>
          <a:lstStyle/>
          <a:p>
            <a:pPr indent="0" marL="0">
              <a:buNone/>
            </a:pPr>
            <a:r>
              <a:rPr lang="en-US" sz="1600" i="1" dirty="0">
                <a:solidFill>
                  <a:srgbClr val="DBEAFE"/>
                </a:solidFill>
                <a:latin typeface="Segoe UI" pitchFamily="34" charset="0"/>
                <a:ea typeface="Segoe UI" pitchFamily="34" charset="-122"/>
                <a:cs typeface="Segoe UI" pitchFamily="34" charset="-120"/>
              </a:rPr>
              <a:t>Đó là nỗi đau chung của cả người dân và cán bộ tiếp dân.</a:t>
            </a:r>
            <a:endParaRPr lang="en-US" sz="1600" dirty="0"/>
          </a:p>
        </p:txBody>
      </p:sp>
    </p:spTree>
  </p:cSld>
  <p:clrMapOvr>
    <a:masterClrMapping/>
  </p:clrMapOvr>
  <p:transition xmlns:p14="http://schemas.microsoft.com/office/powerpoint/2010/main" spd="med" p14:dur="450">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286000" y="2286000"/>
            <a:ext cx="91440" cy="1828800"/>
          </a:xfrm>
          <a:prstGeom prst="rect">
            <a:avLst/>
          </a:prstGeom>
          <a:solidFill>
            <a:srgbClr val="1D4ED8"/>
          </a:solidFill>
          <a:ln/>
        </p:spPr>
      </p:sp>
      <p:sp>
        <p:nvSpPr>
          <p:cNvPr id="3" name="Text 1"/>
          <p:cNvSpPr/>
          <p:nvPr/>
        </p:nvSpPr>
        <p:spPr>
          <a:xfrm>
            <a:off x="2743200" y="2286000"/>
            <a:ext cx="8229600" cy="1371600"/>
          </a:xfrm>
          <a:prstGeom prst="rect">
            <a:avLst/>
          </a:prstGeom>
          <a:noFill/>
          <a:ln/>
        </p:spPr>
        <p:txBody>
          <a:bodyPr wrap="square" lIns="0" tIns="0" rIns="0" bIns="0" rtlCol="0" anchor="t"/>
          <a:lstStyle/>
          <a:p>
            <a:pPr indent="0" marL="0">
              <a:buNone/>
            </a:pPr>
            <a:r>
              <a:rPr lang="en-US" sz="3200" i="1" dirty="0">
                <a:solidFill>
                  <a:srgbClr val="0F172A"/>
                </a:solidFill>
                <a:latin typeface="Segoe UI" pitchFamily="34" charset="0"/>
                <a:ea typeface="Segoe UI" pitchFamily="34" charset="-122"/>
                <a:cs typeface="Segoe UI" pitchFamily="34" charset="-120"/>
              </a:rPr>
              <a:t>"Giá như có ai đó hướng dẫn chính xác</a:t>
            </a:r>
            <a:endParaRPr lang="en-US" sz="3200" dirty="0"/>
          </a:p>
          <a:p>
            <a:pPr indent="0" marL="0">
              <a:buNone/>
            </a:pPr>
            <a:r>
              <a:rPr lang="en-US" sz="3200" i="1" dirty="0">
                <a:solidFill>
                  <a:srgbClr val="0F172A"/>
                </a:solidFill>
                <a:latin typeface="Segoe UI" pitchFamily="34" charset="0"/>
                <a:ea typeface="Segoe UI" pitchFamily="34" charset="-122"/>
                <a:cs typeface="Segoe UI" pitchFamily="34" charset="-120"/>
              </a:rPr>
              <a:t>trước khi tôi đến làm thủ tục thì tốt biết mấy."</a:t>
            </a:r>
            <a:endParaRPr lang="en-US" sz="3200" dirty="0"/>
          </a:p>
        </p:txBody>
      </p:sp>
      <p:sp>
        <p:nvSpPr>
          <p:cNvPr id="4" name="Text 2"/>
          <p:cNvSpPr/>
          <p:nvPr/>
        </p:nvSpPr>
        <p:spPr>
          <a:xfrm>
            <a:off x="2743200" y="3840480"/>
            <a:ext cx="8229600" cy="457200"/>
          </a:xfrm>
          <a:prstGeom prst="rect">
            <a:avLst/>
          </a:prstGeom>
          <a:noFill/>
          <a:ln/>
        </p:spPr>
        <p:txBody>
          <a:bodyPr wrap="square" lIns="0" tIns="0" rIns="0" bIns="0" rtlCol="0" anchor="ctr"/>
          <a:lstStyle/>
          <a:p>
            <a:pPr indent="0" marL="0">
              <a:buNone/>
            </a:pPr>
            <a:r>
              <a:rPr lang="en-US" sz="2000" b="1" dirty="0">
                <a:solidFill>
                  <a:srgbClr val="334155"/>
                </a:solidFill>
                <a:latin typeface="Segoe UI" pitchFamily="34" charset="0"/>
                <a:ea typeface="Segoe UI" pitchFamily="34" charset="-122"/>
                <a:cs typeface="Segoe UI" pitchFamily="34" charset="-120"/>
              </a:rPr>
              <a:t>— Một người dân</a:t>
            </a:r>
            <a:endParaRPr lang="en-US" sz="2000" dirty="0"/>
          </a:p>
        </p:txBody>
      </p:sp>
    </p:spTree>
  </p:cSld>
  <p:clrMapOvr>
    <a:masterClrMapping/>
  </p:clrMapOvr>
  <p:transition xmlns:p14="http://schemas.microsoft.com/office/powerpoint/2010/main" spd="med" p14:dur="450">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881360" cy="320040"/>
          </a:xfrm>
          <a:prstGeom prst="rect">
            <a:avLst/>
          </a:prstGeom>
          <a:noFill/>
          <a:ln/>
        </p:spPr>
        <p:txBody>
          <a:bodyPr wrap="square" lIns="0" tIns="0" rIns="0" bIns="0" rtlCol="0" anchor="ctr"/>
          <a:lstStyle/>
          <a:p>
            <a:pPr indent="0" marL="0">
              <a:buNone/>
            </a:pPr>
            <a:r>
              <a:rPr lang="en-US" sz="1300" b="1" spc="200" kern="0" dirty="0">
                <a:solidFill>
                  <a:srgbClr val="1D4ED8"/>
                </a:solidFill>
                <a:latin typeface="Segoe UI" pitchFamily="34" charset="0"/>
                <a:ea typeface="Segoe UI" pitchFamily="34" charset="-122"/>
                <a:cs typeface="Segoe UI" pitchFamily="34" charset="-120"/>
              </a:rPr>
              <a:t>CÚ HÍCH GIẢI PHÁP</a:t>
            </a:r>
            <a:endParaRPr lang="en-US" sz="1300" dirty="0"/>
          </a:p>
        </p:txBody>
      </p:sp>
      <p:sp>
        <p:nvSpPr>
          <p:cNvPr id="3" name="Text 1"/>
          <p:cNvSpPr/>
          <p:nvPr/>
        </p:nvSpPr>
        <p:spPr>
          <a:xfrm>
            <a:off x="640080" y="768096"/>
            <a:ext cx="10881360" cy="777240"/>
          </a:xfrm>
          <a:prstGeom prst="rect">
            <a:avLst/>
          </a:prstGeom>
          <a:noFill/>
          <a:ln/>
        </p:spPr>
        <p:txBody>
          <a:bodyPr wrap="square" lIns="0" tIns="0" rIns="0" bIns="0" rtlCol="0" anchor="t"/>
          <a:lstStyle/>
          <a:p>
            <a:pPr indent="0" marL="0">
              <a:buNone/>
            </a:pPr>
            <a:r>
              <a:rPr lang="en-US" sz="2900" b="1" dirty="0">
                <a:solidFill>
                  <a:srgbClr val="0F172A"/>
                </a:solidFill>
                <a:latin typeface="Segoe UI" pitchFamily="34" charset="0"/>
                <a:ea typeface="Segoe UI" pitchFamily="34" charset="-122"/>
                <a:cs typeface="Segoe UI" pitchFamily="34" charset="-120"/>
              </a:rPr>
              <a:t>Bản đồ Công an số</a:t>
            </a:r>
            <a:endParaRPr lang="en-US" sz="2900" dirty="0"/>
          </a:p>
        </p:txBody>
      </p:sp>
      <p:sp>
        <p:nvSpPr>
          <p:cNvPr id="4" name="Shape 2"/>
          <p:cNvSpPr/>
          <p:nvPr/>
        </p:nvSpPr>
        <p:spPr>
          <a:xfrm>
            <a:off x="640080" y="1828800"/>
            <a:ext cx="5577840" cy="1783080"/>
          </a:xfrm>
          <a:prstGeom prst="roundRect">
            <a:avLst>
              <a:gd name="adj" fmla="val 5128"/>
            </a:avLst>
          </a:prstGeom>
          <a:solidFill>
            <a:srgbClr val="F8FAFC"/>
          </a:solidFill>
          <a:ln w="12700">
            <a:solidFill>
              <a:srgbClr val="E2E8F0"/>
            </a:solidFill>
            <a:prstDash val="solid"/>
          </a:ln>
          <a:effectLst>
            <a:outerShdw sx="100000" sy="100000" kx="0" ky="0" algn="bl" rotWithShape="0" blurRad="88900" dist="25400" dir="8100000">
              <a:srgbClr val="94A3B8">
                <a:alpha val="28000"/>
              </a:srgbClr>
            </a:outerShdw>
          </a:effectLst>
        </p:spPr>
      </p:sp>
      <p:sp>
        <p:nvSpPr>
          <p:cNvPr id="5" name="Shape 3"/>
          <p:cNvSpPr/>
          <p:nvPr/>
        </p:nvSpPr>
        <p:spPr>
          <a:xfrm>
            <a:off x="914400" y="2103120"/>
            <a:ext cx="777240" cy="777240"/>
          </a:xfrm>
          <a:prstGeom prst="ellipse">
            <a:avLst/>
          </a:prstGeom>
          <a:solidFill>
            <a:srgbClr val="1D4ED8"/>
          </a:solidFill>
          <a:ln/>
          <a:effectLst>
            <a:outerShdw sx="100000" sy="100000" kx="0" ky="0" algn="bl" rotWithShape="0" blurRad="114300" dist="38100" dir="8100000">
              <a:srgbClr val="1e40af">
                <a:alpha val="20000"/>
              </a:srgbClr>
            </a:outerShdw>
          </a:effectLst>
        </p:spPr>
      </p:sp>
      <p:pic>
        <p:nvPicPr>
          <p:cNvPr id="6" name="Image 0" descr="preencoded.png">    </p:cNvPr>
          <p:cNvPicPr>
            <a:picLocks noChangeAspect="1"/>
          </p:cNvPicPr>
          <p:nvPr/>
        </p:nvPicPr>
        <p:blipFill>
          <a:blip r:embed="rId1"/>
          <a:stretch>
            <a:fillRect/>
          </a:stretch>
        </p:blipFill>
        <p:spPr>
          <a:xfrm>
            <a:off x="1124255" y="2312975"/>
            <a:ext cx="357530" cy="357530"/>
          </a:xfrm>
          <a:prstGeom prst="rect">
            <a:avLst/>
          </a:prstGeom>
        </p:spPr>
      </p:pic>
      <p:sp>
        <p:nvSpPr>
          <p:cNvPr id="7" name="Text 4"/>
          <p:cNvSpPr/>
          <p:nvPr/>
        </p:nvSpPr>
        <p:spPr>
          <a:xfrm>
            <a:off x="1920240" y="2084832"/>
            <a:ext cx="4160520" cy="457200"/>
          </a:xfrm>
          <a:prstGeom prst="rect">
            <a:avLst/>
          </a:prstGeom>
          <a:noFill/>
          <a:ln/>
        </p:spPr>
        <p:txBody>
          <a:bodyPr wrap="square" lIns="0" tIns="0" rIns="0" bIns="0" rtlCol="0" anchor="ctr"/>
          <a:lstStyle/>
          <a:p>
            <a:pPr indent="0" marL="0">
              <a:buNone/>
            </a:pPr>
            <a:r>
              <a:rPr lang="en-US" sz="1800" b="1" dirty="0">
                <a:solidFill>
                  <a:srgbClr val="0F172A"/>
                </a:solidFill>
                <a:latin typeface="Segoe UI" pitchFamily="34" charset="0"/>
                <a:ea typeface="Segoe UI" pitchFamily="34" charset="-122"/>
                <a:cs typeface="Segoe UI" pitchFamily="34" charset="-120"/>
              </a:rPr>
              <a:t>Bản đồ tương tác</a:t>
            </a:r>
            <a:endParaRPr lang="en-US" sz="1800" dirty="0"/>
          </a:p>
        </p:txBody>
      </p:sp>
      <p:sp>
        <p:nvSpPr>
          <p:cNvPr id="8" name="Text 5"/>
          <p:cNvSpPr/>
          <p:nvPr/>
        </p:nvSpPr>
        <p:spPr>
          <a:xfrm>
            <a:off x="1920240" y="2560320"/>
            <a:ext cx="4160520" cy="914400"/>
          </a:xfrm>
          <a:prstGeom prst="rect">
            <a:avLst/>
          </a:prstGeom>
          <a:noFill/>
          <a:ln/>
        </p:spPr>
        <p:txBody>
          <a:bodyPr wrap="square" lIns="0" tIns="0" rIns="0" bIns="0" rtlCol="0" anchor="ctr"/>
          <a:lstStyle/>
          <a:p>
            <a:pPr indent="0" marL="0">
              <a:buNone/>
            </a:pPr>
            <a:r>
              <a:rPr lang="en-US" sz="1350" dirty="0">
                <a:solidFill>
                  <a:srgbClr val="334155"/>
                </a:solidFill>
                <a:latin typeface="Segoe UI" pitchFamily="34" charset="0"/>
                <a:ea typeface="Segoe UI" pitchFamily="34" charset="-122"/>
                <a:cs typeface="Segoe UI" pitchFamily="34" charset="-120"/>
              </a:rPr>
              <a:t>Định vị mạng lưới trụ sở trên nền OpenStreetMap.</a:t>
            </a:r>
            <a:endParaRPr lang="en-US" sz="1350" dirty="0"/>
          </a:p>
        </p:txBody>
      </p:sp>
      <p:sp>
        <p:nvSpPr>
          <p:cNvPr id="9" name="Shape 6"/>
          <p:cNvSpPr/>
          <p:nvPr/>
        </p:nvSpPr>
        <p:spPr>
          <a:xfrm>
            <a:off x="640080" y="3794760"/>
            <a:ext cx="5577840" cy="1783080"/>
          </a:xfrm>
          <a:prstGeom prst="roundRect">
            <a:avLst>
              <a:gd name="adj" fmla="val 5128"/>
            </a:avLst>
          </a:prstGeom>
          <a:solidFill>
            <a:srgbClr val="1E3A8A"/>
          </a:solidFill>
          <a:ln w="12700">
            <a:solidFill>
              <a:srgbClr val="E2E8F0"/>
            </a:solidFill>
            <a:prstDash val="solid"/>
          </a:ln>
          <a:effectLst>
            <a:outerShdw sx="100000" sy="100000" kx="0" ky="0" algn="bl" rotWithShape="0" blurRad="88900" dist="25400" dir="8100000">
              <a:srgbClr val="94A3B8">
                <a:alpha val="28000"/>
              </a:srgbClr>
            </a:outerShdw>
          </a:effectLst>
        </p:spPr>
      </p:sp>
      <p:sp>
        <p:nvSpPr>
          <p:cNvPr id="10" name="Shape 7"/>
          <p:cNvSpPr/>
          <p:nvPr/>
        </p:nvSpPr>
        <p:spPr>
          <a:xfrm>
            <a:off x="914400" y="4069080"/>
            <a:ext cx="777240" cy="777240"/>
          </a:xfrm>
          <a:prstGeom prst="ellipse">
            <a:avLst/>
          </a:prstGeom>
          <a:solidFill>
            <a:srgbClr val="059669"/>
          </a:solidFill>
          <a:ln/>
          <a:effectLst>
            <a:outerShdw sx="100000" sy="100000" kx="0" ky="0" algn="bl" rotWithShape="0" blurRad="114300" dist="38100" dir="8100000">
              <a:srgbClr val="1e40af">
                <a:alpha val="20000"/>
              </a:srgbClr>
            </a:outerShdw>
          </a:effectLst>
        </p:spPr>
      </p:sp>
      <p:pic>
        <p:nvPicPr>
          <p:cNvPr id="11" name="Image 1" descr="preencoded.png">    </p:cNvPr>
          <p:cNvPicPr>
            <a:picLocks noChangeAspect="1"/>
          </p:cNvPicPr>
          <p:nvPr/>
        </p:nvPicPr>
        <p:blipFill>
          <a:blip r:embed="rId2"/>
          <a:stretch>
            <a:fillRect/>
          </a:stretch>
        </p:blipFill>
        <p:spPr>
          <a:xfrm>
            <a:off x="1124255" y="4278935"/>
            <a:ext cx="357530" cy="357530"/>
          </a:xfrm>
          <a:prstGeom prst="rect">
            <a:avLst/>
          </a:prstGeom>
        </p:spPr>
      </p:pic>
      <p:sp>
        <p:nvSpPr>
          <p:cNvPr id="12" name="Text 8"/>
          <p:cNvSpPr/>
          <p:nvPr/>
        </p:nvSpPr>
        <p:spPr>
          <a:xfrm>
            <a:off x="1920240" y="4050792"/>
            <a:ext cx="4160520" cy="457200"/>
          </a:xfrm>
          <a:prstGeom prst="rect">
            <a:avLst/>
          </a:prstGeom>
          <a:noFill/>
          <a:ln/>
        </p:spPr>
        <p:txBody>
          <a:bodyPr wrap="square" lIns="0" tIns="0" rIns="0" bIns="0" rtlCol="0" anchor="ctr"/>
          <a:lstStyle/>
          <a:p>
            <a:pPr indent="0" marL="0">
              <a:buNone/>
            </a:pPr>
            <a:r>
              <a:rPr lang="en-US" sz="1800" b="1" dirty="0">
                <a:solidFill>
                  <a:srgbClr val="FFFFFF"/>
                </a:solidFill>
                <a:latin typeface="Segoe UI" pitchFamily="34" charset="0"/>
                <a:ea typeface="Segoe UI" pitchFamily="34" charset="-122"/>
                <a:cs typeface="Segoe UI" pitchFamily="34" charset="-120"/>
              </a:rPr>
              <a:t>Trợ lý ảo AI</a:t>
            </a:r>
            <a:endParaRPr lang="en-US" sz="1800" dirty="0"/>
          </a:p>
        </p:txBody>
      </p:sp>
      <p:sp>
        <p:nvSpPr>
          <p:cNvPr id="13" name="Text 9"/>
          <p:cNvSpPr/>
          <p:nvPr/>
        </p:nvSpPr>
        <p:spPr>
          <a:xfrm>
            <a:off x="1920240" y="4526280"/>
            <a:ext cx="4160520" cy="914400"/>
          </a:xfrm>
          <a:prstGeom prst="rect">
            <a:avLst/>
          </a:prstGeom>
          <a:noFill/>
          <a:ln/>
        </p:spPr>
        <p:txBody>
          <a:bodyPr wrap="square" lIns="0" tIns="0" rIns="0" bIns="0" rtlCol="0" anchor="ctr"/>
          <a:lstStyle/>
          <a:p>
            <a:pPr indent="0" marL="0">
              <a:buNone/>
            </a:pPr>
            <a:r>
              <a:rPr lang="en-US" sz="1350" dirty="0">
                <a:solidFill>
                  <a:srgbClr val="EFF6FF"/>
                </a:solidFill>
                <a:latin typeface="Segoe UI" pitchFamily="34" charset="0"/>
                <a:ea typeface="Segoe UI" pitchFamily="34" charset="-122"/>
                <a:cs typeface="Segoe UI" pitchFamily="34" charset="-120"/>
              </a:rPr>
              <a:t>Tư vấn thủ tục hành chính, giải đáp 24/7.</a:t>
            </a:r>
            <a:endParaRPr lang="en-US" sz="1350" dirty="0"/>
          </a:p>
        </p:txBody>
      </p:sp>
    </p:spTree>
  </p:cSld>
  <p:clrMapOvr>
    <a:masterClrMapping/>
  </p:clrMapOvr>
  <p:transition xmlns:p14="http://schemas.microsoft.com/office/powerpoint/2010/main" spd="med" p14:dur="450">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3A8A"/>
        </a:solidFill>
      </p:bgPr>
    </p:bg>
    <p:spTree>
      <p:nvGrpSpPr>
        <p:cNvPr id="1" name=""/>
        <p:cNvGrpSpPr/>
        <p:nvPr/>
      </p:nvGrpSpPr>
      <p:grpSpPr>
        <a:xfrm>
          <a:off x="0" y="0"/>
          <a:ext cx="0" cy="0"/>
          <a:chOff x="0" y="0"/>
          <a:chExt cx="0" cy="0"/>
        </a:xfrm>
      </p:grpSpPr>
      <p:sp>
        <p:nvSpPr>
          <p:cNvPr id="2" name="Text 0"/>
          <p:cNvSpPr/>
          <p:nvPr/>
        </p:nvSpPr>
        <p:spPr>
          <a:xfrm>
            <a:off x="640080" y="2286000"/>
            <a:ext cx="10881360" cy="2286000"/>
          </a:xfrm>
          <a:prstGeom prst="rect">
            <a:avLst/>
          </a:prstGeom>
          <a:noFill/>
          <a:ln/>
        </p:spPr>
        <p:txBody>
          <a:bodyPr wrap="square" lIns="0" tIns="0" rIns="0" bIns="0" rtlCol="0" anchor="ctr"/>
          <a:lstStyle/>
          <a:p>
            <a:pPr algn="ctr" indent="0" marL="0">
              <a:buNone/>
            </a:pPr>
            <a:r>
              <a:rPr lang="en-US" sz="5000" b="1" dirty="0">
                <a:solidFill>
                  <a:srgbClr val="FFFFFF"/>
                </a:solidFill>
                <a:latin typeface="Segoe UI" pitchFamily="34" charset="0"/>
                <a:ea typeface="Segoe UI" pitchFamily="34" charset="-122"/>
                <a:cs typeface="Segoe UI" pitchFamily="34" charset="-120"/>
              </a:rPr>
              <a:t>AI của chúng tôi</a:t>
            </a:r>
            <a:endParaRPr lang="en-US" sz="5000" dirty="0"/>
          </a:p>
          <a:p>
            <a:pPr algn="ctr" indent="0" marL="0">
              <a:buNone/>
            </a:pPr>
            <a:r>
              <a:rPr lang="en-US" sz="5000" b="1" dirty="0">
                <a:solidFill>
                  <a:srgbClr val="FFFFFF"/>
                </a:solidFill>
                <a:latin typeface="Segoe UI" pitchFamily="34" charset="0"/>
                <a:ea typeface="Segoe UI" pitchFamily="34" charset="-122"/>
                <a:cs typeface="Segoe UI" pitchFamily="34" charset="-120"/>
              </a:rPr>
              <a:t>KHÔNG BAO GIỜ nói dối.</a:t>
            </a:r>
            <a:endParaRPr lang="en-US" sz="5000" dirty="0"/>
          </a:p>
        </p:txBody>
      </p:sp>
    </p:spTree>
  </p:cSld>
  <p:clrMapOvr>
    <a:masterClrMapping/>
  </p:clrMapOvr>
  <mc:AlternateContent xmlns:mc="http://schemas.openxmlformats.org/markup-compatibility/2006">
    <mc:Choice xmlns:p159="http://schemas.microsoft.com/office/powerpoint/2015/9/main" Requires="p159">
      <p:transition xmlns:p14="http://schemas.microsoft.com/office/powerpoint/2010/main" spd="med" p14:dur="800">
        <p159:morph option="byObject"/>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881360" cy="320040"/>
          </a:xfrm>
          <a:prstGeom prst="rect">
            <a:avLst/>
          </a:prstGeom>
          <a:noFill/>
          <a:ln/>
        </p:spPr>
        <p:txBody>
          <a:bodyPr wrap="square" lIns="0" tIns="0" rIns="0" bIns="0" rtlCol="0" anchor="ctr"/>
          <a:lstStyle/>
          <a:p>
            <a:pPr indent="0" marL="0">
              <a:buNone/>
            </a:pPr>
            <a:r>
              <a:rPr lang="en-US" sz="1300" b="1" spc="200" kern="0" dirty="0">
                <a:solidFill>
                  <a:srgbClr val="1D4ED8"/>
                </a:solidFill>
                <a:latin typeface="Segoe UI" pitchFamily="34" charset="0"/>
                <a:ea typeface="Segoe UI" pitchFamily="34" charset="-122"/>
                <a:cs typeface="Segoe UI" pitchFamily="34" charset="-120"/>
              </a:rPr>
              <a:t>TÍNH NĂNG VƯỢT TRỘI</a:t>
            </a:r>
            <a:endParaRPr lang="en-US" sz="1300" dirty="0"/>
          </a:p>
        </p:txBody>
      </p:sp>
      <p:sp>
        <p:nvSpPr>
          <p:cNvPr id="3" name="Text 1"/>
          <p:cNvSpPr/>
          <p:nvPr/>
        </p:nvSpPr>
        <p:spPr>
          <a:xfrm>
            <a:off x="640080" y="768096"/>
            <a:ext cx="10881360" cy="777240"/>
          </a:xfrm>
          <a:prstGeom prst="rect">
            <a:avLst/>
          </a:prstGeom>
          <a:noFill/>
          <a:ln/>
        </p:spPr>
        <p:txBody>
          <a:bodyPr wrap="square" lIns="0" tIns="0" rIns="0" bIns="0" rtlCol="0" anchor="t"/>
          <a:lstStyle/>
          <a:p>
            <a:pPr indent="0" marL="0">
              <a:buNone/>
            </a:pPr>
            <a:r>
              <a:rPr lang="en-US" sz="2900" b="1" dirty="0">
                <a:solidFill>
                  <a:srgbClr val="0F172A"/>
                </a:solidFill>
                <a:latin typeface="Segoe UI" pitchFamily="34" charset="0"/>
                <a:ea typeface="Segoe UI" pitchFamily="34" charset="-122"/>
                <a:cs typeface="Segoe UI" pitchFamily="34" charset="-120"/>
              </a:rPr>
              <a:t>Phục vụ nhân dân địa phương</a:t>
            </a:r>
            <a:endParaRPr lang="en-US" sz="2900" dirty="0"/>
          </a:p>
        </p:txBody>
      </p:sp>
      <p:sp>
        <p:nvSpPr>
          <p:cNvPr id="4" name="Shape 2"/>
          <p:cNvSpPr/>
          <p:nvPr/>
        </p:nvSpPr>
        <p:spPr>
          <a:xfrm>
            <a:off x="640080" y="1874520"/>
            <a:ext cx="5212080" cy="1828800"/>
          </a:xfrm>
          <a:prstGeom prst="roundRect">
            <a:avLst>
              <a:gd name="adj" fmla="val 5000"/>
            </a:avLst>
          </a:prstGeom>
          <a:solidFill>
            <a:srgbClr val="F8FAFC"/>
          </a:solidFill>
          <a:ln w="12700">
            <a:solidFill>
              <a:srgbClr val="E2E8F0"/>
            </a:solidFill>
            <a:prstDash val="solid"/>
          </a:ln>
          <a:effectLst>
            <a:outerShdw sx="100000" sy="100000" kx="0" ky="0" algn="bl" rotWithShape="0" blurRad="88900" dist="25400" dir="8100000">
              <a:srgbClr val="94A3B8">
                <a:alpha val="28000"/>
              </a:srgbClr>
            </a:outerShdw>
          </a:effectLst>
        </p:spPr>
      </p:sp>
      <p:sp>
        <p:nvSpPr>
          <p:cNvPr id="5" name="Shape 3"/>
          <p:cNvSpPr/>
          <p:nvPr/>
        </p:nvSpPr>
        <p:spPr>
          <a:xfrm>
            <a:off x="960120" y="2194560"/>
            <a:ext cx="822960" cy="822960"/>
          </a:xfrm>
          <a:prstGeom prst="ellipse">
            <a:avLst/>
          </a:prstGeom>
          <a:solidFill>
            <a:srgbClr val="1D4ED8"/>
          </a:solidFill>
          <a:ln/>
          <a:effectLst>
            <a:outerShdw sx="100000" sy="100000" kx="0" ky="0" algn="bl" rotWithShape="0" blurRad="114300" dist="38100" dir="8100000">
              <a:srgbClr val="1e40af">
                <a:alpha val="20000"/>
              </a:srgbClr>
            </a:outerShdw>
          </a:effectLst>
        </p:spPr>
      </p:sp>
      <p:pic>
        <p:nvPicPr>
          <p:cNvPr id="6" name="Image 0" descr="preencoded.png">    </p:cNvPr>
          <p:cNvPicPr>
            <a:picLocks noChangeAspect="1"/>
          </p:cNvPicPr>
          <p:nvPr/>
        </p:nvPicPr>
        <p:blipFill>
          <a:blip r:embed="rId1"/>
          <a:stretch>
            <a:fillRect/>
          </a:stretch>
        </p:blipFill>
        <p:spPr>
          <a:xfrm>
            <a:off x="1182319" y="2416759"/>
            <a:ext cx="378562" cy="378562"/>
          </a:xfrm>
          <a:prstGeom prst="rect">
            <a:avLst/>
          </a:prstGeom>
        </p:spPr>
      </p:pic>
      <p:sp>
        <p:nvSpPr>
          <p:cNvPr id="7" name="Text 4"/>
          <p:cNvSpPr/>
          <p:nvPr/>
        </p:nvSpPr>
        <p:spPr>
          <a:xfrm>
            <a:off x="1965960" y="2167128"/>
            <a:ext cx="3657600" cy="457200"/>
          </a:xfrm>
          <a:prstGeom prst="rect">
            <a:avLst/>
          </a:prstGeom>
          <a:noFill/>
          <a:ln/>
        </p:spPr>
        <p:txBody>
          <a:bodyPr wrap="square" lIns="0" tIns="0" rIns="0" bIns="0" rtlCol="0" anchor="ctr"/>
          <a:lstStyle/>
          <a:p>
            <a:pPr indent="0" marL="0">
              <a:buNone/>
            </a:pPr>
            <a:r>
              <a:rPr lang="en-US" sz="1800" b="1" dirty="0">
                <a:solidFill>
                  <a:srgbClr val="0F172A"/>
                </a:solidFill>
                <a:latin typeface="Segoe UI" pitchFamily="34" charset="0"/>
                <a:ea typeface="Segoe UI" pitchFamily="34" charset="-122"/>
                <a:cs typeface="Segoe UI" pitchFamily="34" charset="-120"/>
              </a:rPr>
              <a:t>Thân thiện dễ dùng</a:t>
            </a:r>
            <a:endParaRPr lang="en-US" sz="1800" dirty="0"/>
          </a:p>
        </p:txBody>
      </p:sp>
      <p:sp>
        <p:nvSpPr>
          <p:cNvPr id="8" name="Text 5"/>
          <p:cNvSpPr/>
          <p:nvPr/>
        </p:nvSpPr>
        <p:spPr>
          <a:xfrm>
            <a:off x="1965960" y="2651760"/>
            <a:ext cx="3657600" cy="914400"/>
          </a:xfrm>
          <a:prstGeom prst="rect">
            <a:avLst/>
          </a:prstGeom>
          <a:noFill/>
          <a:ln/>
        </p:spPr>
        <p:txBody>
          <a:bodyPr wrap="square" lIns="0" tIns="0" rIns="0" bIns="0" rtlCol="0" anchor="ctr"/>
          <a:lstStyle/>
          <a:p>
            <a:pPr indent="0" marL="0">
              <a:buNone/>
            </a:pPr>
            <a:r>
              <a:rPr lang="en-US" sz="1400" dirty="0">
                <a:solidFill>
                  <a:srgbClr val="334155"/>
                </a:solidFill>
                <a:latin typeface="Segoe UI" pitchFamily="34" charset="0"/>
                <a:ea typeface="Segoe UI" pitchFamily="34" charset="-122"/>
                <a:cs typeface="Segoe UI" pitchFamily="34" charset="-120"/>
              </a:rPr>
              <a:t>Giao diện tối giản, tối ưu cho điện thoại di động.</a:t>
            </a:r>
            <a:endParaRPr lang="en-US" sz="1400" dirty="0"/>
          </a:p>
        </p:txBody>
      </p:sp>
      <p:sp>
        <p:nvSpPr>
          <p:cNvPr id="9" name="Shape 6"/>
          <p:cNvSpPr/>
          <p:nvPr/>
        </p:nvSpPr>
        <p:spPr>
          <a:xfrm>
            <a:off x="6309360" y="1874520"/>
            <a:ext cx="5212080" cy="1828800"/>
          </a:xfrm>
          <a:prstGeom prst="roundRect">
            <a:avLst>
              <a:gd name="adj" fmla="val 5000"/>
            </a:avLst>
          </a:prstGeom>
          <a:solidFill>
            <a:srgbClr val="F8FAFC"/>
          </a:solidFill>
          <a:ln w="12700">
            <a:solidFill>
              <a:srgbClr val="E2E8F0"/>
            </a:solidFill>
            <a:prstDash val="solid"/>
          </a:ln>
          <a:effectLst>
            <a:outerShdw sx="100000" sy="100000" kx="0" ky="0" algn="bl" rotWithShape="0" blurRad="88900" dist="25400" dir="8100000">
              <a:srgbClr val="94A3B8">
                <a:alpha val="28000"/>
              </a:srgbClr>
            </a:outerShdw>
          </a:effectLst>
        </p:spPr>
      </p:sp>
      <p:sp>
        <p:nvSpPr>
          <p:cNvPr id="10" name="Shape 7"/>
          <p:cNvSpPr/>
          <p:nvPr/>
        </p:nvSpPr>
        <p:spPr>
          <a:xfrm>
            <a:off x="6629400" y="2194560"/>
            <a:ext cx="822960" cy="822960"/>
          </a:xfrm>
          <a:prstGeom prst="ellipse">
            <a:avLst/>
          </a:prstGeom>
          <a:solidFill>
            <a:srgbClr val="334155"/>
          </a:solidFill>
          <a:ln/>
          <a:effectLst>
            <a:outerShdw sx="100000" sy="100000" kx="0" ky="0" algn="bl" rotWithShape="0" blurRad="114300" dist="38100" dir="8100000">
              <a:srgbClr val="1e40af">
                <a:alpha val="20000"/>
              </a:srgbClr>
            </a:outerShdw>
          </a:effectLst>
        </p:spPr>
      </p:sp>
      <p:pic>
        <p:nvPicPr>
          <p:cNvPr id="11" name="Image 1" descr="preencoded.png">    </p:cNvPr>
          <p:cNvPicPr>
            <a:picLocks noChangeAspect="1"/>
          </p:cNvPicPr>
          <p:nvPr/>
        </p:nvPicPr>
        <p:blipFill>
          <a:blip r:embed="rId2"/>
          <a:stretch>
            <a:fillRect/>
          </a:stretch>
        </p:blipFill>
        <p:spPr>
          <a:xfrm>
            <a:off x="6851599" y="2416759"/>
            <a:ext cx="378562" cy="378562"/>
          </a:xfrm>
          <a:prstGeom prst="rect">
            <a:avLst/>
          </a:prstGeom>
        </p:spPr>
      </p:pic>
      <p:sp>
        <p:nvSpPr>
          <p:cNvPr id="12" name="Text 8"/>
          <p:cNvSpPr/>
          <p:nvPr/>
        </p:nvSpPr>
        <p:spPr>
          <a:xfrm>
            <a:off x="7635240" y="2167128"/>
            <a:ext cx="3657600" cy="457200"/>
          </a:xfrm>
          <a:prstGeom prst="rect">
            <a:avLst/>
          </a:prstGeom>
          <a:noFill/>
          <a:ln/>
        </p:spPr>
        <p:txBody>
          <a:bodyPr wrap="square" lIns="0" tIns="0" rIns="0" bIns="0" rtlCol="0" anchor="ctr"/>
          <a:lstStyle/>
          <a:p>
            <a:pPr indent="0" marL="0">
              <a:buNone/>
            </a:pPr>
            <a:r>
              <a:rPr lang="en-US" sz="1800" b="1" dirty="0">
                <a:solidFill>
                  <a:srgbClr val="0F172A"/>
                </a:solidFill>
                <a:latin typeface="Segoe UI" pitchFamily="34" charset="0"/>
                <a:ea typeface="Segoe UI" pitchFamily="34" charset="-122"/>
                <a:cs typeface="Segoe UI" pitchFamily="34" charset="-120"/>
              </a:rPr>
              <a:t>Hỗ trợ Ngoại ngữ</a:t>
            </a:r>
            <a:endParaRPr lang="en-US" sz="1800" dirty="0"/>
          </a:p>
        </p:txBody>
      </p:sp>
      <p:sp>
        <p:nvSpPr>
          <p:cNvPr id="13" name="Text 9"/>
          <p:cNvSpPr/>
          <p:nvPr/>
        </p:nvSpPr>
        <p:spPr>
          <a:xfrm>
            <a:off x="7635240" y="2651760"/>
            <a:ext cx="3657600" cy="914400"/>
          </a:xfrm>
          <a:prstGeom prst="rect">
            <a:avLst/>
          </a:prstGeom>
          <a:noFill/>
          <a:ln/>
        </p:spPr>
        <p:txBody>
          <a:bodyPr wrap="square" lIns="0" tIns="0" rIns="0" bIns="0" rtlCol="0" anchor="ctr"/>
          <a:lstStyle/>
          <a:p>
            <a:pPr indent="0" marL="0">
              <a:buNone/>
            </a:pPr>
            <a:r>
              <a:rPr lang="en-US" sz="1400" dirty="0">
                <a:solidFill>
                  <a:srgbClr val="334155"/>
                </a:solidFill>
                <a:latin typeface="Segoe UI" pitchFamily="34" charset="0"/>
                <a:ea typeface="Segoe UI" pitchFamily="34" charset="-122"/>
                <a:cs typeface="Segoe UI" pitchFamily="34" charset="-120"/>
              </a:rPr>
              <a:t>Dịch Tiếng Anh/Trung/Hàn cho người nước ngoài.</a:t>
            </a:r>
            <a:endParaRPr lang="en-US" sz="1400" dirty="0"/>
          </a:p>
        </p:txBody>
      </p:sp>
      <p:sp>
        <p:nvSpPr>
          <p:cNvPr id="14" name="Shape 10"/>
          <p:cNvSpPr/>
          <p:nvPr/>
        </p:nvSpPr>
        <p:spPr>
          <a:xfrm>
            <a:off x="640080" y="3931920"/>
            <a:ext cx="5212080" cy="1828800"/>
          </a:xfrm>
          <a:prstGeom prst="roundRect">
            <a:avLst>
              <a:gd name="adj" fmla="val 5000"/>
            </a:avLst>
          </a:prstGeom>
          <a:solidFill>
            <a:srgbClr val="F8FAFC"/>
          </a:solidFill>
          <a:ln w="12700">
            <a:solidFill>
              <a:srgbClr val="E2E8F0"/>
            </a:solidFill>
            <a:prstDash val="solid"/>
          </a:ln>
          <a:effectLst>
            <a:outerShdw sx="100000" sy="100000" kx="0" ky="0" algn="bl" rotWithShape="0" blurRad="88900" dist="25400" dir="8100000">
              <a:srgbClr val="94A3B8">
                <a:alpha val="28000"/>
              </a:srgbClr>
            </a:outerShdw>
          </a:effectLst>
        </p:spPr>
      </p:sp>
      <p:sp>
        <p:nvSpPr>
          <p:cNvPr id="15" name="Shape 11"/>
          <p:cNvSpPr/>
          <p:nvPr/>
        </p:nvSpPr>
        <p:spPr>
          <a:xfrm>
            <a:off x="960120" y="4251960"/>
            <a:ext cx="822960" cy="822960"/>
          </a:xfrm>
          <a:prstGeom prst="ellipse">
            <a:avLst/>
          </a:prstGeom>
          <a:solidFill>
            <a:srgbClr val="059669"/>
          </a:solidFill>
          <a:ln/>
          <a:effectLst>
            <a:outerShdw sx="100000" sy="100000" kx="0" ky="0" algn="bl" rotWithShape="0" blurRad="114300" dist="38100" dir="8100000">
              <a:srgbClr val="1e40af">
                <a:alpha val="20000"/>
              </a:srgbClr>
            </a:outerShdw>
          </a:effectLst>
        </p:spPr>
      </p:sp>
      <p:sp>
        <p:nvSpPr>
          <p:cNvPr id="16" name="Text 12"/>
          <p:cNvSpPr/>
          <p:nvPr/>
        </p:nvSpPr>
        <p:spPr>
          <a:xfrm>
            <a:off x="1965960" y="4224528"/>
            <a:ext cx="3657600" cy="457200"/>
          </a:xfrm>
          <a:prstGeom prst="rect">
            <a:avLst/>
          </a:prstGeom>
          <a:noFill/>
          <a:ln/>
        </p:spPr>
        <p:txBody>
          <a:bodyPr wrap="square" lIns="0" tIns="0" rIns="0" bIns="0" rtlCol="0" anchor="ctr"/>
          <a:lstStyle/>
          <a:p>
            <a:pPr indent="0" marL="0">
              <a:buNone/>
            </a:pPr>
            <a:r>
              <a:rPr lang="en-US" sz="1800" b="1" dirty="0">
                <a:solidFill>
                  <a:srgbClr val="0F172A"/>
                </a:solidFill>
                <a:latin typeface="Segoe UI" pitchFamily="34" charset="0"/>
                <a:ea typeface="Segoe UI" pitchFamily="34" charset="-122"/>
                <a:cs typeface="Segoe UI" pitchFamily="34" charset="-120"/>
              </a:rPr>
              <a:t>Quản trị linh hoạt</a:t>
            </a:r>
            <a:endParaRPr lang="en-US" sz="1800" dirty="0"/>
          </a:p>
        </p:txBody>
      </p:sp>
      <p:sp>
        <p:nvSpPr>
          <p:cNvPr id="17" name="Text 13"/>
          <p:cNvSpPr/>
          <p:nvPr/>
        </p:nvSpPr>
        <p:spPr>
          <a:xfrm>
            <a:off x="1965960" y="4709160"/>
            <a:ext cx="3657600" cy="914400"/>
          </a:xfrm>
          <a:prstGeom prst="rect">
            <a:avLst/>
          </a:prstGeom>
          <a:noFill/>
          <a:ln/>
        </p:spPr>
        <p:txBody>
          <a:bodyPr wrap="square" lIns="0" tIns="0" rIns="0" bIns="0" rtlCol="0" anchor="ctr"/>
          <a:lstStyle/>
          <a:p>
            <a:pPr indent="0" marL="0">
              <a:buNone/>
            </a:pPr>
            <a:r>
              <a:rPr lang="en-US" sz="1400" dirty="0">
                <a:solidFill>
                  <a:srgbClr val="334155"/>
                </a:solidFill>
                <a:latin typeface="Segoe UI" pitchFamily="34" charset="0"/>
                <a:ea typeface="Segoe UI" pitchFamily="34" charset="-122"/>
                <a:cs typeface="Segoe UI" pitchFamily="34" charset="-120"/>
              </a:rPr>
              <a:t>Cán bộ cập nhật dữ liệu tự động qua Google Sheets.</a:t>
            </a:r>
            <a:endParaRPr lang="en-US" sz="1400" dirty="0"/>
          </a:p>
        </p:txBody>
      </p:sp>
      <p:sp>
        <p:nvSpPr>
          <p:cNvPr id="18" name="Shape 14"/>
          <p:cNvSpPr/>
          <p:nvPr/>
        </p:nvSpPr>
        <p:spPr>
          <a:xfrm>
            <a:off x="6309360" y="3931920"/>
            <a:ext cx="5212080" cy="1828800"/>
          </a:xfrm>
          <a:prstGeom prst="roundRect">
            <a:avLst>
              <a:gd name="adj" fmla="val 5000"/>
            </a:avLst>
          </a:prstGeom>
          <a:solidFill>
            <a:srgbClr val="F8FAFC"/>
          </a:solidFill>
          <a:ln w="12700">
            <a:solidFill>
              <a:srgbClr val="E2E8F0"/>
            </a:solidFill>
            <a:prstDash val="solid"/>
          </a:ln>
          <a:effectLst>
            <a:outerShdw sx="100000" sy="100000" kx="0" ky="0" algn="bl" rotWithShape="0" blurRad="88900" dist="25400" dir="8100000">
              <a:srgbClr val="94A3B8">
                <a:alpha val="28000"/>
              </a:srgbClr>
            </a:outerShdw>
          </a:effectLst>
        </p:spPr>
      </p:sp>
      <p:sp>
        <p:nvSpPr>
          <p:cNvPr id="19" name="Shape 15"/>
          <p:cNvSpPr/>
          <p:nvPr/>
        </p:nvSpPr>
        <p:spPr>
          <a:xfrm>
            <a:off x="6629400" y="4251960"/>
            <a:ext cx="822960" cy="822960"/>
          </a:xfrm>
          <a:prstGeom prst="ellipse">
            <a:avLst/>
          </a:prstGeom>
          <a:solidFill>
            <a:srgbClr val="CC0000"/>
          </a:solidFill>
          <a:ln/>
          <a:effectLst>
            <a:outerShdw sx="100000" sy="100000" kx="0" ky="0" algn="bl" rotWithShape="0" blurRad="114300" dist="38100" dir="8100000">
              <a:srgbClr val="1e40af">
                <a:alpha val="20000"/>
              </a:srgbClr>
            </a:outerShdw>
          </a:effectLst>
        </p:spPr>
      </p:sp>
      <p:pic>
        <p:nvPicPr>
          <p:cNvPr id="20" name="Image 2" descr="preencoded.png">    </p:cNvPr>
          <p:cNvPicPr>
            <a:picLocks noChangeAspect="1"/>
          </p:cNvPicPr>
          <p:nvPr/>
        </p:nvPicPr>
        <p:blipFill>
          <a:blip r:embed="rId3"/>
          <a:stretch>
            <a:fillRect/>
          </a:stretch>
        </p:blipFill>
        <p:spPr>
          <a:xfrm>
            <a:off x="6851599" y="4474159"/>
            <a:ext cx="378562" cy="378562"/>
          </a:xfrm>
          <a:prstGeom prst="rect">
            <a:avLst/>
          </a:prstGeom>
        </p:spPr>
      </p:pic>
      <p:sp>
        <p:nvSpPr>
          <p:cNvPr id="21" name="Text 16"/>
          <p:cNvSpPr/>
          <p:nvPr/>
        </p:nvSpPr>
        <p:spPr>
          <a:xfrm>
            <a:off x="7635240" y="4224528"/>
            <a:ext cx="3657600" cy="457200"/>
          </a:xfrm>
          <a:prstGeom prst="rect">
            <a:avLst/>
          </a:prstGeom>
          <a:noFill/>
          <a:ln/>
        </p:spPr>
        <p:txBody>
          <a:bodyPr wrap="square" lIns="0" tIns="0" rIns="0" bIns="0" rtlCol="0" anchor="ctr"/>
          <a:lstStyle/>
          <a:p>
            <a:pPr indent="0" marL="0">
              <a:buNone/>
            </a:pPr>
            <a:r>
              <a:rPr lang="en-US" sz="1800" b="1" dirty="0">
                <a:solidFill>
                  <a:srgbClr val="0F172A"/>
                </a:solidFill>
                <a:latin typeface="Segoe UI" pitchFamily="34" charset="0"/>
                <a:ea typeface="Segoe UI" pitchFamily="34" charset="-122"/>
                <a:cs typeface="Segoe UI" pitchFamily="34" charset="-120"/>
              </a:rPr>
              <a:t>Bảo mật</a:t>
            </a:r>
            <a:endParaRPr lang="en-US" sz="1800" dirty="0"/>
          </a:p>
        </p:txBody>
      </p:sp>
      <p:sp>
        <p:nvSpPr>
          <p:cNvPr id="22" name="Text 17"/>
          <p:cNvSpPr/>
          <p:nvPr/>
        </p:nvSpPr>
        <p:spPr>
          <a:xfrm>
            <a:off x="7635240" y="4709160"/>
            <a:ext cx="3657600" cy="914400"/>
          </a:xfrm>
          <a:prstGeom prst="rect">
            <a:avLst/>
          </a:prstGeom>
          <a:noFill/>
          <a:ln/>
        </p:spPr>
        <p:txBody>
          <a:bodyPr wrap="square" lIns="0" tIns="0" rIns="0" bIns="0" rtlCol="0" anchor="ctr"/>
          <a:lstStyle/>
          <a:p>
            <a:pPr indent="0" marL="0">
              <a:buNone/>
            </a:pPr>
            <a:r>
              <a:rPr lang="en-US" sz="1400" dirty="0">
                <a:solidFill>
                  <a:srgbClr val="334155"/>
                </a:solidFill>
                <a:latin typeface="Segoe UI" pitchFamily="34" charset="0"/>
                <a:ea typeface="Segoe UI" pitchFamily="34" charset="-122"/>
                <a:cs typeface="Segoe UI" pitchFamily="34" charset="-120"/>
              </a:rPr>
              <a:t>Ngăn chặn tấn công bằng hệ thống Cloudflare Turnstile.</a:t>
            </a:r>
            <a:endParaRPr lang="en-US" sz="1400" dirty="0"/>
          </a:p>
        </p:txBody>
      </p:sp>
    </p:spTree>
  </p:cSld>
  <p:clrMapOvr>
    <a:masterClrMapping/>
  </p:clrMapOvr>
  <p:transition xmlns:p14="http://schemas.microsoft.com/office/powerpoint/2010/main" spd="med" p14:dur="450">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3A8A"/>
        </a:solidFill>
      </p:bgPr>
    </p:bg>
    <p:spTree>
      <p:nvGrpSpPr>
        <p:cNvPr id="1" name=""/>
        <p:cNvGrpSpPr/>
        <p:nvPr/>
      </p:nvGrpSpPr>
      <p:grpSpPr>
        <a:xfrm>
          <a:off x="0" y="0"/>
          <a:ext cx="0" cy="0"/>
          <a:chOff x="0" y="0"/>
          <a:chExt cx="0" cy="0"/>
        </a:xfrm>
      </p:grpSpPr>
      <p:sp>
        <p:nvSpPr>
          <p:cNvPr id="2" name="Text 0"/>
          <p:cNvSpPr/>
          <p:nvPr/>
        </p:nvSpPr>
        <p:spPr>
          <a:xfrm>
            <a:off x="640080" y="548640"/>
            <a:ext cx="9144000" cy="365760"/>
          </a:xfrm>
          <a:prstGeom prst="rect">
            <a:avLst/>
          </a:prstGeom>
          <a:noFill/>
          <a:ln/>
        </p:spPr>
        <p:txBody>
          <a:bodyPr wrap="square" lIns="0" tIns="0" rIns="0" bIns="0" rtlCol="0" anchor="ctr"/>
          <a:lstStyle/>
          <a:p>
            <a:pPr indent="0" marL="0">
              <a:buNone/>
            </a:pPr>
            <a:r>
              <a:rPr lang="en-US" sz="1400" b="1" spc="200" kern="0" dirty="0">
                <a:solidFill>
                  <a:srgbClr val="DBEAFE"/>
                </a:solidFill>
                <a:latin typeface="Segoe UI" pitchFamily="34" charset="0"/>
                <a:ea typeface="Segoe UI" pitchFamily="34" charset="-122"/>
                <a:cs typeface="Segoe UI" pitchFamily="34" charset="-120"/>
              </a:rPr>
              <a:t>GIÁ TRỊ MANG LẠI</a:t>
            </a:r>
            <a:endParaRPr lang="en-US" sz="1400" dirty="0"/>
          </a:p>
        </p:txBody>
      </p:sp>
      <p:sp>
        <p:nvSpPr>
          <p:cNvPr id="3" name="Text 1"/>
          <p:cNvSpPr/>
          <p:nvPr/>
        </p:nvSpPr>
        <p:spPr>
          <a:xfrm>
            <a:off x="640080" y="896112"/>
            <a:ext cx="10515600" cy="731520"/>
          </a:xfrm>
          <a:prstGeom prst="rect">
            <a:avLst/>
          </a:prstGeom>
          <a:noFill/>
          <a:ln/>
        </p:spPr>
        <p:txBody>
          <a:bodyPr wrap="square" lIns="0" tIns="0" rIns="0" bIns="0" rtlCol="0" anchor="ctr"/>
          <a:lstStyle/>
          <a:p>
            <a:pPr indent="0" marL="0">
              <a:buNone/>
            </a:pPr>
            <a:r>
              <a:rPr lang="en-US" sz="3000" b="1" dirty="0">
                <a:solidFill>
                  <a:srgbClr val="FFFFFF"/>
                </a:solidFill>
                <a:latin typeface="Segoe UI" pitchFamily="34" charset="0"/>
                <a:ea typeface="Segoe UI" pitchFamily="34" charset="-122"/>
                <a:cs typeface="Segoe UI" pitchFamily="34" charset="-120"/>
              </a:rPr>
              <a:t>Sự đánh đổi xứng đáng</a:t>
            </a:r>
            <a:endParaRPr lang="en-US" sz="3000" dirty="0"/>
          </a:p>
        </p:txBody>
      </p:sp>
      <p:sp>
        <p:nvSpPr>
          <p:cNvPr id="4" name="Shape 2"/>
          <p:cNvSpPr/>
          <p:nvPr/>
        </p:nvSpPr>
        <p:spPr>
          <a:xfrm>
            <a:off x="640080" y="1920240"/>
            <a:ext cx="5486400" cy="3200400"/>
          </a:xfrm>
          <a:prstGeom prst="roundRect">
            <a:avLst>
              <a:gd name="adj" fmla="val 3429"/>
            </a:avLst>
          </a:prstGeom>
          <a:solidFill>
            <a:srgbClr val="0E4A44"/>
          </a:solidFill>
          <a:ln w="15240">
            <a:solidFill>
              <a:srgbClr val="22C55E"/>
            </a:solidFill>
            <a:prstDash val="solid"/>
          </a:ln>
          <a:effectLst>
            <a:outerShdw sx="100000" sy="100000" kx="0" ky="0" algn="bl" rotWithShape="0" blurRad="114300" dist="38100" dir="8100000">
              <a:srgbClr val="1e40af">
                <a:alpha val="20000"/>
              </a:srgbClr>
            </a:outerShdw>
          </a:effectLst>
        </p:spPr>
      </p:sp>
      <p:pic>
        <p:nvPicPr>
          <p:cNvPr id="5" name="Image 0" descr="preencoded.png">    </p:cNvPr>
          <p:cNvPicPr>
            <a:picLocks noChangeAspect="1"/>
          </p:cNvPicPr>
          <p:nvPr/>
        </p:nvPicPr>
        <p:blipFill>
          <a:blip r:embed="rId1">
            <a:alphaModFix amt="14000"/>
          </a:blip>
          <a:stretch>
            <a:fillRect/>
          </a:stretch>
        </p:blipFill>
        <p:spPr>
          <a:xfrm>
            <a:off x="1051560" y="2029968"/>
            <a:ext cx="960120" cy="960120"/>
          </a:xfrm>
          <a:prstGeom prst="rect">
            <a:avLst/>
          </a:prstGeom>
        </p:spPr>
      </p:pic>
      <p:sp>
        <p:nvSpPr>
          <p:cNvPr id="6" name="Text 3"/>
          <p:cNvSpPr/>
          <p:nvPr/>
        </p:nvSpPr>
        <p:spPr>
          <a:xfrm>
            <a:off x="914400" y="2084832"/>
            <a:ext cx="4937760" cy="868680"/>
          </a:xfrm>
          <a:prstGeom prst="rect">
            <a:avLst/>
          </a:prstGeom>
          <a:noFill/>
          <a:ln/>
        </p:spPr>
        <p:txBody>
          <a:bodyPr wrap="square" lIns="0" tIns="0" rIns="0" bIns="0" rtlCol="0" anchor="ctr"/>
          <a:lstStyle/>
          <a:p>
            <a:pPr indent="0" marL="0">
              <a:buNone/>
            </a:pPr>
            <a:r>
              <a:rPr lang="en-US" sz="4400" b="1" dirty="0">
                <a:solidFill>
                  <a:srgbClr val="DBEAFE"/>
                </a:solidFill>
                <a:latin typeface="Segoe UI" pitchFamily="34" charset="0"/>
                <a:ea typeface="Segoe UI" pitchFamily="34" charset="-122"/>
                <a:cs typeface="Segoe UI" pitchFamily="34" charset="-120"/>
              </a:rPr>
              <a:t>VẠN NGƯỜI</a:t>
            </a:r>
            <a:endParaRPr lang="en-US" sz="4400" dirty="0"/>
          </a:p>
        </p:txBody>
      </p:sp>
      <p:sp>
        <p:nvSpPr>
          <p:cNvPr id="7" name="Text 4"/>
          <p:cNvSpPr/>
          <p:nvPr/>
        </p:nvSpPr>
        <p:spPr>
          <a:xfrm>
            <a:off x="914400" y="3017520"/>
            <a:ext cx="4937760" cy="1920240"/>
          </a:xfrm>
          <a:prstGeom prst="rect">
            <a:avLst/>
          </a:prstGeom>
          <a:noFill/>
          <a:ln/>
        </p:spPr>
        <p:txBody>
          <a:bodyPr wrap="square" lIns="0" tIns="0" rIns="0" bIns="0" rtlCol="0" anchor="ctr"/>
          <a:lstStyle/>
          <a:p>
            <a:pPr indent="0" marL="0">
              <a:buNone/>
            </a:pPr>
            <a:r>
              <a:rPr lang="en-US" sz="1450" dirty="0">
                <a:solidFill>
                  <a:srgbClr val="FFFFFF"/>
                </a:solidFill>
                <a:latin typeface="Segoe UI" pitchFamily="34" charset="0"/>
                <a:ea typeface="Segoe UI" pitchFamily="34" charset="-122"/>
                <a:cs typeface="Segoe UI" pitchFamily="34" charset="-120"/>
              </a:rPr>
              <a:t>Hưởng lợi từ hệ thống, tiết kiệm công sức đi lại.</a:t>
            </a:r>
            <a:endParaRPr lang="en-US" sz="1450" dirty="0"/>
          </a:p>
        </p:txBody>
      </p:sp>
      <p:sp>
        <p:nvSpPr>
          <p:cNvPr id="8" name="Shape 5"/>
          <p:cNvSpPr/>
          <p:nvPr/>
        </p:nvSpPr>
        <p:spPr>
          <a:xfrm>
            <a:off x="6400800" y="1920240"/>
            <a:ext cx="5120640" cy="3200400"/>
          </a:xfrm>
          <a:prstGeom prst="roundRect">
            <a:avLst>
              <a:gd name="adj" fmla="val 3429"/>
            </a:avLst>
          </a:prstGeom>
          <a:solidFill>
            <a:srgbClr val="0E4A44"/>
          </a:solidFill>
          <a:ln w="15240">
            <a:solidFill>
              <a:srgbClr val="D97706"/>
            </a:solidFill>
            <a:prstDash val="solid"/>
          </a:ln>
          <a:effectLst>
            <a:outerShdw sx="100000" sy="100000" kx="0" ky="0" algn="bl" rotWithShape="0" blurRad="114300" dist="38100" dir="8100000">
              <a:srgbClr val="1e40af">
                <a:alpha val="20000"/>
              </a:srgbClr>
            </a:outerShdw>
          </a:effectLst>
        </p:spPr>
      </p:sp>
      <p:pic>
        <p:nvPicPr>
          <p:cNvPr id="9" name="Image 1" descr="preencoded.png">    </p:cNvPr>
          <p:cNvPicPr>
            <a:picLocks noChangeAspect="1"/>
          </p:cNvPicPr>
          <p:nvPr/>
        </p:nvPicPr>
        <p:blipFill>
          <a:blip r:embed="rId2">
            <a:alphaModFix amt="14000"/>
          </a:blip>
          <a:stretch>
            <a:fillRect/>
          </a:stretch>
        </p:blipFill>
        <p:spPr>
          <a:xfrm>
            <a:off x="6812280" y="2029968"/>
            <a:ext cx="960120" cy="960120"/>
          </a:xfrm>
          <a:prstGeom prst="rect">
            <a:avLst/>
          </a:prstGeom>
        </p:spPr>
      </p:pic>
      <p:sp>
        <p:nvSpPr>
          <p:cNvPr id="10" name="Text 6"/>
          <p:cNvSpPr/>
          <p:nvPr/>
        </p:nvSpPr>
        <p:spPr>
          <a:xfrm>
            <a:off x="6675120" y="2084832"/>
            <a:ext cx="4572000" cy="868680"/>
          </a:xfrm>
          <a:prstGeom prst="rect">
            <a:avLst/>
          </a:prstGeom>
          <a:noFill/>
          <a:ln/>
        </p:spPr>
        <p:txBody>
          <a:bodyPr wrap="square" lIns="0" tIns="0" rIns="0" bIns="0" rtlCol="0" anchor="ctr"/>
          <a:lstStyle/>
          <a:p>
            <a:pPr indent="0" marL="0">
              <a:buNone/>
            </a:pPr>
            <a:r>
              <a:rPr lang="en-US" sz="4400" b="1" dirty="0">
                <a:solidFill>
                  <a:srgbClr val="DBEAFE"/>
                </a:solidFill>
                <a:latin typeface="Segoe UI" pitchFamily="34" charset="0"/>
                <a:ea typeface="Segoe UI" pitchFamily="34" charset="-122"/>
                <a:cs typeface="Segoe UI" pitchFamily="34" charset="-120"/>
              </a:rPr>
              <a:t>[SỐ LIỆU]</a:t>
            </a:r>
            <a:endParaRPr lang="en-US" sz="4400" dirty="0"/>
          </a:p>
        </p:txBody>
      </p:sp>
      <p:sp>
        <p:nvSpPr>
          <p:cNvPr id="11" name="Text 7"/>
          <p:cNvSpPr/>
          <p:nvPr/>
        </p:nvSpPr>
        <p:spPr>
          <a:xfrm>
            <a:off x="6675120" y="3017520"/>
            <a:ext cx="4572000" cy="1920240"/>
          </a:xfrm>
          <a:prstGeom prst="rect">
            <a:avLst/>
          </a:prstGeom>
          <a:noFill/>
          <a:ln/>
        </p:spPr>
        <p:txBody>
          <a:bodyPr wrap="square" lIns="0" tIns="0" rIns="0" bIns="0" rtlCol="0" anchor="ctr"/>
          <a:lstStyle/>
          <a:p>
            <a:pPr indent="0" marL="0">
              <a:buNone/>
            </a:pPr>
            <a:r>
              <a:rPr lang="en-US" sz="1450" dirty="0">
                <a:solidFill>
                  <a:srgbClr val="FFFFFF"/>
                </a:solidFill>
                <a:latin typeface="Segoe UI" pitchFamily="34" charset="0"/>
                <a:ea typeface="Segoe UI" pitchFamily="34" charset="-122"/>
                <a:cs typeface="Segoe UI" pitchFamily="34" charset="-120"/>
              </a:rPr>
              <a:t>Giây là thời gian phản hồi cho mỗi thủ tục.</a:t>
            </a:r>
            <a:endParaRPr lang="en-US" sz="1450" dirty="0"/>
          </a:p>
        </p:txBody>
      </p:sp>
      <p:sp>
        <p:nvSpPr>
          <p:cNvPr id="12" name="Shape 8"/>
          <p:cNvSpPr/>
          <p:nvPr/>
        </p:nvSpPr>
        <p:spPr>
          <a:xfrm>
            <a:off x="640080" y="5394960"/>
            <a:ext cx="10881360" cy="868680"/>
          </a:xfrm>
          <a:prstGeom prst="roundRect">
            <a:avLst>
              <a:gd name="adj" fmla="val 10526"/>
            </a:avLst>
          </a:prstGeom>
          <a:solidFill>
            <a:srgbClr val="1D4ED8"/>
          </a:solidFill>
          <a:ln/>
        </p:spPr>
      </p:sp>
      <p:sp>
        <p:nvSpPr>
          <p:cNvPr id="13" name="Text 9"/>
          <p:cNvSpPr/>
          <p:nvPr/>
        </p:nvSpPr>
        <p:spPr>
          <a:xfrm>
            <a:off x="640080" y="5394960"/>
            <a:ext cx="10881360" cy="868680"/>
          </a:xfrm>
          <a:prstGeom prst="rect">
            <a:avLst/>
          </a:prstGeom>
          <a:noFill/>
          <a:ln/>
        </p:spPr>
        <p: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Dự án yêu cầu chi phí đầu tư hạ tầng, nhưng là khoản đầu tư vô giá cho công tác chuyển đổi số.</a:t>
            </a:r>
            <a:endParaRPr lang="en-US" sz="1700" dirty="0"/>
          </a:p>
        </p:txBody>
      </p:sp>
    </p:spTree>
  </p:cSld>
  <p:clrMapOvr>
    <a:masterClrMapping/>
  </p:clrMapOvr>
  <mc:AlternateContent xmlns:mc="http://schemas.openxmlformats.org/markup-compatibility/2006">
    <mc:Choice xmlns:p159="http://schemas.microsoft.com/office/powerpoint/2015/9/main" Requires="p159">
      <p:transition xmlns:p14="http://schemas.microsoft.com/office/powerpoint/2010/main" spd="med" p14:dur="800">
        <p159:morph option="byObject"/>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3A8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12000"/>
          </a:blip>
          <a:stretch>
            <a:fillRect/>
          </a:stretch>
        </p:blipFill>
        <p:spPr>
          <a:xfrm>
            <a:off x="9052560" y="1097280"/>
            <a:ext cx="4389120" cy="4389120"/>
          </a:xfrm>
          <a:prstGeom prst="rect">
            <a:avLst/>
          </a:prstGeom>
        </p:spPr>
      </p:pic>
      <p:sp>
        <p:nvSpPr>
          <p:cNvPr id="3" name="Text 0"/>
          <p:cNvSpPr/>
          <p:nvPr/>
        </p:nvSpPr>
        <p:spPr>
          <a:xfrm>
            <a:off x="640080" y="548640"/>
            <a:ext cx="9144000" cy="365760"/>
          </a:xfrm>
          <a:prstGeom prst="rect">
            <a:avLst/>
          </a:prstGeom>
          <a:noFill/>
          <a:ln/>
        </p:spPr>
        <p:txBody>
          <a:bodyPr wrap="square" lIns="0" tIns="0" rIns="0" bIns="0" rtlCol="0" anchor="ctr"/>
          <a:lstStyle/>
          <a:p>
            <a:pPr indent="0" marL="0">
              <a:buNone/>
            </a:pPr>
            <a:r>
              <a:rPr lang="en-US" sz="1400" b="1" spc="200" kern="0" dirty="0">
                <a:solidFill>
                  <a:srgbClr val="DBEAFE"/>
                </a:solidFill>
                <a:latin typeface="Segoe UI" pitchFamily="34" charset="0"/>
                <a:ea typeface="Segoe UI" pitchFamily="34" charset="-122"/>
                <a:cs typeface="Segoe UI" pitchFamily="34" charset="-120"/>
              </a:rPr>
              <a:t>TẦM NHÌN THIẾT THỰC</a:t>
            </a:r>
            <a:endParaRPr lang="en-US" sz="1400" dirty="0"/>
          </a:p>
        </p:txBody>
      </p:sp>
      <p:sp>
        <p:nvSpPr>
          <p:cNvPr id="4" name="Text 1"/>
          <p:cNvSpPr/>
          <p:nvPr/>
        </p:nvSpPr>
        <p:spPr>
          <a:xfrm>
            <a:off x="640080" y="896112"/>
            <a:ext cx="10515600" cy="731520"/>
          </a:xfrm>
          <a:prstGeom prst="rect">
            <a:avLst/>
          </a:prstGeom>
          <a:noFill/>
          <a:ln/>
        </p:spPr>
        <p:txBody>
          <a:bodyPr wrap="square" lIns="0" tIns="0" rIns="0" bIns="0" rtlCol="0" anchor="ctr"/>
          <a:lstStyle/>
          <a:p>
            <a:pPr indent="0" marL="0">
              <a:buNone/>
            </a:pPr>
            <a:r>
              <a:rPr lang="en-US" sz="3000" b="1" dirty="0">
                <a:solidFill>
                  <a:srgbClr val="FFFFFF"/>
                </a:solidFill>
                <a:latin typeface="Segoe UI" pitchFamily="34" charset="0"/>
                <a:ea typeface="Segoe UI" pitchFamily="34" charset="-122"/>
                <a:cs typeface="Segoe UI" pitchFamily="34" charset="-120"/>
              </a:rPr>
              <a:t>Một chính quyền số gần dân</a:t>
            </a:r>
            <a:endParaRPr lang="en-US" sz="3000" dirty="0"/>
          </a:p>
        </p:txBody>
      </p:sp>
      <p:sp>
        <p:nvSpPr>
          <p:cNvPr id="5" name="Text 2"/>
          <p:cNvSpPr/>
          <p:nvPr/>
        </p:nvSpPr>
        <p:spPr>
          <a:xfrm>
            <a:off x="1234440" y="1874520"/>
            <a:ext cx="8046720" cy="548640"/>
          </a:xfrm>
          <a:prstGeom prst="rect">
            <a:avLst/>
          </a:prstGeom>
          <a:noFill/>
          <a:ln/>
        </p:spPr>
        <p:txBody>
          <a:bodyPr wrap="square" lIns="0" tIns="0" rIns="0" bIns="0" rtlCol="0" anchor="ctr"/>
          <a:lstStyle/>
          <a:p>
            <a:pPr indent="0" marL="0">
              <a:buNone/>
            </a:pPr>
            <a:r>
              <a:rPr lang="en-US" sz="1700" dirty="0">
                <a:solidFill>
                  <a:srgbClr val="EFF6FF"/>
                </a:solidFill>
                <a:latin typeface="Segoe UI" pitchFamily="34" charset="0"/>
                <a:ea typeface="Segoe UI" pitchFamily="34" charset="-122"/>
                <a:cs typeface="Segoe UI" pitchFamily="34" charset="-120"/>
              </a:rPr>
              <a:t>Hoàn thiện hệ sinh thái dịch vụ công thông minh.</a:t>
            </a:r>
            <a:endParaRPr lang="en-US" sz="1700" dirty="0"/>
          </a:p>
        </p:txBody>
      </p:sp>
      <p:sp>
        <p:nvSpPr>
          <p:cNvPr id="6" name="Text 3"/>
          <p:cNvSpPr/>
          <p:nvPr/>
        </p:nvSpPr>
        <p:spPr>
          <a:xfrm>
            <a:off x="1234440" y="2651760"/>
            <a:ext cx="8046720" cy="548640"/>
          </a:xfrm>
          <a:prstGeom prst="rect">
            <a:avLst/>
          </a:prstGeom>
          <a:noFill/>
          <a:ln/>
        </p:spPr>
        <p:txBody>
          <a:bodyPr wrap="square" lIns="0" tIns="0" rIns="0" bIns="0" rtlCol="0" anchor="ctr"/>
          <a:lstStyle/>
          <a:p>
            <a:pPr indent="0" marL="0">
              <a:buNone/>
            </a:pPr>
            <a:r>
              <a:rPr lang="en-US" sz="1700" dirty="0">
                <a:solidFill>
                  <a:srgbClr val="EFF6FF"/>
                </a:solidFill>
                <a:latin typeface="Segoe UI" pitchFamily="34" charset="0"/>
                <a:ea typeface="Segoe UI" pitchFamily="34" charset="-122"/>
                <a:cs typeface="Segoe UI" pitchFamily="34" charset="-120"/>
              </a:rPr>
              <a:t>Xây dựng hình ảnh Công an Phú Thọ hiện đại, tận tụy.</a:t>
            </a:r>
            <a:endParaRPr lang="en-US" sz="1700" dirty="0"/>
          </a:p>
        </p:txBody>
      </p:sp>
      <p:sp>
        <p:nvSpPr>
          <p:cNvPr id="7" name="Shape 4"/>
          <p:cNvSpPr/>
          <p:nvPr/>
        </p:nvSpPr>
        <p:spPr>
          <a:xfrm>
            <a:off x="640080" y="4526280"/>
            <a:ext cx="10881360" cy="1554480"/>
          </a:xfrm>
          <a:prstGeom prst="roundRect">
            <a:avLst>
              <a:gd name="adj" fmla="val 7059"/>
            </a:avLst>
          </a:prstGeom>
          <a:solidFill>
            <a:srgbClr val="0E4A44"/>
          </a:solidFill>
          <a:ln w="16510">
            <a:solidFill>
              <a:srgbClr val="22C55E"/>
            </a:solidFill>
            <a:prstDash val="solid"/>
          </a:ln>
          <a:effectLst>
            <a:outerShdw sx="100000" sy="100000" kx="0" ky="0" algn="bl" rotWithShape="0" blurRad="114300" dist="38100" dir="8100000">
              <a:srgbClr val="1e40af">
                <a:alpha val="20000"/>
              </a:srgbClr>
            </a:outerShdw>
          </a:effectLst>
        </p:spPr>
      </p:sp>
      <p:sp>
        <p:nvSpPr>
          <p:cNvPr id="8" name="Text 5"/>
          <p:cNvSpPr/>
          <p:nvPr/>
        </p:nvSpPr>
        <p:spPr>
          <a:xfrm>
            <a:off x="1097280" y="4709160"/>
            <a:ext cx="10058400" cy="411480"/>
          </a:xfrm>
          <a:prstGeom prst="rect">
            <a:avLst/>
          </a:prstGeom>
          <a:noFill/>
          <a:ln/>
        </p:spPr>
        <p:txBody>
          <a:bodyPr wrap="square" lIns="0" tIns="0" rIns="0" bIns="0" rtlCol="0" anchor="ctr"/>
          <a:lstStyle/>
          <a:p>
            <a:pPr indent="0" marL="0">
              <a:buNone/>
            </a:pPr>
            <a:r>
              <a:rPr lang="en-US" sz="1400" b="1" spc="150" kern="0" dirty="0">
                <a:solidFill>
                  <a:srgbClr val="DBEAFE"/>
                </a:solidFill>
                <a:latin typeface="Segoe UI" pitchFamily="34" charset="0"/>
                <a:ea typeface="Segoe UI" pitchFamily="34" charset="-122"/>
                <a:cs typeface="Segoe UI" pitchFamily="34" charset="-120"/>
              </a:rPr>
              <a:t>KÍNH ĐỀ NGHỊ LÃNH ĐẠO CÔNG AN TỈNH</a:t>
            </a:r>
            <a:endParaRPr lang="en-US" sz="1400" dirty="0"/>
          </a:p>
        </p:txBody>
      </p:sp>
      <p:sp>
        <p:nvSpPr>
          <p:cNvPr id="9" name="Text 6"/>
          <p:cNvSpPr/>
          <p:nvPr/>
        </p:nvSpPr>
        <p:spPr>
          <a:xfrm>
            <a:off x="1143000" y="5120640"/>
            <a:ext cx="10058400" cy="914400"/>
          </a:xfrm>
          <a:prstGeom prst="rect">
            <a:avLst/>
          </a:prstGeom>
          <a:noFill/>
          <a:ln/>
        </p:spPr>
        <p:txBody>
          <a:bodyPr wrap="square" lIns="0" tIns="0" rIns="0" bIns="0" rtlCol="0" anchor="ctr"/>
          <a:lstStyle/>
          <a:p>
            <a:pPr marL="342900" indent="-342900">
              <a:spcAft>
                <a:spcPts val="600"/>
              </a:spcAft>
              <a:buSzPct val="100000"/>
              <a:buChar char="•"/>
            </a:pPr>
            <a:r>
              <a:rPr lang="en-US" sz="1800" b="1" dirty="0">
                <a:solidFill>
                  <a:srgbClr val="FFFFFF"/>
                </a:solidFill>
                <a:latin typeface="Segoe UI" pitchFamily="34" charset="0"/>
                <a:ea typeface="Segoe UI" pitchFamily="34" charset="-122"/>
                <a:cs typeface="Segoe UI" pitchFamily="34" charset="-120"/>
              </a:rPr>
              <a:t>Chấp thuận triển khai nhân rộng toàn tỉnh</a:t>
            </a:r>
            <a:endParaRPr lang="en-US" sz="1800" dirty="0"/>
          </a:p>
          <a:p>
            <a:pPr marL="342900" indent="-342900">
              <a:spcAft>
                <a:spcPts val="600"/>
              </a:spcAft>
              <a:buSzPct val="100000"/>
              <a:buChar char="•"/>
            </a:pPr>
            <a:r>
              <a:rPr lang="en-US" sz="1800" b="1" dirty="0">
                <a:solidFill>
                  <a:srgbClr val="FFFFFF"/>
                </a:solidFill>
                <a:latin typeface="Segoe UI" pitchFamily="34" charset="0"/>
                <a:ea typeface="Segoe UI" pitchFamily="34" charset="-122"/>
                <a:cs typeface="Segoe UI" pitchFamily="34" charset="-120"/>
              </a:rPr>
              <a:t>Cấp kinh phí duy trì hạ tầng AI hằng năm</a:t>
            </a:r>
            <a:endParaRPr lang="en-US" sz="1800" dirty="0"/>
          </a:p>
        </p:txBody>
      </p:sp>
      <p:sp>
        <p:nvSpPr>
          <p:cNvPr id="10" name="Text 7"/>
          <p:cNvSpPr/>
          <p:nvPr/>
        </p:nvSpPr>
        <p:spPr>
          <a:xfrm>
            <a:off x="640080" y="6263640"/>
            <a:ext cx="10881360" cy="365760"/>
          </a:xfrm>
          <a:prstGeom prst="rect">
            <a:avLst/>
          </a:prstGeom>
          <a:noFill/>
          <a:ln/>
        </p:spPr>
        <p:txBody>
          <a:bodyPr wrap="square" lIns="0" tIns="0" rIns="0" bIns="0" rtlCol="0" anchor="ctr"/>
          <a:lstStyle/>
          <a:p>
            <a:pPr algn="r" indent="0" marL="0">
              <a:buNone/>
            </a:pPr>
            <a:r>
              <a:rPr lang="en-US" sz="1600" i="1" dirty="0">
                <a:solidFill>
                  <a:srgbClr val="DBEAFE"/>
                </a:solidFill>
                <a:latin typeface="Segoe UI" pitchFamily="34" charset="0"/>
                <a:ea typeface="Segoe UI" pitchFamily="34" charset="-122"/>
                <a:cs typeface="Segoe UI" pitchFamily="34" charset="-120"/>
              </a:rPr>
              <a:t>Xin trân trọng cảm ơn các đồng chí Lãnh đạo!</a:t>
            </a:r>
            <a:endParaRPr lang="en-US" sz="1600" dirty="0"/>
          </a:p>
        </p:txBody>
      </p:sp>
    </p:spTree>
  </p:cSld>
  <p:clrMapOvr>
    <a:masterClrMapping/>
  </p:clrMapOvr>
  <p:transition xmlns:p14="http://schemas.microsoft.com/office/powerpoint/2010/main" spd="med" p14:dur="45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Bản đồ Công an số tỉnh Phú Thọ</dc:title>
  <dc:subject>PptxGenJS Presentation</dc:subject>
  <dc:creator>Câu lạc bộ sáng tạo</dc:creator>
  <cp:lastModifiedBy>Câu lạc bộ sáng tạo</cp:lastModifiedBy>
  <cp:revision>1</cp:revision>
  <dcterms:created xsi:type="dcterms:W3CDTF">2026-06-28T14:44:42Z</dcterms:created>
  <dcterms:modified xsi:type="dcterms:W3CDTF">2026-06-28T14:44:42Z</dcterms:modified>
</cp:coreProperties>
</file>